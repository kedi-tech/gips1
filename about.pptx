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Aileron Heavy" panose="020B0604020202020204" charset="0"/>
      <p:regular r:id="rId17"/>
    </p:embeddedFont>
    <p:embeddedFont>
      <p:font typeface="Aileron Bold" panose="020B0604020202020204" charset="0"/>
      <p:regular r:id="rId18"/>
    </p:embeddedFont>
    <p:embeddedFont>
      <p:font typeface="Aileron Regular" panose="020B0604020202020204" charset="0"/>
      <p:regular r:id="rId19"/>
    </p:embeddedFont>
    <p:embeddedFont>
      <p:font typeface="Aileron Heavy Bold" panose="020B0604020202020204" charset="0"/>
      <p:regular r:id="rId20"/>
    </p:embeddedFont>
    <p:embeddedFont>
      <p:font typeface="Aileron Regular Bold" panose="020B0604020202020204" charset="0"/>
      <p:regular r:id="rId21"/>
    </p:embeddedFont>
    <p:embeddedFont>
      <p:font typeface="Akzidenz-Grotesk Heavy" panose="020B0604020202020204" charset="0"/>
      <p:regular r:id="rId22"/>
    </p:embeddedFont>
    <p:embeddedFont>
      <p:font typeface="Calibri" panose="020F0502020204030204" pitchFamily="34" charset="0"/>
      <p:regular r:id="rId23"/>
      <p:bold r:id="rId24"/>
      <p:italic r:id="rId25"/>
      <p:boldItalic r:id="rId26"/>
    </p:embeddedFont>
    <p:embeddedFont>
      <p:font typeface="League Spartan"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610" y="-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font" Target="fonts/font11.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1E3A95-CE56-4CA8-919D-D21AA9C0F9BC}" type="datetimeFigureOut">
              <a:rPr lang="en-US" smtClean="0"/>
              <a:t>4/15/2026</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04337E-598F-4B48-AEC5-A0209FB2853F}" type="slidenum">
              <a:rPr lang="en-US" smtClean="0"/>
              <a:t>‹N°›</a:t>
            </a:fld>
            <a:endParaRPr lang="en-US"/>
          </a:p>
        </p:txBody>
      </p:sp>
    </p:spTree>
    <p:extLst>
      <p:ext uri="{BB962C8B-B14F-4D97-AF65-F5344CB8AC3E}">
        <p14:creationId xmlns:p14="http://schemas.microsoft.com/office/powerpoint/2010/main" val="4832756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10"/>
          </p:nvPr>
        </p:nvSpPr>
        <p:spPr/>
        <p:txBody>
          <a:bodyPr/>
          <a:lstStyle/>
          <a:p>
            <a:fld id="{0804337E-598F-4B48-AEC5-A0209FB2853F}" type="slidenum">
              <a:rPr lang="en-US" smtClean="0"/>
              <a:t>14</a:t>
            </a:fld>
            <a:endParaRPr lang="en-US"/>
          </a:p>
        </p:txBody>
      </p:sp>
    </p:spTree>
    <p:extLst>
      <p:ext uri="{BB962C8B-B14F-4D97-AF65-F5344CB8AC3E}">
        <p14:creationId xmlns:p14="http://schemas.microsoft.com/office/powerpoint/2010/main" val="17806996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7.jpeg"/><Relationship Id="rId13"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4.svg"/><Relationship Id="rId2" Type="http://schemas.openxmlformats.org/officeDocument/2006/relationships/image" Target="../media/image4.png"/><Relationship Id="rId16"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9.png"/><Relationship Id="rId5" Type="http://schemas.openxmlformats.org/officeDocument/2006/relationships/image" Target="../media/image7.svg"/><Relationship Id="rId15" Type="http://schemas.openxmlformats.org/officeDocument/2006/relationships/image" Target="../media/image1.png"/><Relationship Id="rId10" Type="http://schemas.openxmlformats.org/officeDocument/2006/relationships/image" Target="../media/image12.svg"/><Relationship Id="rId4" Type="http://schemas.openxmlformats.org/officeDocument/2006/relationships/image" Target="../media/image5.png"/><Relationship Id="rId9" Type="http://schemas.openxmlformats.org/officeDocument/2006/relationships/image" Target="../media/image8.png"/><Relationship Id="rId14" Type="http://schemas.openxmlformats.org/officeDocument/2006/relationships/image" Target="../media/image16.svg"/></Relationships>
</file>

<file path=ppt/slides/_rels/slide4.xml.rels><?xml version="1.0" encoding="UTF-8" standalone="yes"?>
<Relationships xmlns="http://schemas.openxmlformats.org/package/2006/relationships"><Relationship Id="rId8" Type="http://schemas.openxmlformats.org/officeDocument/2006/relationships/image" Target="../media/image12.jpeg"/><Relationship Id="rId13"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4.svg"/><Relationship Id="rId17" Type="http://schemas.openxmlformats.org/officeDocument/2006/relationships/image" Target="../media/image11.png"/><Relationship Id="rId2" Type="http://schemas.openxmlformats.org/officeDocument/2006/relationships/image" Target="../media/image4.png"/><Relationship Id="rId16"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9.png"/><Relationship Id="rId5" Type="http://schemas.openxmlformats.org/officeDocument/2006/relationships/image" Target="../media/image7.svg"/><Relationship Id="rId15" Type="http://schemas.openxmlformats.org/officeDocument/2006/relationships/image" Target="../media/image13.jpeg"/><Relationship Id="rId10" Type="http://schemas.openxmlformats.org/officeDocument/2006/relationships/image" Target="../media/image12.svg"/><Relationship Id="rId4" Type="http://schemas.openxmlformats.org/officeDocument/2006/relationships/image" Target="../media/image5.png"/><Relationship Id="rId9" Type="http://schemas.openxmlformats.org/officeDocument/2006/relationships/image" Target="../media/image8.png"/><Relationship Id="rId14" Type="http://schemas.openxmlformats.org/officeDocument/2006/relationships/image" Target="../media/image16.svg"/></Relationships>
</file>

<file path=ppt/slides/_rels/slide5.xml.rels><?xml version="1.0" encoding="UTF-8" standalone="yes"?>
<Relationships xmlns="http://schemas.openxmlformats.org/package/2006/relationships"><Relationship Id="rId8" Type="http://schemas.openxmlformats.org/officeDocument/2006/relationships/image" Target="../media/image14.jpeg"/><Relationship Id="rId13"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4.svg"/><Relationship Id="rId2" Type="http://schemas.openxmlformats.org/officeDocument/2006/relationships/image" Target="../media/image4.png"/><Relationship Id="rId16"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9.png"/><Relationship Id="rId5" Type="http://schemas.openxmlformats.org/officeDocument/2006/relationships/image" Target="../media/image7.svg"/><Relationship Id="rId15" Type="http://schemas.openxmlformats.org/officeDocument/2006/relationships/image" Target="../media/image1.png"/><Relationship Id="rId10" Type="http://schemas.openxmlformats.org/officeDocument/2006/relationships/image" Target="../media/image12.svg"/><Relationship Id="rId4" Type="http://schemas.openxmlformats.org/officeDocument/2006/relationships/image" Target="../media/image5.png"/><Relationship Id="rId9" Type="http://schemas.openxmlformats.org/officeDocument/2006/relationships/image" Target="../media/image8.png"/><Relationship Id="rId14" Type="http://schemas.openxmlformats.org/officeDocument/2006/relationships/image" Target="../media/image16.svg"/></Relationships>
</file>

<file path=ppt/slides/_rels/slide6.xml.rels><?xml version="1.0" encoding="UTF-8" standalone="yes"?>
<Relationships xmlns="http://schemas.openxmlformats.org/package/2006/relationships"><Relationship Id="rId8" Type="http://schemas.openxmlformats.org/officeDocument/2006/relationships/image" Target="../media/image15.jpeg"/><Relationship Id="rId13"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svg"/><Relationship Id="rId12" Type="http://schemas.openxmlformats.org/officeDocument/2006/relationships/image" Target="../media/image14.svg"/><Relationship Id="rId17" Type="http://schemas.openxmlformats.org/officeDocument/2006/relationships/image" Target="../media/image11.png"/><Relationship Id="rId2" Type="http://schemas.openxmlformats.org/officeDocument/2006/relationships/image" Target="../media/image4.png"/><Relationship Id="rId16"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9.png"/><Relationship Id="rId5" Type="http://schemas.openxmlformats.org/officeDocument/2006/relationships/image" Target="../media/image7.svg"/><Relationship Id="rId15" Type="http://schemas.openxmlformats.org/officeDocument/2006/relationships/image" Target="../media/image16.jpeg"/><Relationship Id="rId10" Type="http://schemas.openxmlformats.org/officeDocument/2006/relationships/image" Target="../media/image12.svg"/><Relationship Id="rId4" Type="http://schemas.openxmlformats.org/officeDocument/2006/relationships/image" Target="../media/image5.png"/><Relationship Id="rId9" Type="http://schemas.openxmlformats.org/officeDocument/2006/relationships/image" Target="../media/image8.png"/><Relationship Id="rId14" Type="http://schemas.openxmlformats.org/officeDocument/2006/relationships/image" Target="../media/image16.sv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21.jpeg"/><Relationship Id="rId3" Type="http://schemas.openxmlformats.org/officeDocument/2006/relationships/image" Target="../media/image26.svg"/><Relationship Id="rId7" Type="http://schemas.openxmlformats.org/officeDocument/2006/relationships/image" Target="../media/image12.svg"/><Relationship Id="rId12" Type="http://schemas.openxmlformats.org/officeDocument/2006/relationships/image" Target="../media/image20.jpeg"/><Relationship Id="rId2" Type="http://schemas.openxmlformats.org/officeDocument/2006/relationships/image" Target="../media/image19.png"/><Relationship Id="rId16"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6.svg"/><Relationship Id="rId5" Type="http://schemas.openxmlformats.org/officeDocument/2006/relationships/image" Target="../media/image9.svg"/><Relationship Id="rId15" Type="http://schemas.openxmlformats.org/officeDocument/2006/relationships/image" Target="../media/image1.png"/><Relationship Id="rId10" Type="http://schemas.openxmlformats.org/officeDocument/2006/relationships/image" Target="../media/image10.png"/><Relationship Id="rId4" Type="http://schemas.openxmlformats.org/officeDocument/2006/relationships/image" Target="../media/image6.png"/><Relationship Id="rId9" Type="http://schemas.openxmlformats.org/officeDocument/2006/relationships/image" Target="../media/image14.svg"/><Relationship Id="rId14" Type="http://schemas.openxmlformats.org/officeDocument/2006/relationships/image" Target="../media/image22.jpe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eg"/><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32.svg"/></Relationships>
</file>

<file path=ppt/slides/_rels/slide11.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svg"/><Relationship Id="rId7" Type="http://schemas.openxmlformats.org/officeDocument/2006/relationships/image" Target="../media/image28.png"/><Relationship Id="rId2"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37.svg"/><Relationship Id="rId5" Type="http://schemas.openxmlformats.org/officeDocument/2006/relationships/image" Target="../media/image27.png"/><Relationship Id="rId4" Type="http://schemas.openxmlformats.org/officeDocument/2006/relationships/image" Target="../media/image26.jpeg"/></Relationships>
</file>

<file path=ppt/slides/_rels/slide12.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29.png"/><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41.svg"/><Relationship Id="rId7" Type="http://schemas.openxmlformats.org/officeDocument/2006/relationships/image" Target="../media/image33.pn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2.jpeg"/><Relationship Id="rId5" Type="http://schemas.openxmlformats.org/officeDocument/2006/relationships/image" Target="../media/image31.jpeg"/><Relationship Id="rId10" Type="http://schemas.openxmlformats.org/officeDocument/2006/relationships/image" Target="../media/image35.jpeg"/><Relationship Id="rId4" Type="http://schemas.openxmlformats.org/officeDocument/2006/relationships/image" Target="../media/image30.png"/><Relationship Id="rId9" Type="http://schemas.openxmlformats.org/officeDocument/2006/relationships/image" Target="../media/image34.png"/></Relationships>
</file>

<file path=ppt/slides/_rels/slide14.xml.rels><?xml version="1.0" encoding="UTF-8" standalone="yes"?>
<Relationships xmlns="http://schemas.openxmlformats.org/package/2006/relationships"><Relationship Id="rId8" Type="http://schemas.openxmlformats.org/officeDocument/2006/relationships/image" Target="../media/image52.svg"/><Relationship Id="rId13" Type="http://schemas.openxmlformats.org/officeDocument/2006/relationships/hyperlink" Target="mailto:Conde.souleymane@gips-gn.com" TargetMode="External"/><Relationship Id="rId3" Type="http://schemas.openxmlformats.org/officeDocument/2006/relationships/image" Target="../media/image36.jpeg"/><Relationship Id="rId7" Type="http://schemas.openxmlformats.org/officeDocument/2006/relationships/image" Target="../media/image38.png"/><Relationship Id="rId12" Type="http://schemas.openxmlformats.org/officeDocument/2006/relationships/image" Target="../media/image56.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0.svg"/><Relationship Id="rId11" Type="http://schemas.openxmlformats.org/officeDocument/2006/relationships/image" Target="../media/image40.png"/><Relationship Id="rId5" Type="http://schemas.openxmlformats.org/officeDocument/2006/relationships/image" Target="../media/image37.png"/><Relationship Id="rId10" Type="http://schemas.openxmlformats.org/officeDocument/2006/relationships/image" Target="../media/image54.svg"/><Relationship Id="rId4" Type="http://schemas.openxmlformats.org/officeDocument/2006/relationships/image" Target="../media/image1.png"/><Relationship Id="rId9"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a:off x="7516492" y="1253497"/>
            <a:ext cx="3390158" cy="3414548"/>
          </a:xfrm>
          <a:custGeom>
            <a:avLst/>
            <a:gdLst/>
            <a:ahLst/>
            <a:cxnLst/>
            <a:rect l="l" t="t" r="r" b="b"/>
            <a:pathLst>
              <a:path w="3390158" h="3414548">
                <a:moveTo>
                  <a:pt x="0" y="0"/>
                </a:moveTo>
                <a:lnTo>
                  <a:pt x="3390159" y="0"/>
                </a:lnTo>
                <a:lnTo>
                  <a:pt x="3390159" y="3414548"/>
                </a:lnTo>
                <a:lnTo>
                  <a:pt x="0" y="3414548"/>
                </a:lnTo>
                <a:lnTo>
                  <a:pt x="0" y="0"/>
                </a:lnTo>
                <a:close/>
              </a:path>
            </a:pathLst>
          </a:custGeom>
          <a:blipFill>
            <a:blip r:embed="rId2"/>
            <a:stretch>
              <a:fillRect/>
            </a:stretch>
          </a:blipFill>
        </p:spPr>
        <p:txBody>
          <a:bodyPr/>
          <a:lstStyle/>
          <a:p>
            <a:endParaRPr lang="en-IN"/>
          </a:p>
        </p:txBody>
      </p:sp>
      <p:sp>
        <p:nvSpPr>
          <p:cNvPr id="9" name="TextBox 9"/>
          <p:cNvSpPr txBox="1"/>
          <p:nvPr/>
        </p:nvSpPr>
        <p:spPr>
          <a:xfrm>
            <a:off x="4220957" y="4515645"/>
            <a:ext cx="9846085" cy="1409298"/>
          </a:xfrm>
          <a:prstGeom prst="rect">
            <a:avLst/>
          </a:prstGeom>
        </p:spPr>
        <p:txBody>
          <a:bodyPr lIns="0" tIns="0" rIns="0" bIns="0" rtlCol="0" anchor="t">
            <a:spAutoFit/>
          </a:bodyPr>
          <a:lstStyle/>
          <a:p>
            <a:pPr algn="ctr">
              <a:lnSpc>
                <a:spcPts val="11572"/>
              </a:lnSpc>
            </a:pPr>
            <a:r>
              <a:rPr lang="en-US" sz="8265" b="1" spc="82">
                <a:solidFill>
                  <a:srgbClr val="191919"/>
                </a:solidFill>
                <a:latin typeface="Aileron Heavy Bold"/>
                <a:ea typeface="Aileron Heavy Bold"/>
                <a:cs typeface="Aileron Heavy Bold"/>
                <a:sym typeface="Aileron Heavy Bold"/>
              </a:rPr>
              <a:t>PRESENTATION</a:t>
            </a:r>
          </a:p>
        </p:txBody>
      </p:sp>
      <p:sp>
        <p:nvSpPr>
          <p:cNvPr id="10" name="TextBox 10"/>
          <p:cNvSpPr txBox="1"/>
          <p:nvPr/>
        </p:nvSpPr>
        <p:spPr>
          <a:xfrm>
            <a:off x="1650965" y="6524525"/>
            <a:ext cx="14816377" cy="1384488"/>
          </a:xfrm>
          <a:prstGeom prst="rect">
            <a:avLst/>
          </a:prstGeom>
        </p:spPr>
        <p:txBody>
          <a:bodyPr lIns="0" tIns="0" rIns="0" bIns="0" rtlCol="0" anchor="t">
            <a:spAutoFit/>
          </a:bodyPr>
          <a:lstStyle/>
          <a:p>
            <a:pPr algn="ctr">
              <a:lnSpc>
                <a:spcPts val="3702"/>
              </a:lnSpc>
            </a:pPr>
            <a:r>
              <a:rPr lang="en-US" sz="2419" spc="140">
                <a:solidFill>
                  <a:srgbClr val="191919"/>
                </a:solidFill>
                <a:latin typeface="Aileron Regular"/>
                <a:ea typeface="Aileron Regular"/>
                <a:cs typeface="Aileron Regular"/>
                <a:sym typeface="Aileron Regular"/>
              </a:rPr>
              <a:t>G.I.P.S (Guinea International Private Security -Sarl) est une société spécialisée dans le gardiennage et la sécurité des biens et des personnes. Grâce à son expertise et à son engagement, GIPS assure la protection de ses clients de manière fiable et professionnelle.</a:t>
            </a:r>
          </a:p>
        </p:txBody>
      </p:sp>
      <p:pic>
        <p:nvPicPr>
          <p:cNvPr id="12" name="Image 11">
            <a:extLst>
              <a:ext uri="{FF2B5EF4-FFF2-40B4-BE49-F238E27FC236}">
                <a16:creationId xmlns:a16="http://schemas.microsoft.com/office/drawing/2014/main" id="{B88D3B18-3012-4599-BE7F-D3AFE4534F5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8567"/>
          <a:stretch/>
        </p:blipFill>
        <p:spPr>
          <a:xfrm>
            <a:off x="0" y="4068728"/>
            <a:ext cx="2205013" cy="2172414"/>
          </a:xfrm>
          <a:prstGeom prst="rect">
            <a:avLst/>
          </a:prstGeom>
        </p:spPr>
      </p:pic>
      <p:pic>
        <p:nvPicPr>
          <p:cNvPr id="13" name="Image 12">
            <a:extLst>
              <a:ext uri="{FF2B5EF4-FFF2-40B4-BE49-F238E27FC236}">
                <a16:creationId xmlns:a16="http://schemas.microsoft.com/office/drawing/2014/main" id="{6DDBB8A4-642B-4CD6-88F8-E0D0A2860FC9}"/>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8567"/>
          <a:stretch/>
        </p:blipFill>
        <p:spPr>
          <a:xfrm rot="10800000">
            <a:off x="16082986" y="4052320"/>
            <a:ext cx="2205013" cy="217241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371557" y="0"/>
            <a:ext cx="7182512" cy="3378476"/>
            <a:chOff x="0" y="0"/>
            <a:chExt cx="9576682" cy="4504634"/>
          </a:xfrm>
        </p:grpSpPr>
        <p:sp>
          <p:nvSpPr>
            <p:cNvPr id="3" name="Freeform 3"/>
            <p:cNvSpPr/>
            <p:nvPr/>
          </p:nvSpPr>
          <p:spPr>
            <a:xfrm>
              <a:off x="0" y="0"/>
              <a:ext cx="9775444" cy="4703445"/>
            </a:xfrm>
            <a:custGeom>
              <a:avLst/>
              <a:gdLst/>
              <a:ahLst/>
              <a:cxnLst/>
              <a:rect l="l" t="t" r="r" b="b"/>
              <a:pathLst>
                <a:path w="9775444" h="4703445">
                  <a:moveTo>
                    <a:pt x="0" y="0"/>
                  </a:moveTo>
                  <a:lnTo>
                    <a:pt x="5598287" y="0"/>
                  </a:lnTo>
                  <a:lnTo>
                    <a:pt x="8876665" y="1892808"/>
                  </a:lnTo>
                  <a:cubicBezTo>
                    <a:pt x="9546082" y="2279269"/>
                    <a:pt x="9775444" y="3135249"/>
                    <a:pt x="9388983" y="3804666"/>
                  </a:cubicBezTo>
                  <a:cubicBezTo>
                    <a:pt x="9002523" y="4474083"/>
                    <a:pt x="8146542" y="4703445"/>
                    <a:pt x="7477125" y="4316984"/>
                  </a:cubicBezTo>
                  <a:close/>
                </a:path>
              </a:pathLst>
            </a:custGeom>
            <a:solidFill>
              <a:srgbClr val="37C9EF"/>
            </a:solidFill>
          </p:spPr>
          <p:txBody>
            <a:bodyPr/>
            <a:lstStyle/>
            <a:p>
              <a:endParaRPr lang="en-IN"/>
            </a:p>
          </p:txBody>
        </p:sp>
      </p:grpSp>
      <p:grpSp>
        <p:nvGrpSpPr>
          <p:cNvPr id="4" name="Group 4"/>
          <p:cNvGrpSpPr/>
          <p:nvPr/>
        </p:nvGrpSpPr>
        <p:grpSpPr>
          <a:xfrm>
            <a:off x="10105380" y="1163770"/>
            <a:ext cx="8182620" cy="9123230"/>
            <a:chOff x="0" y="0"/>
            <a:chExt cx="10910160" cy="12164306"/>
          </a:xfrm>
        </p:grpSpPr>
        <p:sp>
          <p:nvSpPr>
            <p:cNvPr id="5" name="Freeform 5"/>
            <p:cNvSpPr/>
            <p:nvPr/>
          </p:nvSpPr>
          <p:spPr>
            <a:xfrm>
              <a:off x="-654304" y="-40894"/>
              <a:ext cx="11564493" cy="12205208"/>
            </a:xfrm>
            <a:custGeom>
              <a:avLst/>
              <a:gdLst/>
              <a:ahLst/>
              <a:cxnLst/>
              <a:rect l="l" t="t" r="r" b="b"/>
              <a:pathLst>
                <a:path w="11564493" h="12205208">
                  <a:moveTo>
                    <a:pt x="5386451" y="42418"/>
                  </a:moveTo>
                  <a:cubicBezTo>
                    <a:pt x="6129147" y="61722"/>
                    <a:pt x="6877812" y="261366"/>
                    <a:pt x="7566533" y="659003"/>
                  </a:cubicBezTo>
                  <a:lnTo>
                    <a:pt x="11564493" y="2967228"/>
                  </a:lnTo>
                  <a:lnTo>
                    <a:pt x="11564493" y="12205208"/>
                  </a:lnTo>
                  <a:lnTo>
                    <a:pt x="9249410" y="12205208"/>
                  </a:lnTo>
                  <a:lnTo>
                    <a:pt x="9042019" y="12124309"/>
                  </a:lnTo>
                  <a:cubicBezTo>
                    <a:pt x="8900033" y="12060429"/>
                    <a:pt x="8759826" y="11988927"/>
                    <a:pt x="8622157" y="11909298"/>
                  </a:cubicBezTo>
                  <a:lnTo>
                    <a:pt x="2958846" y="8639683"/>
                  </a:lnTo>
                  <a:cubicBezTo>
                    <a:pt x="755142" y="7367270"/>
                    <a:pt x="0" y="4549267"/>
                    <a:pt x="1272413" y="2345436"/>
                  </a:cubicBezTo>
                  <a:cubicBezTo>
                    <a:pt x="2147189" y="830326"/>
                    <a:pt x="3752469" y="0"/>
                    <a:pt x="5386451" y="42418"/>
                  </a:cubicBezTo>
                  <a:close/>
                </a:path>
              </a:pathLst>
            </a:custGeom>
            <a:blipFill>
              <a:blip r:embed="rId2"/>
              <a:stretch>
                <a:fillRect l="-33517" r="-33517"/>
              </a:stretch>
            </a:blipFill>
          </p:spPr>
          <p:txBody>
            <a:bodyPr/>
            <a:lstStyle/>
            <a:p>
              <a:endParaRPr lang="en-IN"/>
            </a:p>
          </p:txBody>
        </p:sp>
      </p:grpSp>
      <p:grpSp>
        <p:nvGrpSpPr>
          <p:cNvPr id="6" name="Group 6"/>
          <p:cNvGrpSpPr/>
          <p:nvPr/>
        </p:nvGrpSpPr>
        <p:grpSpPr>
          <a:xfrm rot="1800000">
            <a:off x="12534517" y="8475859"/>
            <a:ext cx="2629551" cy="601176"/>
            <a:chOff x="0" y="0"/>
            <a:chExt cx="3506068" cy="801568"/>
          </a:xfrm>
        </p:grpSpPr>
        <p:sp>
          <p:nvSpPr>
            <p:cNvPr id="7" name="Freeform 7"/>
            <p:cNvSpPr/>
            <p:nvPr/>
          </p:nvSpPr>
          <p:spPr>
            <a:xfrm>
              <a:off x="0" y="0"/>
              <a:ext cx="3506089" cy="801624"/>
            </a:xfrm>
            <a:custGeom>
              <a:avLst/>
              <a:gdLst/>
              <a:ahLst/>
              <a:cxnLst/>
              <a:rect l="l" t="t" r="r" b="b"/>
              <a:pathLst>
                <a:path w="3506089" h="801624">
                  <a:moveTo>
                    <a:pt x="0" y="400812"/>
                  </a:moveTo>
                  <a:cubicBezTo>
                    <a:pt x="0" y="179451"/>
                    <a:pt x="179451" y="0"/>
                    <a:pt x="400812" y="0"/>
                  </a:cubicBezTo>
                  <a:lnTo>
                    <a:pt x="3105277" y="0"/>
                  </a:lnTo>
                  <a:cubicBezTo>
                    <a:pt x="3326638" y="0"/>
                    <a:pt x="3506089" y="179451"/>
                    <a:pt x="3506089" y="400812"/>
                  </a:cubicBezTo>
                  <a:cubicBezTo>
                    <a:pt x="3506089" y="622173"/>
                    <a:pt x="3326638" y="801624"/>
                    <a:pt x="3105277" y="801624"/>
                  </a:cubicBezTo>
                  <a:lnTo>
                    <a:pt x="400812" y="801624"/>
                  </a:lnTo>
                  <a:cubicBezTo>
                    <a:pt x="179451" y="801624"/>
                    <a:pt x="0" y="622173"/>
                    <a:pt x="0" y="400812"/>
                  </a:cubicBezTo>
                  <a:close/>
                </a:path>
              </a:pathLst>
            </a:custGeom>
            <a:solidFill>
              <a:srgbClr val="37C9EF"/>
            </a:solidFill>
          </p:spPr>
          <p:txBody>
            <a:bodyPr/>
            <a:lstStyle/>
            <a:p>
              <a:endParaRPr lang="en-IN"/>
            </a:p>
          </p:txBody>
        </p:sp>
      </p:grpSp>
      <p:grpSp>
        <p:nvGrpSpPr>
          <p:cNvPr id="8" name="Group 8"/>
          <p:cNvGrpSpPr/>
          <p:nvPr/>
        </p:nvGrpSpPr>
        <p:grpSpPr>
          <a:xfrm rot="1800000">
            <a:off x="15257803" y="1541500"/>
            <a:ext cx="1750264" cy="1145520"/>
            <a:chOff x="0" y="0"/>
            <a:chExt cx="2333686" cy="1527360"/>
          </a:xfrm>
        </p:grpSpPr>
        <p:sp>
          <p:nvSpPr>
            <p:cNvPr id="9" name="Freeform 9"/>
            <p:cNvSpPr/>
            <p:nvPr/>
          </p:nvSpPr>
          <p:spPr>
            <a:xfrm>
              <a:off x="0" y="0"/>
              <a:ext cx="2333625" cy="1527302"/>
            </a:xfrm>
            <a:custGeom>
              <a:avLst/>
              <a:gdLst/>
              <a:ahLst/>
              <a:cxnLst/>
              <a:rect l="l" t="t" r="r" b="b"/>
              <a:pathLst>
                <a:path w="2333625" h="1527302">
                  <a:moveTo>
                    <a:pt x="0" y="763651"/>
                  </a:moveTo>
                  <a:cubicBezTo>
                    <a:pt x="0" y="341884"/>
                    <a:pt x="341884" y="0"/>
                    <a:pt x="763651" y="0"/>
                  </a:cubicBezTo>
                  <a:lnTo>
                    <a:pt x="1569974" y="0"/>
                  </a:lnTo>
                  <a:cubicBezTo>
                    <a:pt x="1991741" y="0"/>
                    <a:pt x="2333625" y="341884"/>
                    <a:pt x="2333625" y="763651"/>
                  </a:cubicBezTo>
                  <a:cubicBezTo>
                    <a:pt x="2333625" y="1185418"/>
                    <a:pt x="1991741" y="1527302"/>
                    <a:pt x="1569974" y="1527302"/>
                  </a:cubicBezTo>
                  <a:lnTo>
                    <a:pt x="763651" y="1527302"/>
                  </a:lnTo>
                  <a:cubicBezTo>
                    <a:pt x="341884" y="1527302"/>
                    <a:pt x="0" y="1185418"/>
                    <a:pt x="0" y="763651"/>
                  </a:cubicBezTo>
                  <a:close/>
                </a:path>
              </a:pathLst>
            </a:custGeom>
            <a:solidFill>
              <a:srgbClr val="FFFFFF"/>
            </a:solidFill>
          </p:spPr>
          <p:txBody>
            <a:bodyPr/>
            <a:lstStyle/>
            <a:p>
              <a:endParaRPr lang="en-IN"/>
            </a:p>
          </p:txBody>
        </p:sp>
      </p:grpSp>
      <p:sp>
        <p:nvSpPr>
          <p:cNvPr id="10" name="TextBox 10"/>
          <p:cNvSpPr txBox="1"/>
          <p:nvPr/>
        </p:nvSpPr>
        <p:spPr>
          <a:xfrm>
            <a:off x="1028700" y="438063"/>
            <a:ext cx="8594395" cy="3257145"/>
          </a:xfrm>
          <a:prstGeom prst="rect">
            <a:avLst/>
          </a:prstGeom>
        </p:spPr>
        <p:txBody>
          <a:bodyPr lIns="0" tIns="0" rIns="0" bIns="0" rtlCol="0" anchor="t">
            <a:spAutoFit/>
          </a:bodyPr>
          <a:lstStyle/>
          <a:p>
            <a:pPr algn="ctr">
              <a:lnSpc>
                <a:spcPts val="7372"/>
              </a:lnSpc>
            </a:pPr>
            <a:r>
              <a:rPr lang="en-US" sz="5266" b="1" spc="52">
                <a:solidFill>
                  <a:srgbClr val="191919"/>
                </a:solidFill>
                <a:latin typeface="Aileron Heavy Bold"/>
                <a:ea typeface="Aileron Heavy Bold"/>
                <a:cs typeface="Aileron Heavy Bold"/>
                <a:sym typeface="Aileron Heavy Bold"/>
              </a:rPr>
              <a:t>HISTORIQUE DE LA CRÉATION DE G.I.P.S</a:t>
            </a:r>
          </a:p>
          <a:p>
            <a:pPr algn="ctr">
              <a:lnSpc>
                <a:spcPts val="11572"/>
              </a:lnSpc>
            </a:pPr>
            <a:endParaRPr lang="en-US" sz="5266" b="1" spc="52">
              <a:solidFill>
                <a:srgbClr val="191919"/>
              </a:solidFill>
              <a:latin typeface="Aileron Heavy Bold"/>
              <a:ea typeface="Aileron Heavy Bold"/>
              <a:cs typeface="Aileron Heavy Bold"/>
              <a:sym typeface="Aileron Heavy Bold"/>
            </a:endParaRPr>
          </a:p>
        </p:txBody>
      </p:sp>
      <p:sp>
        <p:nvSpPr>
          <p:cNvPr id="11" name="TextBox 11"/>
          <p:cNvSpPr txBox="1"/>
          <p:nvPr/>
        </p:nvSpPr>
        <p:spPr>
          <a:xfrm>
            <a:off x="1028700" y="2568467"/>
            <a:ext cx="8914634" cy="6155060"/>
          </a:xfrm>
          <a:prstGeom prst="rect">
            <a:avLst/>
          </a:prstGeom>
        </p:spPr>
        <p:txBody>
          <a:bodyPr lIns="0" tIns="0" rIns="0" bIns="0" rtlCol="0" anchor="t">
            <a:spAutoFit/>
          </a:bodyPr>
          <a:lstStyle/>
          <a:p>
            <a:pPr algn="just">
              <a:lnSpc>
                <a:spcPts val="4094"/>
              </a:lnSpc>
            </a:pPr>
            <a:r>
              <a:rPr lang="en-US" sz="2924" spc="169">
                <a:solidFill>
                  <a:srgbClr val="191919"/>
                </a:solidFill>
                <a:latin typeface="Aileron Regular"/>
                <a:ea typeface="Aileron Regular"/>
                <a:cs typeface="Aileron Regular"/>
                <a:sym typeface="Aileron Regular"/>
              </a:rPr>
              <a:t>G.I.P.S a été fondée en 2017 par un groupe de professionnels expérimentés du secteur de la sécurité, désireux de répondre à la demande croissante pour des services de sécurité fiables et professionnels en Guinée. Notre entreprise est le fruit d’un partenariat entre la jeunesse guinéenne vivante en Guinée et celle de la diaspora française. Nous avons été motivés par le désir d’améliorer la sécurité dans le pays et de contribuer à la création d’un environnement plus sûr pour les investisseurs et les citoyens.</a:t>
            </a:r>
          </a:p>
          <a:p>
            <a:pPr algn="just">
              <a:lnSpc>
                <a:spcPts val="4094"/>
              </a:lnSpc>
            </a:pPr>
            <a:endParaRPr lang="en-US" sz="2924" spc="169">
              <a:solidFill>
                <a:srgbClr val="191919"/>
              </a:solidFill>
              <a:latin typeface="Aileron Regular"/>
              <a:ea typeface="Aileron Regular"/>
              <a:cs typeface="Aileron Regular"/>
              <a:sym typeface="Aileron Regular"/>
            </a:endParaRPr>
          </a:p>
        </p:txBody>
      </p:sp>
      <p:sp>
        <p:nvSpPr>
          <p:cNvPr id="12" name="Freeform 12"/>
          <p:cNvSpPr/>
          <p:nvPr/>
        </p:nvSpPr>
        <p:spPr>
          <a:xfrm>
            <a:off x="16664786" y="110787"/>
            <a:ext cx="1177232" cy="1185701"/>
          </a:xfrm>
          <a:custGeom>
            <a:avLst/>
            <a:gdLst/>
            <a:ahLst/>
            <a:cxnLst/>
            <a:rect l="l" t="t" r="r" b="b"/>
            <a:pathLst>
              <a:path w="1177232" h="1185701">
                <a:moveTo>
                  <a:pt x="0" y="0"/>
                </a:moveTo>
                <a:lnTo>
                  <a:pt x="1177233" y="0"/>
                </a:lnTo>
                <a:lnTo>
                  <a:pt x="1177233" y="1185701"/>
                </a:lnTo>
                <a:lnTo>
                  <a:pt x="0" y="1185701"/>
                </a:lnTo>
                <a:lnTo>
                  <a:pt x="0" y="0"/>
                </a:lnTo>
                <a:close/>
              </a:path>
            </a:pathLst>
          </a:custGeom>
          <a:blipFill>
            <a:blip r:embed="rId3"/>
            <a:stretch>
              <a:fillRect/>
            </a:stretch>
          </a:blipFill>
        </p:spPr>
        <p:txBody>
          <a:bodyPr/>
          <a:lstStyle/>
          <a:p>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741444" flipH="1" flipV="1">
            <a:off x="14659673" y="8304608"/>
            <a:ext cx="7256654" cy="5738804"/>
          </a:xfrm>
          <a:custGeom>
            <a:avLst/>
            <a:gdLst/>
            <a:ahLst/>
            <a:cxnLst/>
            <a:rect l="l" t="t" r="r" b="b"/>
            <a:pathLst>
              <a:path w="7256654" h="5738804">
                <a:moveTo>
                  <a:pt x="7256654" y="5738803"/>
                </a:moveTo>
                <a:lnTo>
                  <a:pt x="0" y="5738803"/>
                </a:lnTo>
                <a:lnTo>
                  <a:pt x="0" y="0"/>
                </a:lnTo>
                <a:lnTo>
                  <a:pt x="7256654" y="0"/>
                </a:lnTo>
                <a:lnTo>
                  <a:pt x="7256654" y="5738803"/>
                </a:lnTo>
                <a:close/>
              </a:path>
            </a:pathLst>
          </a:custGeom>
          <a:blipFill>
            <a:blip r:embed="rId2">
              <a:alphaModFix amt="12000"/>
              <a:extLst>
                <a:ext uri="{96DAC541-7B7A-43D3-8B79-37D633B846F1}">
                  <asvg:svgBlip xmlns:asvg="http://schemas.microsoft.com/office/drawing/2016/SVG/main" xmlns="" r:embed="rId3"/>
                </a:ext>
              </a:extLst>
            </a:blip>
            <a:stretch>
              <a:fillRect/>
            </a:stretch>
          </a:blipFill>
        </p:spPr>
        <p:txBody>
          <a:bodyPr/>
          <a:lstStyle/>
          <a:p>
            <a:endParaRPr lang="en-IN"/>
          </a:p>
        </p:txBody>
      </p:sp>
      <p:sp>
        <p:nvSpPr>
          <p:cNvPr id="3" name="Freeform 3"/>
          <p:cNvSpPr/>
          <p:nvPr/>
        </p:nvSpPr>
        <p:spPr>
          <a:xfrm>
            <a:off x="-4274641" y="8836087"/>
            <a:ext cx="7256654" cy="5738804"/>
          </a:xfrm>
          <a:custGeom>
            <a:avLst/>
            <a:gdLst/>
            <a:ahLst/>
            <a:cxnLst/>
            <a:rect l="l" t="t" r="r" b="b"/>
            <a:pathLst>
              <a:path w="7256654" h="5738804">
                <a:moveTo>
                  <a:pt x="0" y="0"/>
                </a:moveTo>
                <a:lnTo>
                  <a:pt x="7256654" y="0"/>
                </a:lnTo>
                <a:lnTo>
                  <a:pt x="7256654" y="5738804"/>
                </a:lnTo>
                <a:lnTo>
                  <a:pt x="0" y="5738804"/>
                </a:lnTo>
                <a:lnTo>
                  <a:pt x="0" y="0"/>
                </a:lnTo>
                <a:close/>
              </a:path>
            </a:pathLst>
          </a:custGeom>
          <a:blipFill>
            <a:blip r:embed="rId2">
              <a:alphaModFix amt="12000"/>
              <a:extLst>
                <a:ext uri="{96DAC541-7B7A-43D3-8B79-37D633B846F1}">
                  <asvg:svgBlip xmlns:asvg="http://schemas.microsoft.com/office/drawing/2016/SVG/main" xmlns="" r:embed="rId3"/>
                </a:ext>
              </a:extLst>
            </a:blip>
            <a:stretch>
              <a:fillRect/>
            </a:stretch>
          </a:blipFill>
        </p:spPr>
        <p:txBody>
          <a:bodyPr/>
          <a:lstStyle/>
          <a:p>
            <a:endParaRPr lang="en-IN"/>
          </a:p>
        </p:txBody>
      </p:sp>
      <p:sp>
        <p:nvSpPr>
          <p:cNvPr id="4" name="Freeform 4"/>
          <p:cNvSpPr/>
          <p:nvPr/>
        </p:nvSpPr>
        <p:spPr>
          <a:xfrm rot="5400000">
            <a:off x="-1287237" y="1287235"/>
            <a:ext cx="5143500" cy="2569030"/>
          </a:xfrm>
          <a:custGeom>
            <a:avLst/>
            <a:gdLst/>
            <a:ahLst/>
            <a:cxnLst/>
            <a:rect l="l" t="t" r="r" b="b"/>
            <a:pathLst>
              <a:path w="5581408" h="3005069">
                <a:moveTo>
                  <a:pt x="0" y="0"/>
                </a:moveTo>
                <a:lnTo>
                  <a:pt x="5581408" y="0"/>
                </a:lnTo>
                <a:lnTo>
                  <a:pt x="5581408" y="3005069"/>
                </a:lnTo>
                <a:lnTo>
                  <a:pt x="0" y="3005069"/>
                </a:lnTo>
                <a:lnTo>
                  <a:pt x="0" y="0"/>
                </a:lnTo>
                <a:close/>
              </a:path>
            </a:pathLst>
          </a:custGeom>
          <a:blipFill>
            <a:blip r:embed="rId4">
              <a:extLst>
                <a:ext uri="{96DAC541-7B7A-43D3-8B79-37D633B846F1}">
                  <asvg:svgBlip xmlns:asvg="http://schemas.microsoft.com/office/drawing/2016/SVG/main" xmlns="" r:embed="rId5"/>
                </a:ext>
              </a:extLst>
            </a:blip>
            <a:stretch>
              <a:fillRect t="-36928" r="-27109"/>
            </a:stretch>
          </a:blipFill>
        </p:spPr>
        <p:txBody>
          <a:bodyPr/>
          <a:lstStyle/>
          <a:p>
            <a:endParaRPr lang="en-IN"/>
          </a:p>
        </p:txBody>
      </p:sp>
      <p:sp>
        <p:nvSpPr>
          <p:cNvPr id="5" name="Freeform 5"/>
          <p:cNvSpPr/>
          <p:nvPr/>
        </p:nvSpPr>
        <p:spPr>
          <a:xfrm rot="5400000">
            <a:off x="7416" y="34651"/>
            <a:ext cx="1062824" cy="1077678"/>
          </a:xfrm>
          <a:custGeom>
            <a:avLst/>
            <a:gdLst/>
            <a:ahLst/>
            <a:cxnLst/>
            <a:rect l="l" t="t" r="r" b="b"/>
            <a:pathLst>
              <a:path w="2700592" h="1077675">
                <a:moveTo>
                  <a:pt x="0" y="0"/>
                </a:moveTo>
                <a:lnTo>
                  <a:pt x="2700592" y="0"/>
                </a:lnTo>
                <a:lnTo>
                  <a:pt x="2700592" y="1077674"/>
                </a:lnTo>
                <a:lnTo>
                  <a:pt x="0" y="1077674"/>
                </a:lnTo>
                <a:lnTo>
                  <a:pt x="0" y="0"/>
                </a:lnTo>
                <a:close/>
              </a:path>
            </a:pathLst>
          </a:custGeom>
          <a:blipFill>
            <a:blip r:embed="rId6">
              <a:extLst>
                <a:ext uri="{96DAC541-7B7A-43D3-8B79-37D633B846F1}">
                  <asvg:svgBlip xmlns:asvg="http://schemas.microsoft.com/office/drawing/2016/SVG/main" xmlns="" r:embed="rId7"/>
                </a:ext>
              </a:extLst>
            </a:blip>
            <a:stretch>
              <a:fillRect r="-133916"/>
            </a:stretch>
          </a:blipFill>
        </p:spPr>
        <p:txBody>
          <a:bodyPr/>
          <a:lstStyle/>
          <a:p>
            <a:endParaRPr lang="en-IN"/>
          </a:p>
        </p:txBody>
      </p:sp>
      <p:grpSp>
        <p:nvGrpSpPr>
          <p:cNvPr id="6" name="Group 6"/>
          <p:cNvGrpSpPr/>
          <p:nvPr/>
        </p:nvGrpSpPr>
        <p:grpSpPr>
          <a:xfrm>
            <a:off x="304800" y="304800"/>
            <a:ext cx="6793086" cy="9677400"/>
            <a:chOff x="0" y="0"/>
            <a:chExt cx="971130" cy="1383467"/>
          </a:xfrm>
        </p:grpSpPr>
        <p:sp>
          <p:nvSpPr>
            <p:cNvPr id="7" name="Freeform 7"/>
            <p:cNvSpPr/>
            <p:nvPr/>
          </p:nvSpPr>
          <p:spPr>
            <a:xfrm>
              <a:off x="0" y="0"/>
              <a:ext cx="971129" cy="1383467"/>
            </a:xfrm>
            <a:custGeom>
              <a:avLst/>
              <a:gdLst/>
              <a:ahLst/>
              <a:cxnLst/>
              <a:rect l="l" t="t" r="r" b="b"/>
              <a:pathLst>
                <a:path w="971129" h="1383467">
                  <a:moveTo>
                    <a:pt x="11397" y="0"/>
                  </a:moveTo>
                  <a:lnTo>
                    <a:pt x="959733" y="0"/>
                  </a:lnTo>
                  <a:cubicBezTo>
                    <a:pt x="962755" y="0"/>
                    <a:pt x="965654" y="1201"/>
                    <a:pt x="967791" y="3338"/>
                  </a:cubicBezTo>
                  <a:cubicBezTo>
                    <a:pt x="969929" y="5475"/>
                    <a:pt x="971129" y="8374"/>
                    <a:pt x="971129" y="11397"/>
                  </a:cubicBezTo>
                  <a:lnTo>
                    <a:pt x="971129" y="1372070"/>
                  </a:lnTo>
                  <a:cubicBezTo>
                    <a:pt x="971129" y="1375093"/>
                    <a:pt x="969929" y="1377991"/>
                    <a:pt x="967791" y="1380129"/>
                  </a:cubicBezTo>
                  <a:cubicBezTo>
                    <a:pt x="965654" y="1382266"/>
                    <a:pt x="962755" y="1383467"/>
                    <a:pt x="959733" y="1383467"/>
                  </a:cubicBezTo>
                  <a:lnTo>
                    <a:pt x="11397" y="1383467"/>
                  </a:lnTo>
                  <a:cubicBezTo>
                    <a:pt x="8374" y="1383467"/>
                    <a:pt x="5475" y="1382266"/>
                    <a:pt x="3338" y="1380129"/>
                  </a:cubicBezTo>
                  <a:cubicBezTo>
                    <a:pt x="1201" y="1377991"/>
                    <a:pt x="0" y="1375093"/>
                    <a:pt x="0" y="1372070"/>
                  </a:cubicBezTo>
                  <a:lnTo>
                    <a:pt x="0" y="11397"/>
                  </a:lnTo>
                  <a:cubicBezTo>
                    <a:pt x="0" y="8374"/>
                    <a:pt x="1201" y="5475"/>
                    <a:pt x="3338" y="3338"/>
                  </a:cubicBezTo>
                  <a:cubicBezTo>
                    <a:pt x="5475" y="1201"/>
                    <a:pt x="8374" y="0"/>
                    <a:pt x="11397" y="0"/>
                  </a:cubicBezTo>
                  <a:close/>
                </a:path>
              </a:pathLst>
            </a:custGeom>
            <a:blipFill>
              <a:blip r:embed="rId8"/>
              <a:stretch>
                <a:fillRect l="-29697" r="-29697"/>
              </a:stretch>
            </a:blipFill>
            <a:ln cap="sq">
              <a:noFill/>
              <a:prstDash val="solid"/>
              <a:miter/>
            </a:ln>
          </p:spPr>
          <p:txBody>
            <a:bodyPr/>
            <a:lstStyle/>
            <a:p>
              <a:endParaRPr lang="en-IN"/>
            </a:p>
          </p:txBody>
        </p:sp>
      </p:grpSp>
      <p:grpSp>
        <p:nvGrpSpPr>
          <p:cNvPr id="8" name="Group 8"/>
          <p:cNvGrpSpPr/>
          <p:nvPr/>
        </p:nvGrpSpPr>
        <p:grpSpPr>
          <a:xfrm>
            <a:off x="7097886" y="414953"/>
            <a:ext cx="5819427" cy="967740"/>
            <a:chOff x="0" y="0"/>
            <a:chExt cx="1532689" cy="254878"/>
          </a:xfrm>
        </p:grpSpPr>
        <p:sp>
          <p:nvSpPr>
            <p:cNvPr id="9" name="Freeform 9"/>
            <p:cNvSpPr/>
            <p:nvPr/>
          </p:nvSpPr>
          <p:spPr>
            <a:xfrm>
              <a:off x="0" y="0"/>
              <a:ext cx="1532689" cy="254878"/>
            </a:xfrm>
            <a:custGeom>
              <a:avLst/>
              <a:gdLst/>
              <a:ahLst/>
              <a:cxnLst/>
              <a:rect l="l" t="t" r="r" b="b"/>
              <a:pathLst>
                <a:path w="1532689" h="254878">
                  <a:moveTo>
                    <a:pt x="13304" y="0"/>
                  </a:moveTo>
                  <a:lnTo>
                    <a:pt x="1519385" y="0"/>
                  </a:lnTo>
                  <a:cubicBezTo>
                    <a:pt x="1526732" y="0"/>
                    <a:pt x="1532689" y="5956"/>
                    <a:pt x="1532689" y="13304"/>
                  </a:cubicBezTo>
                  <a:lnTo>
                    <a:pt x="1532689" y="241574"/>
                  </a:lnTo>
                  <a:cubicBezTo>
                    <a:pt x="1532689" y="248922"/>
                    <a:pt x="1526732" y="254878"/>
                    <a:pt x="1519385" y="254878"/>
                  </a:cubicBezTo>
                  <a:lnTo>
                    <a:pt x="13304" y="254878"/>
                  </a:lnTo>
                  <a:cubicBezTo>
                    <a:pt x="5956" y="254878"/>
                    <a:pt x="0" y="248922"/>
                    <a:pt x="0" y="241574"/>
                  </a:cubicBezTo>
                  <a:lnTo>
                    <a:pt x="0" y="13304"/>
                  </a:lnTo>
                  <a:cubicBezTo>
                    <a:pt x="0" y="5956"/>
                    <a:pt x="5956" y="0"/>
                    <a:pt x="13304" y="0"/>
                  </a:cubicBezTo>
                  <a:close/>
                </a:path>
              </a:pathLst>
            </a:custGeom>
            <a:solidFill>
              <a:srgbClr val="2C92D5"/>
            </a:solidFill>
          </p:spPr>
          <p:txBody>
            <a:bodyPr/>
            <a:lstStyle/>
            <a:p>
              <a:endParaRPr lang="en-IN"/>
            </a:p>
          </p:txBody>
        </p:sp>
        <p:sp>
          <p:nvSpPr>
            <p:cNvPr id="10" name="TextBox 10"/>
            <p:cNvSpPr txBox="1"/>
            <p:nvPr/>
          </p:nvSpPr>
          <p:spPr>
            <a:xfrm>
              <a:off x="0" y="-200025"/>
              <a:ext cx="1532689" cy="454903"/>
            </a:xfrm>
            <a:prstGeom prst="rect">
              <a:avLst/>
            </a:prstGeom>
          </p:spPr>
          <p:txBody>
            <a:bodyPr lIns="50800" tIns="50800" rIns="50800" bIns="50800" rtlCol="0" anchor="ctr"/>
            <a:lstStyle/>
            <a:p>
              <a:pPr algn="ctr">
                <a:lnSpc>
                  <a:spcPts val="5040"/>
                </a:lnSpc>
              </a:pPr>
              <a:endParaRPr/>
            </a:p>
          </p:txBody>
        </p:sp>
      </p:grpSp>
      <p:sp>
        <p:nvSpPr>
          <p:cNvPr id="11" name="Freeform 11"/>
          <p:cNvSpPr/>
          <p:nvPr/>
        </p:nvSpPr>
        <p:spPr>
          <a:xfrm>
            <a:off x="6909601" y="2316393"/>
            <a:ext cx="400118" cy="326096"/>
          </a:xfrm>
          <a:custGeom>
            <a:avLst/>
            <a:gdLst/>
            <a:ahLst/>
            <a:cxnLst/>
            <a:rect l="l" t="t" r="r" b="b"/>
            <a:pathLst>
              <a:path w="400118" h="326096">
                <a:moveTo>
                  <a:pt x="0" y="0"/>
                </a:moveTo>
                <a:lnTo>
                  <a:pt x="400118" y="0"/>
                </a:lnTo>
                <a:lnTo>
                  <a:pt x="400118" y="326097"/>
                </a:lnTo>
                <a:lnTo>
                  <a:pt x="0" y="326097"/>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txBody>
          <a:bodyPr/>
          <a:lstStyle/>
          <a:p>
            <a:endParaRPr lang="en-IN"/>
          </a:p>
        </p:txBody>
      </p:sp>
      <p:sp>
        <p:nvSpPr>
          <p:cNvPr id="12" name="TextBox 12"/>
          <p:cNvSpPr txBox="1"/>
          <p:nvPr/>
        </p:nvSpPr>
        <p:spPr>
          <a:xfrm>
            <a:off x="7403324" y="527424"/>
            <a:ext cx="6117771" cy="809473"/>
          </a:xfrm>
          <a:prstGeom prst="rect">
            <a:avLst/>
          </a:prstGeom>
        </p:spPr>
        <p:txBody>
          <a:bodyPr lIns="0" tIns="0" rIns="0" bIns="0" rtlCol="0" anchor="t">
            <a:spAutoFit/>
          </a:bodyPr>
          <a:lstStyle/>
          <a:p>
            <a:pPr algn="l">
              <a:lnSpc>
                <a:spcPts val="6163"/>
              </a:lnSpc>
            </a:pPr>
            <a:r>
              <a:rPr lang="en-US" sz="5759" spc="57">
                <a:solidFill>
                  <a:srgbClr val="FFFFFF"/>
                </a:solidFill>
                <a:latin typeface="Aileron Heavy"/>
                <a:ea typeface="Aileron Heavy"/>
                <a:cs typeface="Aileron Heavy"/>
                <a:sym typeface="Aileron Heavy"/>
              </a:rPr>
              <a:t>NOS SERVICES</a:t>
            </a:r>
          </a:p>
        </p:txBody>
      </p:sp>
      <p:sp>
        <p:nvSpPr>
          <p:cNvPr id="13" name="TextBox 13"/>
          <p:cNvSpPr txBox="1"/>
          <p:nvPr/>
        </p:nvSpPr>
        <p:spPr>
          <a:xfrm>
            <a:off x="7784371" y="1866047"/>
            <a:ext cx="4045133" cy="923925"/>
          </a:xfrm>
          <a:prstGeom prst="rect">
            <a:avLst/>
          </a:prstGeom>
        </p:spPr>
        <p:txBody>
          <a:bodyPr lIns="0" tIns="0" rIns="0" bIns="0" rtlCol="0" anchor="t">
            <a:spAutoFit/>
          </a:bodyPr>
          <a:lstStyle/>
          <a:p>
            <a:pPr algn="l">
              <a:lnSpc>
                <a:spcPts val="3600"/>
              </a:lnSpc>
            </a:pPr>
            <a:r>
              <a:rPr lang="en-US" sz="3000" b="1" spc="30">
                <a:solidFill>
                  <a:srgbClr val="191919"/>
                </a:solidFill>
                <a:latin typeface="Aileron Heavy Bold"/>
                <a:ea typeface="Aileron Heavy Bold"/>
                <a:cs typeface="Aileron Heavy Bold"/>
                <a:sym typeface="Aileron Heavy Bold"/>
              </a:rPr>
              <a:t>SURETÉ DES MINES</a:t>
            </a:r>
          </a:p>
          <a:p>
            <a:pPr algn="l">
              <a:lnSpc>
                <a:spcPts val="3600"/>
              </a:lnSpc>
            </a:pPr>
            <a:endParaRPr lang="en-US" sz="3000" b="1" spc="30">
              <a:solidFill>
                <a:srgbClr val="191919"/>
              </a:solidFill>
              <a:latin typeface="Aileron Heavy Bold"/>
              <a:ea typeface="Aileron Heavy Bold"/>
              <a:cs typeface="Aileron Heavy Bold"/>
              <a:sym typeface="Aileron Heavy Bold"/>
            </a:endParaRPr>
          </a:p>
        </p:txBody>
      </p:sp>
      <p:sp>
        <p:nvSpPr>
          <p:cNvPr id="15" name="Freeform 15"/>
          <p:cNvSpPr/>
          <p:nvPr/>
        </p:nvSpPr>
        <p:spPr>
          <a:xfrm>
            <a:off x="8011886" y="-1"/>
            <a:ext cx="1680188" cy="310515"/>
          </a:xfrm>
          <a:custGeom>
            <a:avLst/>
            <a:gdLst/>
            <a:ahLst/>
            <a:cxnLst/>
            <a:rect l="l" t="t" r="r" b="b"/>
            <a:pathLst>
              <a:path w="1699256" h="1019554">
                <a:moveTo>
                  <a:pt x="0" y="0"/>
                </a:moveTo>
                <a:lnTo>
                  <a:pt x="1699256" y="0"/>
                </a:lnTo>
                <a:lnTo>
                  <a:pt x="1699256" y="1019554"/>
                </a:lnTo>
                <a:lnTo>
                  <a:pt x="0" y="1019554"/>
                </a:lnTo>
                <a:lnTo>
                  <a:pt x="0" y="0"/>
                </a:lnTo>
                <a:close/>
              </a:path>
            </a:pathLst>
          </a:custGeom>
          <a:blipFill>
            <a:blip r:embed="rId11">
              <a:extLst>
                <a:ext uri="{96DAC541-7B7A-43D3-8B79-37D633B846F1}">
                  <asvg:svgBlip xmlns:asvg="http://schemas.microsoft.com/office/drawing/2016/SVG/main" xmlns="" r:embed="rId12"/>
                </a:ext>
              </a:extLst>
            </a:blip>
            <a:stretch>
              <a:fillRect t="-228342" r="-1135" b="-2"/>
            </a:stretch>
          </a:blipFill>
        </p:spPr>
        <p:txBody>
          <a:bodyPr/>
          <a:lstStyle/>
          <a:p>
            <a:endParaRPr lang="en-IN"/>
          </a:p>
        </p:txBody>
      </p:sp>
      <p:sp>
        <p:nvSpPr>
          <p:cNvPr id="16" name="Freeform 16"/>
          <p:cNvSpPr/>
          <p:nvPr/>
        </p:nvSpPr>
        <p:spPr>
          <a:xfrm>
            <a:off x="17774614" y="-137234"/>
            <a:ext cx="677531" cy="552187"/>
          </a:xfrm>
          <a:custGeom>
            <a:avLst/>
            <a:gdLst/>
            <a:ahLst/>
            <a:cxnLst/>
            <a:rect l="l" t="t" r="r" b="b"/>
            <a:pathLst>
              <a:path w="677531" h="552187">
                <a:moveTo>
                  <a:pt x="0" y="0"/>
                </a:moveTo>
                <a:lnTo>
                  <a:pt x="677530" y="0"/>
                </a:lnTo>
                <a:lnTo>
                  <a:pt x="677530" y="552187"/>
                </a:lnTo>
                <a:lnTo>
                  <a:pt x="0" y="552187"/>
                </a:lnTo>
                <a:lnTo>
                  <a:pt x="0" y="0"/>
                </a:lnTo>
                <a:close/>
              </a:path>
            </a:pathLst>
          </a:custGeom>
          <a:blipFill>
            <a:blip r:embed="rId13">
              <a:extLst>
                <a:ext uri="{96DAC541-7B7A-43D3-8B79-37D633B846F1}">
                  <asvg:svgBlip xmlns:asvg="http://schemas.microsoft.com/office/drawing/2016/SVG/main" xmlns="" r:embed="rId14"/>
                </a:ext>
              </a:extLst>
            </a:blip>
            <a:stretch>
              <a:fillRect/>
            </a:stretch>
          </a:blipFill>
        </p:spPr>
        <p:txBody>
          <a:bodyPr/>
          <a:lstStyle/>
          <a:p>
            <a:endParaRPr lang="en-IN"/>
          </a:p>
        </p:txBody>
      </p:sp>
      <p:sp>
        <p:nvSpPr>
          <p:cNvPr id="17" name="TextBox 17"/>
          <p:cNvSpPr txBox="1"/>
          <p:nvPr/>
        </p:nvSpPr>
        <p:spPr>
          <a:xfrm>
            <a:off x="7541603" y="2528190"/>
            <a:ext cx="9717697" cy="8543128"/>
          </a:xfrm>
          <a:prstGeom prst="rect">
            <a:avLst/>
          </a:prstGeom>
        </p:spPr>
        <p:txBody>
          <a:bodyPr lIns="0" tIns="0" rIns="0" bIns="0" rtlCol="0" anchor="t">
            <a:spAutoFit/>
          </a:bodyPr>
          <a:lstStyle/>
          <a:p>
            <a:pPr algn="just">
              <a:lnSpc>
                <a:spcPts val="3989"/>
              </a:lnSpc>
            </a:pPr>
            <a:r>
              <a:rPr lang="en-US" sz="2319" spc="134" dirty="0">
                <a:solidFill>
                  <a:srgbClr val="191919"/>
                </a:solidFill>
                <a:latin typeface="Aileron Regular"/>
                <a:ea typeface="Aileron Regular"/>
                <a:cs typeface="Aileron Regular"/>
                <a:sym typeface="Aileron Regular"/>
              </a:rPr>
              <a:t>Nos services de </a:t>
            </a:r>
            <a:r>
              <a:rPr lang="en-US" sz="2319" spc="134" dirty="0" err="1">
                <a:solidFill>
                  <a:srgbClr val="191919"/>
                </a:solidFill>
                <a:latin typeface="Aileron Regular"/>
                <a:ea typeface="Aileron Regular"/>
                <a:cs typeface="Aileron Regular"/>
                <a:sym typeface="Aileron Regular"/>
              </a:rPr>
              <a:t>sécurité</a:t>
            </a:r>
            <a:r>
              <a:rPr lang="en-US" sz="2319" spc="134" dirty="0">
                <a:solidFill>
                  <a:srgbClr val="191919"/>
                </a:solidFill>
                <a:latin typeface="Aileron Regular"/>
                <a:ea typeface="Aileron Regular"/>
                <a:cs typeface="Aileron Regular"/>
                <a:sym typeface="Aileron Regular"/>
              </a:rPr>
              <a:t> </a:t>
            </a:r>
            <a:r>
              <a:rPr lang="en-US" sz="2319" spc="134" dirty="0" err="1">
                <a:solidFill>
                  <a:srgbClr val="191919"/>
                </a:solidFill>
                <a:latin typeface="Aileron Regular"/>
                <a:ea typeface="Aileron Regular"/>
                <a:cs typeface="Aileron Regular"/>
                <a:sym typeface="Aileron Regular"/>
              </a:rPr>
              <a:t>couvrent</a:t>
            </a:r>
            <a:r>
              <a:rPr lang="en-US" sz="2319" spc="134" dirty="0">
                <a:solidFill>
                  <a:srgbClr val="191919"/>
                </a:solidFill>
                <a:latin typeface="Aileron Regular"/>
                <a:ea typeface="Aileron Regular"/>
                <a:cs typeface="Aileron Regular"/>
                <a:sym typeface="Aileron Regular"/>
              </a:rPr>
              <a:t> un large </a:t>
            </a:r>
            <a:r>
              <a:rPr lang="en-US" sz="2319" spc="134" dirty="0" err="1">
                <a:solidFill>
                  <a:srgbClr val="191919"/>
                </a:solidFill>
                <a:latin typeface="Aileron Regular"/>
                <a:ea typeface="Aileron Regular"/>
                <a:cs typeface="Aileron Regular"/>
                <a:sym typeface="Aileron Regular"/>
              </a:rPr>
              <a:t>éventail</a:t>
            </a:r>
            <a:r>
              <a:rPr lang="en-US" sz="2319" spc="134" dirty="0">
                <a:solidFill>
                  <a:srgbClr val="191919"/>
                </a:solidFill>
                <a:latin typeface="Aileron Regular"/>
                <a:ea typeface="Aileron Regular"/>
                <a:cs typeface="Aileron Regular"/>
                <a:sym typeface="Aileron Regular"/>
              </a:rPr>
              <a:t> de </a:t>
            </a:r>
            <a:r>
              <a:rPr lang="en-US" sz="2319" spc="134" dirty="0" err="1">
                <a:solidFill>
                  <a:srgbClr val="191919"/>
                </a:solidFill>
                <a:latin typeface="Aileron Regular"/>
                <a:ea typeface="Aileron Regular"/>
                <a:cs typeface="Aileron Regular"/>
                <a:sym typeface="Aileron Regular"/>
              </a:rPr>
              <a:t>domaines</a:t>
            </a:r>
            <a:r>
              <a:rPr lang="en-US" sz="2319" spc="134" dirty="0">
                <a:solidFill>
                  <a:srgbClr val="191919"/>
                </a:solidFill>
                <a:latin typeface="Aileron Regular"/>
                <a:ea typeface="Aileron Regular"/>
                <a:cs typeface="Aileron Regular"/>
                <a:sym typeface="Aileron Regular"/>
              </a:rPr>
              <a:t>, y </a:t>
            </a:r>
            <a:r>
              <a:rPr lang="en-US" sz="2319" spc="134" dirty="0" err="1">
                <a:solidFill>
                  <a:srgbClr val="191919"/>
                </a:solidFill>
                <a:latin typeface="Aileron Regular"/>
                <a:ea typeface="Aileron Regular"/>
                <a:cs typeface="Aileron Regular"/>
                <a:sym typeface="Aileron Regular"/>
              </a:rPr>
              <a:t>compris</a:t>
            </a:r>
            <a:r>
              <a:rPr lang="en-US" sz="2319" spc="134" dirty="0">
                <a:solidFill>
                  <a:srgbClr val="191919"/>
                </a:solidFill>
                <a:latin typeface="Aileron Regular"/>
                <a:ea typeface="Aileron Regular"/>
                <a:cs typeface="Aileron Regular"/>
                <a:sym typeface="Aileron Regular"/>
              </a:rPr>
              <a:t> la </a:t>
            </a:r>
            <a:r>
              <a:rPr lang="en-US" sz="2319" spc="134" dirty="0" err="1">
                <a:solidFill>
                  <a:srgbClr val="191919"/>
                </a:solidFill>
                <a:latin typeface="Aileron Regular"/>
                <a:ea typeface="Aileron Regular"/>
                <a:cs typeface="Aileron Regular"/>
                <a:sym typeface="Aileron Regular"/>
              </a:rPr>
              <a:t>sûreté</a:t>
            </a:r>
            <a:r>
              <a:rPr lang="en-US" sz="2319" spc="134" dirty="0">
                <a:solidFill>
                  <a:srgbClr val="191919"/>
                </a:solidFill>
                <a:latin typeface="Aileron Regular"/>
                <a:ea typeface="Aileron Regular"/>
                <a:cs typeface="Aileron Regular"/>
                <a:sym typeface="Aileron Regular"/>
              </a:rPr>
              <a:t> des mines. Nous </a:t>
            </a:r>
            <a:r>
              <a:rPr lang="en-US" sz="2319" spc="134" dirty="0" err="1">
                <a:solidFill>
                  <a:srgbClr val="191919"/>
                </a:solidFill>
                <a:latin typeface="Aileron Regular"/>
                <a:ea typeface="Aileron Regular"/>
                <a:cs typeface="Aileron Regular"/>
                <a:sym typeface="Aileron Regular"/>
              </a:rPr>
              <a:t>proposons</a:t>
            </a:r>
            <a:r>
              <a:rPr lang="en-US" sz="2319" spc="134" dirty="0">
                <a:solidFill>
                  <a:srgbClr val="191919"/>
                </a:solidFill>
                <a:latin typeface="Aileron Regular"/>
                <a:ea typeface="Aileron Regular"/>
                <a:cs typeface="Aileron Regular"/>
                <a:sym typeface="Aileron Regular"/>
              </a:rPr>
              <a:t> des solutions </a:t>
            </a:r>
            <a:r>
              <a:rPr lang="en-US" sz="2319" spc="134" dirty="0" err="1">
                <a:solidFill>
                  <a:srgbClr val="191919"/>
                </a:solidFill>
                <a:latin typeface="Aileron Regular"/>
                <a:ea typeface="Aileron Regular"/>
                <a:cs typeface="Aileron Regular"/>
                <a:sym typeface="Aileron Regular"/>
              </a:rPr>
              <a:t>personnalisées</a:t>
            </a:r>
            <a:r>
              <a:rPr lang="en-US" sz="2319" spc="134" dirty="0">
                <a:solidFill>
                  <a:srgbClr val="191919"/>
                </a:solidFill>
                <a:latin typeface="Aileron Regular"/>
                <a:ea typeface="Aileron Regular"/>
                <a:cs typeface="Aileron Regular"/>
                <a:sym typeface="Aileron Regular"/>
              </a:rPr>
              <a:t> pour </a:t>
            </a:r>
            <a:r>
              <a:rPr lang="en-US" sz="2319" spc="134" dirty="0" err="1">
                <a:solidFill>
                  <a:srgbClr val="191919"/>
                </a:solidFill>
                <a:latin typeface="Aileron Regular"/>
                <a:ea typeface="Aileron Regular"/>
                <a:cs typeface="Aileron Regular"/>
                <a:sym typeface="Aileron Regular"/>
              </a:rPr>
              <a:t>protéger</a:t>
            </a:r>
            <a:r>
              <a:rPr lang="en-US" sz="2319" spc="134" dirty="0">
                <a:solidFill>
                  <a:srgbClr val="191919"/>
                </a:solidFill>
                <a:latin typeface="Aileron Regular"/>
                <a:ea typeface="Aileron Regular"/>
                <a:cs typeface="Aileron Regular"/>
                <a:sym typeface="Aileron Regular"/>
              </a:rPr>
              <a:t> les sites </a:t>
            </a:r>
            <a:r>
              <a:rPr lang="en-US" sz="2319" spc="134" dirty="0" err="1">
                <a:solidFill>
                  <a:srgbClr val="191919"/>
                </a:solidFill>
                <a:latin typeface="Aileron Regular"/>
                <a:ea typeface="Aileron Regular"/>
                <a:cs typeface="Aileron Regular"/>
                <a:sym typeface="Aileron Regular"/>
              </a:rPr>
              <a:t>miniers</a:t>
            </a:r>
            <a:r>
              <a:rPr lang="en-US" sz="2319" spc="134" dirty="0">
                <a:solidFill>
                  <a:srgbClr val="191919"/>
                </a:solidFill>
                <a:latin typeface="Aileron Regular"/>
                <a:ea typeface="Aileron Regular"/>
                <a:cs typeface="Aileron Regular"/>
                <a:sym typeface="Aileron Regular"/>
              </a:rPr>
              <a:t> </a:t>
            </a:r>
            <a:r>
              <a:rPr lang="en-US" sz="2319" spc="134" dirty="0" err="1">
                <a:solidFill>
                  <a:srgbClr val="191919"/>
                </a:solidFill>
                <a:latin typeface="Aileron Regular"/>
                <a:ea typeface="Aileron Regular"/>
                <a:cs typeface="Aileron Regular"/>
                <a:sym typeface="Aileron Regular"/>
              </a:rPr>
              <a:t>contre</a:t>
            </a:r>
            <a:r>
              <a:rPr lang="en-US" sz="2319" spc="134" dirty="0">
                <a:solidFill>
                  <a:srgbClr val="191919"/>
                </a:solidFill>
                <a:latin typeface="Aileron Regular"/>
                <a:ea typeface="Aileron Regular"/>
                <a:cs typeface="Aileron Regular"/>
                <a:sym typeface="Aileron Regular"/>
              </a:rPr>
              <a:t> les vols, le </a:t>
            </a:r>
            <a:r>
              <a:rPr lang="en-US" sz="2319" spc="134" dirty="0" err="1">
                <a:solidFill>
                  <a:srgbClr val="191919"/>
                </a:solidFill>
                <a:latin typeface="Aileron Regular"/>
                <a:ea typeface="Aileron Regular"/>
                <a:cs typeface="Aileron Regular"/>
                <a:sym typeface="Aileron Regular"/>
              </a:rPr>
              <a:t>vandalisme</a:t>
            </a:r>
            <a:r>
              <a:rPr lang="en-US" sz="2319" spc="134" dirty="0">
                <a:solidFill>
                  <a:srgbClr val="191919"/>
                </a:solidFill>
                <a:latin typeface="Aileron Regular"/>
                <a:ea typeface="Aileron Regular"/>
                <a:cs typeface="Aileron Regular"/>
                <a:sym typeface="Aileron Regular"/>
              </a:rPr>
              <a:t> et les intrusions.</a:t>
            </a:r>
          </a:p>
          <a:p>
            <a:pPr algn="just">
              <a:lnSpc>
                <a:spcPts val="3989"/>
              </a:lnSpc>
            </a:pPr>
            <a:r>
              <a:rPr lang="en-US" sz="2319" spc="134" dirty="0">
                <a:solidFill>
                  <a:srgbClr val="191919"/>
                </a:solidFill>
                <a:latin typeface="Aileron Regular"/>
                <a:ea typeface="Aileron Regular"/>
                <a:cs typeface="Aileron Regular"/>
                <a:sym typeface="Aileron Regular"/>
              </a:rPr>
              <a:t>Notre expertise </a:t>
            </a:r>
            <a:r>
              <a:rPr lang="en-US" sz="2319" spc="134" dirty="0" err="1">
                <a:solidFill>
                  <a:srgbClr val="191919"/>
                </a:solidFill>
                <a:latin typeface="Aileron Regular"/>
                <a:ea typeface="Aileron Regular"/>
                <a:cs typeface="Aileron Regular"/>
                <a:sym typeface="Aileron Regular"/>
              </a:rPr>
              <a:t>en</a:t>
            </a:r>
            <a:r>
              <a:rPr lang="en-US" sz="2319" spc="134" dirty="0">
                <a:solidFill>
                  <a:srgbClr val="191919"/>
                </a:solidFill>
                <a:latin typeface="Aileron Regular"/>
                <a:ea typeface="Aileron Regular"/>
                <a:cs typeface="Aileron Regular"/>
                <a:sym typeface="Aileron Regular"/>
              </a:rPr>
              <a:t> matière de </a:t>
            </a:r>
            <a:r>
              <a:rPr lang="en-US" sz="2319" spc="134" dirty="0" err="1">
                <a:solidFill>
                  <a:srgbClr val="191919"/>
                </a:solidFill>
                <a:latin typeface="Aileron Regular"/>
                <a:ea typeface="Aileron Regular"/>
                <a:cs typeface="Aileron Regular"/>
                <a:sym typeface="Aileron Regular"/>
              </a:rPr>
              <a:t>sûreté</a:t>
            </a:r>
            <a:r>
              <a:rPr lang="en-US" sz="2319" spc="134" dirty="0">
                <a:solidFill>
                  <a:srgbClr val="191919"/>
                </a:solidFill>
                <a:latin typeface="Aileron Regular"/>
                <a:ea typeface="Aileron Regular"/>
                <a:cs typeface="Aileron Regular"/>
                <a:sym typeface="Aileron Regular"/>
              </a:rPr>
              <a:t> </a:t>
            </a:r>
            <a:r>
              <a:rPr lang="en-US" sz="2319" spc="134" dirty="0" err="1">
                <a:solidFill>
                  <a:srgbClr val="191919"/>
                </a:solidFill>
                <a:latin typeface="Aileron Regular"/>
                <a:ea typeface="Aileron Regular"/>
                <a:cs typeface="Aileron Regular"/>
                <a:sym typeface="Aileron Regular"/>
              </a:rPr>
              <a:t>minière</a:t>
            </a:r>
            <a:r>
              <a:rPr lang="en-US" sz="2319" spc="134" dirty="0">
                <a:solidFill>
                  <a:srgbClr val="191919"/>
                </a:solidFill>
                <a:latin typeface="Aileron Regular"/>
                <a:ea typeface="Aileron Regular"/>
                <a:cs typeface="Aileron Regular"/>
                <a:sym typeface="Aileron Regular"/>
              </a:rPr>
              <a:t> </a:t>
            </a:r>
            <a:r>
              <a:rPr lang="en-US" sz="2319" spc="134" dirty="0" err="1">
                <a:solidFill>
                  <a:srgbClr val="191919"/>
                </a:solidFill>
                <a:latin typeface="Aileron Regular"/>
                <a:ea typeface="Aileron Regular"/>
                <a:cs typeface="Aileron Regular"/>
                <a:sym typeface="Aileron Regular"/>
              </a:rPr>
              <a:t>inclut</a:t>
            </a:r>
            <a:r>
              <a:rPr lang="en-US" sz="2319" spc="134" dirty="0">
                <a:solidFill>
                  <a:srgbClr val="191919"/>
                </a:solidFill>
                <a:latin typeface="Aileron Regular"/>
                <a:ea typeface="Aileron Regular"/>
                <a:cs typeface="Aileron Regular"/>
                <a:sym typeface="Aileron Regular"/>
              </a:rPr>
              <a:t> :</a:t>
            </a:r>
          </a:p>
          <a:p>
            <a:pPr marL="500837" lvl="1" indent="-250419" algn="just">
              <a:lnSpc>
                <a:spcPts val="3989"/>
              </a:lnSpc>
              <a:buFont typeface="Arial"/>
              <a:buChar char="•"/>
            </a:pPr>
            <a:r>
              <a:rPr lang="en-US" sz="2319" spc="134" dirty="0">
                <a:solidFill>
                  <a:srgbClr val="191919"/>
                </a:solidFill>
                <a:latin typeface="Aileron Regular"/>
                <a:ea typeface="Aileron Regular"/>
                <a:cs typeface="Aileron Regular"/>
                <a:sym typeface="Aileron Regular"/>
              </a:rPr>
              <a:t>Surveillance 24h/24 et 7j/7 avec un personnel de </a:t>
            </a:r>
            <a:r>
              <a:rPr lang="en-US" sz="2319" spc="134" dirty="0" err="1">
                <a:solidFill>
                  <a:srgbClr val="191919"/>
                </a:solidFill>
                <a:latin typeface="Aileron Regular"/>
                <a:ea typeface="Aileron Regular"/>
                <a:cs typeface="Aileron Regular"/>
                <a:sym typeface="Aileron Regular"/>
              </a:rPr>
              <a:t>sécurité</a:t>
            </a:r>
            <a:r>
              <a:rPr lang="en-US" sz="2319" spc="134" dirty="0">
                <a:solidFill>
                  <a:srgbClr val="191919"/>
                </a:solidFill>
                <a:latin typeface="Aileron Regular"/>
                <a:ea typeface="Aileron Regular"/>
                <a:cs typeface="Aileron Regular"/>
                <a:sym typeface="Aileron Regular"/>
              </a:rPr>
              <a:t> </a:t>
            </a:r>
            <a:r>
              <a:rPr lang="en-US" sz="2319" spc="134" dirty="0" err="1">
                <a:solidFill>
                  <a:srgbClr val="191919"/>
                </a:solidFill>
                <a:latin typeface="Aileron Regular"/>
                <a:ea typeface="Aileron Regular"/>
                <a:cs typeface="Aileron Regular"/>
                <a:sym typeface="Aileron Regular"/>
              </a:rPr>
              <a:t>qualifié</a:t>
            </a:r>
            <a:r>
              <a:rPr lang="en-US" sz="2319" spc="134" dirty="0">
                <a:solidFill>
                  <a:srgbClr val="191919"/>
                </a:solidFill>
                <a:latin typeface="Aileron Regular"/>
                <a:ea typeface="Aileron Regular"/>
                <a:cs typeface="Aileron Regular"/>
                <a:sym typeface="Aileron Regular"/>
              </a:rPr>
              <a:t>.</a:t>
            </a:r>
          </a:p>
          <a:p>
            <a:pPr marL="500837" lvl="1" indent="-250419" algn="just">
              <a:lnSpc>
                <a:spcPts val="3989"/>
              </a:lnSpc>
              <a:buFont typeface="Arial"/>
              <a:buChar char="•"/>
            </a:pPr>
            <a:r>
              <a:rPr lang="en-US" sz="2319" spc="134" dirty="0">
                <a:solidFill>
                  <a:srgbClr val="191919"/>
                </a:solidFill>
                <a:latin typeface="Aileron Regular"/>
                <a:ea typeface="Aileron Regular"/>
                <a:cs typeface="Aileron Regular"/>
                <a:sym typeface="Aileron Regular"/>
              </a:rPr>
              <a:t>Nos agents de </a:t>
            </a:r>
            <a:r>
              <a:rPr lang="en-US" sz="2319" spc="134" dirty="0" err="1">
                <a:solidFill>
                  <a:srgbClr val="191919"/>
                </a:solidFill>
                <a:latin typeface="Aileron Regular"/>
                <a:ea typeface="Aileron Regular"/>
                <a:cs typeface="Aileron Regular"/>
                <a:sym typeface="Aileron Regular"/>
              </a:rPr>
              <a:t>sécurité</a:t>
            </a:r>
            <a:r>
              <a:rPr lang="en-US" sz="2319" spc="134" dirty="0">
                <a:solidFill>
                  <a:srgbClr val="191919"/>
                </a:solidFill>
                <a:latin typeface="Aileron Regular"/>
                <a:ea typeface="Aileron Regular"/>
                <a:cs typeface="Aileron Regular"/>
                <a:sym typeface="Aileron Regular"/>
              </a:rPr>
              <a:t> </a:t>
            </a:r>
            <a:r>
              <a:rPr lang="en-US" sz="2319" spc="134" dirty="0" err="1">
                <a:solidFill>
                  <a:srgbClr val="191919"/>
                </a:solidFill>
                <a:latin typeface="Aileron Regular"/>
                <a:ea typeface="Aileron Regular"/>
                <a:cs typeface="Aileron Regular"/>
                <a:sym typeface="Aileron Regular"/>
              </a:rPr>
              <a:t>sont</a:t>
            </a:r>
            <a:r>
              <a:rPr lang="en-US" sz="2319" spc="134" dirty="0">
                <a:solidFill>
                  <a:srgbClr val="191919"/>
                </a:solidFill>
                <a:latin typeface="Aileron Regular"/>
                <a:ea typeface="Aileron Regular"/>
                <a:cs typeface="Aileron Regular"/>
                <a:sym typeface="Aileron Regular"/>
              </a:rPr>
              <a:t> </a:t>
            </a:r>
            <a:r>
              <a:rPr lang="en-US" sz="2319" spc="134" dirty="0" err="1">
                <a:solidFill>
                  <a:srgbClr val="191919"/>
                </a:solidFill>
                <a:latin typeface="Aileron Regular"/>
                <a:ea typeface="Aileron Regular"/>
                <a:cs typeface="Aileron Regular"/>
                <a:sym typeface="Aileron Regular"/>
              </a:rPr>
              <a:t>spécifiquement</a:t>
            </a:r>
            <a:r>
              <a:rPr lang="en-US" sz="2319" spc="134" dirty="0">
                <a:solidFill>
                  <a:srgbClr val="191919"/>
                </a:solidFill>
                <a:latin typeface="Aileron Regular"/>
                <a:ea typeface="Aileron Regular"/>
                <a:cs typeface="Aileron Regular"/>
                <a:sym typeface="Aileron Regular"/>
              </a:rPr>
              <a:t> </a:t>
            </a:r>
            <a:r>
              <a:rPr lang="en-US" sz="2319" spc="134" dirty="0" err="1">
                <a:solidFill>
                  <a:srgbClr val="191919"/>
                </a:solidFill>
                <a:latin typeface="Aileron Regular"/>
                <a:ea typeface="Aileron Regular"/>
                <a:cs typeface="Aileron Regular"/>
                <a:sym typeface="Aileron Regular"/>
              </a:rPr>
              <a:t>formés</a:t>
            </a:r>
            <a:r>
              <a:rPr lang="en-US" sz="2319" spc="134" dirty="0">
                <a:solidFill>
                  <a:srgbClr val="191919"/>
                </a:solidFill>
                <a:latin typeface="Aileron Regular"/>
                <a:ea typeface="Aileron Regular"/>
                <a:cs typeface="Aileron Regular"/>
                <a:sym typeface="Aileron Regular"/>
              </a:rPr>
              <a:t> pour </a:t>
            </a:r>
            <a:r>
              <a:rPr lang="en-US" sz="2319" spc="134" dirty="0" err="1">
                <a:solidFill>
                  <a:srgbClr val="191919"/>
                </a:solidFill>
                <a:latin typeface="Aileron Regular"/>
                <a:ea typeface="Aileron Regular"/>
                <a:cs typeface="Aileron Regular"/>
                <a:sym typeface="Aileron Regular"/>
              </a:rPr>
              <a:t>gérer</a:t>
            </a:r>
            <a:r>
              <a:rPr lang="en-US" sz="2319" spc="134" dirty="0">
                <a:solidFill>
                  <a:srgbClr val="191919"/>
                </a:solidFill>
                <a:latin typeface="Aileron Regular"/>
                <a:ea typeface="Aileron Regular"/>
                <a:cs typeface="Aileron Regular"/>
                <a:sym typeface="Aileron Regular"/>
              </a:rPr>
              <a:t> les </a:t>
            </a:r>
            <a:r>
              <a:rPr lang="en-US" sz="2319" spc="134" dirty="0" err="1">
                <a:solidFill>
                  <a:srgbClr val="191919"/>
                </a:solidFill>
                <a:latin typeface="Aileron Regular"/>
                <a:ea typeface="Aileron Regular"/>
                <a:cs typeface="Aileron Regular"/>
                <a:sym typeface="Aileron Regular"/>
              </a:rPr>
              <a:t>risques</a:t>
            </a:r>
            <a:r>
              <a:rPr lang="en-US" sz="2319" spc="134" dirty="0">
                <a:solidFill>
                  <a:srgbClr val="191919"/>
                </a:solidFill>
                <a:latin typeface="Aileron Regular"/>
                <a:ea typeface="Aileron Regular"/>
                <a:cs typeface="Aileron Regular"/>
                <a:sym typeface="Aileron Regular"/>
              </a:rPr>
              <a:t> </a:t>
            </a:r>
            <a:r>
              <a:rPr lang="en-US" sz="2319" spc="134" dirty="0" err="1">
                <a:solidFill>
                  <a:srgbClr val="191919"/>
                </a:solidFill>
                <a:latin typeface="Aileron Regular"/>
                <a:ea typeface="Aileron Regular"/>
                <a:cs typeface="Aileron Regular"/>
                <a:sym typeface="Aileron Regular"/>
              </a:rPr>
              <a:t>associés</a:t>
            </a:r>
            <a:r>
              <a:rPr lang="en-US" sz="2319" spc="134" dirty="0">
                <a:solidFill>
                  <a:srgbClr val="191919"/>
                </a:solidFill>
                <a:latin typeface="Aileron Regular"/>
                <a:ea typeface="Aileron Regular"/>
                <a:cs typeface="Aileron Regular"/>
                <a:sym typeface="Aileron Regular"/>
              </a:rPr>
              <a:t> aux </a:t>
            </a:r>
            <a:r>
              <a:rPr lang="en-US" sz="2319" spc="134" dirty="0" err="1">
                <a:solidFill>
                  <a:srgbClr val="191919"/>
                </a:solidFill>
                <a:latin typeface="Aileron Regular"/>
                <a:ea typeface="Aileron Regular"/>
                <a:cs typeface="Aileron Regular"/>
                <a:sym typeface="Aileron Regular"/>
              </a:rPr>
              <a:t>environnements</a:t>
            </a:r>
            <a:r>
              <a:rPr lang="en-US" sz="2319" spc="134" dirty="0">
                <a:solidFill>
                  <a:srgbClr val="191919"/>
                </a:solidFill>
                <a:latin typeface="Aileron Regular"/>
                <a:ea typeface="Aileron Regular"/>
                <a:cs typeface="Aileron Regular"/>
                <a:sym typeface="Aileron Regular"/>
              </a:rPr>
              <a:t> </a:t>
            </a:r>
            <a:r>
              <a:rPr lang="en-US" sz="2319" spc="134" dirty="0" err="1">
                <a:solidFill>
                  <a:srgbClr val="191919"/>
                </a:solidFill>
                <a:latin typeface="Aileron Regular"/>
                <a:ea typeface="Aileron Regular"/>
                <a:cs typeface="Aileron Regular"/>
                <a:sym typeface="Aileron Regular"/>
              </a:rPr>
              <a:t>miniers</a:t>
            </a:r>
            <a:r>
              <a:rPr lang="en-US" sz="2319" spc="134" dirty="0">
                <a:solidFill>
                  <a:srgbClr val="191919"/>
                </a:solidFill>
                <a:latin typeface="Aileron Regular"/>
                <a:ea typeface="Aileron Regular"/>
                <a:cs typeface="Aileron Regular"/>
                <a:sym typeface="Aileron Regular"/>
              </a:rPr>
              <a:t>, y </a:t>
            </a:r>
            <a:r>
              <a:rPr lang="en-US" sz="2319" spc="134" dirty="0" err="1">
                <a:solidFill>
                  <a:srgbClr val="191919"/>
                </a:solidFill>
                <a:latin typeface="Aileron Regular"/>
                <a:ea typeface="Aileron Regular"/>
                <a:cs typeface="Aileron Regular"/>
                <a:sym typeface="Aileron Regular"/>
              </a:rPr>
              <a:t>compris</a:t>
            </a:r>
            <a:r>
              <a:rPr lang="en-US" sz="2319" spc="134" dirty="0">
                <a:solidFill>
                  <a:srgbClr val="191919"/>
                </a:solidFill>
                <a:latin typeface="Aileron Regular"/>
                <a:ea typeface="Aileron Regular"/>
                <a:cs typeface="Aileron Regular"/>
                <a:sym typeface="Aileron Regular"/>
              </a:rPr>
              <a:t> les interventions </a:t>
            </a:r>
            <a:r>
              <a:rPr lang="en-US" sz="2319" spc="134" dirty="0" err="1">
                <a:solidFill>
                  <a:srgbClr val="191919"/>
                </a:solidFill>
                <a:latin typeface="Aileron Regular"/>
                <a:ea typeface="Aileron Regular"/>
                <a:cs typeface="Aileron Regular"/>
                <a:sym typeface="Aileron Regular"/>
              </a:rPr>
              <a:t>en</a:t>
            </a:r>
            <a:r>
              <a:rPr lang="en-US" sz="2319" spc="134" dirty="0">
                <a:solidFill>
                  <a:srgbClr val="191919"/>
                </a:solidFill>
                <a:latin typeface="Aileron Regular"/>
                <a:ea typeface="Aileron Regular"/>
                <a:cs typeface="Aileron Regular"/>
                <a:sym typeface="Aileron Regular"/>
              </a:rPr>
              <a:t> </a:t>
            </a:r>
            <a:r>
              <a:rPr lang="en-US" sz="2319" spc="134" dirty="0" err="1">
                <a:solidFill>
                  <a:srgbClr val="191919"/>
                </a:solidFill>
                <a:latin typeface="Aileron Regular"/>
                <a:ea typeface="Aileron Regular"/>
                <a:cs typeface="Aileron Regular"/>
                <a:sym typeface="Aileron Regular"/>
              </a:rPr>
              <a:t>cas</a:t>
            </a:r>
            <a:r>
              <a:rPr lang="en-US" sz="2319" spc="134" dirty="0">
                <a:solidFill>
                  <a:srgbClr val="191919"/>
                </a:solidFill>
                <a:latin typeface="Aileron Regular"/>
                <a:ea typeface="Aileron Regular"/>
                <a:cs typeface="Aileron Regular"/>
                <a:sym typeface="Aileron Regular"/>
              </a:rPr>
              <a:t> </a:t>
            </a:r>
            <a:r>
              <a:rPr lang="en-US" sz="2319" spc="134" dirty="0" err="1">
                <a:solidFill>
                  <a:srgbClr val="191919"/>
                </a:solidFill>
                <a:latin typeface="Aileron Regular"/>
                <a:ea typeface="Aileron Regular"/>
                <a:cs typeface="Aileron Regular"/>
                <a:sym typeface="Aileron Regular"/>
              </a:rPr>
              <a:t>d'urgence</a:t>
            </a:r>
            <a:r>
              <a:rPr lang="en-US" sz="2319" spc="134" dirty="0">
                <a:solidFill>
                  <a:srgbClr val="191919"/>
                </a:solidFill>
                <a:latin typeface="Aileron Regular"/>
                <a:ea typeface="Aileron Regular"/>
                <a:cs typeface="Aileron Regular"/>
                <a:sym typeface="Aileron Regular"/>
              </a:rPr>
              <a:t>.</a:t>
            </a:r>
          </a:p>
          <a:p>
            <a:pPr algn="just">
              <a:lnSpc>
                <a:spcPts val="3989"/>
              </a:lnSpc>
            </a:pPr>
            <a:r>
              <a:rPr lang="en-US" sz="2319" spc="134" dirty="0" err="1">
                <a:solidFill>
                  <a:srgbClr val="191919"/>
                </a:solidFill>
                <a:latin typeface="Aileron Regular"/>
                <a:ea typeface="Aileron Regular"/>
                <a:cs typeface="Aileron Regular"/>
                <a:sym typeface="Aileron Regular"/>
              </a:rPr>
              <a:t>En</a:t>
            </a:r>
            <a:r>
              <a:rPr lang="en-US" sz="2319" spc="134" dirty="0">
                <a:solidFill>
                  <a:srgbClr val="191919"/>
                </a:solidFill>
                <a:latin typeface="Aileron Regular"/>
                <a:ea typeface="Aileron Regular"/>
                <a:cs typeface="Aileron Regular"/>
                <a:sym typeface="Aileron Regular"/>
              </a:rPr>
              <a:t> </a:t>
            </a:r>
            <a:r>
              <a:rPr lang="en-US" sz="2319" spc="134" dirty="0" err="1">
                <a:solidFill>
                  <a:srgbClr val="191919"/>
                </a:solidFill>
                <a:latin typeface="Aileron Regular"/>
                <a:ea typeface="Aileron Regular"/>
                <a:cs typeface="Aileron Regular"/>
                <a:sym typeface="Aileron Regular"/>
              </a:rPr>
              <a:t>choisissant</a:t>
            </a:r>
            <a:r>
              <a:rPr lang="en-US" sz="2319" spc="134" dirty="0">
                <a:solidFill>
                  <a:srgbClr val="191919"/>
                </a:solidFill>
                <a:latin typeface="Aileron Regular"/>
                <a:ea typeface="Aileron Regular"/>
                <a:cs typeface="Aileron Regular"/>
                <a:sym typeface="Aileron Regular"/>
              </a:rPr>
              <a:t> </a:t>
            </a:r>
            <a:r>
              <a:rPr lang="en-US" sz="2319" spc="134" dirty="0" err="1">
                <a:solidFill>
                  <a:srgbClr val="191919"/>
                </a:solidFill>
                <a:latin typeface="Aileron Regular"/>
                <a:ea typeface="Aileron Regular"/>
                <a:cs typeface="Aileron Regular"/>
                <a:sym typeface="Aileron Regular"/>
              </a:rPr>
              <a:t>nos</a:t>
            </a:r>
            <a:r>
              <a:rPr lang="en-US" sz="2319" spc="134" dirty="0">
                <a:solidFill>
                  <a:srgbClr val="191919"/>
                </a:solidFill>
                <a:latin typeface="Aileron Regular"/>
                <a:ea typeface="Aileron Regular"/>
                <a:cs typeface="Aileron Regular"/>
                <a:sym typeface="Aileron Regular"/>
              </a:rPr>
              <a:t> services, </a:t>
            </a:r>
            <a:r>
              <a:rPr lang="en-US" sz="2319" spc="134" dirty="0" err="1">
                <a:solidFill>
                  <a:srgbClr val="191919"/>
                </a:solidFill>
                <a:latin typeface="Aileron Regular"/>
                <a:ea typeface="Aileron Regular"/>
                <a:cs typeface="Aileron Regular"/>
                <a:sym typeface="Aileron Regular"/>
              </a:rPr>
              <a:t>vous</a:t>
            </a:r>
            <a:r>
              <a:rPr lang="en-US" sz="2319" spc="134" dirty="0">
                <a:solidFill>
                  <a:srgbClr val="191919"/>
                </a:solidFill>
                <a:latin typeface="Aileron Regular"/>
                <a:ea typeface="Aileron Regular"/>
                <a:cs typeface="Aileron Regular"/>
                <a:sym typeface="Aileron Regular"/>
              </a:rPr>
              <a:t> </a:t>
            </a:r>
            <a:r>
              <a:rPr lang="en-US" sz="2319" spc="134" dirty="0" err="1">
                <a:solidFill>
                  <a:srgbClr val="191919"/>
                </a:solidFill>
                <a:latin typeface="Aileron Regular"/>
                <a:ea typeface="Aileron Regular"/>
                <a:cs typeface="Aileron Regular"/>
                <a:sym typeface="Aileron Regular"/>
              </a:rPr>
              <a:t>bénéficiez</a:t>
            </a:r>
            <a:r>
              <a:rPr lang="en-US" sz="2319" spc="134" dirty="0">
                <a:solidFill>
                  <a:srgbClr val="191919"/>
                </a:solidFill>
                <a:latin typeface="Aileron Regular"/>
                <a:ea typeface="Aileron Regular"/>
                <a:cs typeface="Aileron Regular"/>
                <a:sym typeface="Aileron Regular"/>
              </a:rPr>
              <a:t> </a:t>
            </a:r>
            <a:r>
              <a:rPr lang="en-US" sz="2319" spc="134" dirty="0" err="1">
                <a:solidFill>
                  <a:srgbClr val="191919"/>
                </a:solidFill>
                <a:latin typeface="Aileron Regular"/>
                <a:ea typeface="Aileron Regular"/>
                <a:cs typeface="Aileron Regular"/>
                <a:sym typeface="Aileron Regular"/>
              </a:rPr>
              <a:t>d'une</a:t>
            </a:r>
            <a:r>
              <a:rPr lang="en-US" sz="2319" spc="134" dirty="0">
                <a:solidFill>
                  <a:srgbClr val="191919"/>
                </a:solidFill>
                <a:latin typeface="Aileron Regular"/>
                <a:ea typeface="Aileron Regular"/>
                <a:cs typeface="Aileron Regular"/>
                <a:sym typeface="Aileron Regular"/>
              </a:rPr>
              <a:t> protection </a:t>
            </a:r>
            <a:r>
              <a:rPr lang="en-US" sz="2319" spc="134" dirty="0" err="1">
                <a:solidFill>
                  <a:srgbClr val="191919"/>
                </a:solidFill>
                <a:latin typeface="Aileron Regular"/>
                <a:ea typeface="Aileron Regular"/>
                <a:cs typeface="Aileron Regular"/>
                <a:sym typeface="Aileron Regular"/>
              </a:rPr>
              <a:t>optimale</a:t>
            </a:r>
            <a:r>
              <a:rPr lang="en-US" sz="2319" spc="134" dirty="0">
                <a:solidFill>
                  <a:srgbClr val="191919"/>
                </a:solidFill>
                <a:latin typeface="Aileron Regular"/>
                <a:ea typeface="Aileron Regular"/>
                <a:cs typeface="Aileron Regular"/>
                <a:sym typeface="Aileron Regular"/>
              </a:rPr>
              <a:t> pour </a:t>
            </a:r>
            <a:r>
              <a:rPr lang="en-US" sz="2319" spc="134" dirty="0" err="1">
                <a:solidFill>
                  <a:srgbClr val="191919"/>
                </a:solidFill>
                <a:latin typeface="Aileron Regular"/>
                <a:ea typeface="Aileron Regular"/>
                <a:cs typeface="Aileron Regular"/>
                <a:sym typeface="Aileron Regular"/>
              </a:rPr>
              <a:t>vos</a:t>
            </a:r>
            <a:r>
              <a:rPr lang="en-US" sz="2319" spc="134" dirty="0">
                <a:solidFill>
                  <a:srgbClr val="191919"/>
                </a:solidFill>
                <a:latin typeface="Aileron Regular"/>
                <a:ea typeface="Aileron Regular"/>
                <a:cs typeface="Aileron Regular"/>
                <a:sym typeface="Aileron Regular"/>
              </a:rPr>
              <a:t> sites </a:t>
            </a:r>
            <a:r>
              <a:rPr lang="en-US" sz="2319" spc="134" dirty="0" err="1">
                <a:solidFill>
                  <a:srgbClr val="191919"/>
                </a:solidFill>
                <a:latin typeface="Aileron Regular"/>
                <a:ea typeface="Aileron Regular"/>
                <a:cs typeface="Aileron Regular"/>
                <a:sym typeface="Aileron Regular"/>
              </a:rPr>
              <a:t>miniers</a:t>
            </a:r>
            <a:r>
              <a:rPr lang="en-US" sz="2319" spc="134" dirty="0">
                <a:solidFill>
                  <a:srgbClr val="191919"/>
                </a:solidFill>
                <a:latin typeface="Aileron Regular"/>
                <a:ea typeface="Aileron Regular"/>
                <a:cs typeface="Aileron Regular"/>
                <a:sym typeface="Aileron Regular"/>
              </a:rPr>
              <a:t>, </a:t>
            </a:r>
            <a:r>
              <a:rPr lang="en-US" sz="2319" spc="134" dirty="0" err="1">
                <a:solidFill>
                  <a:srgbClr val="191919"/>
                </a:solidFill>
                <a:latin typeface="Aileron Regular"/>
                <a:ea typeface="Aileron Regular"/>
                <a:cs typeface="Aileron Regular"/>
                <a:sym typeface="Aileron Regular"/>
              </a:rPr>
              <a:t>assurant</a:t>
            </a:r>
            <a:r>
              <a:rPr lang="en-US" sz="2319" spc="134" dirty="0">
                <a:solidFill>
                  <a:srgbClr val="191919"/>
                </a:solidFill>
                <a:latin typeface="Aileron Regular"/>
                <a:ea typeface="Aileron Regular"/>
                <a:cs typeface="Aileron Regular"/>
                <a:sym typeface="Aileron Regular"/>
              </a:rPr>
              <a:t> </a:t>
            </a:r>
            <a:r>
              <a:rPr lang="en-US" sz="2319" spc="134" dirty="0" err="1">
                <a:solidFill>
                  <a:srgbClr val="191919"/>
                </a:solidFill>
                <a:latin typeface="Aileron Regular"/>
                <a:ea typeface="Aileron Regular"/>
                <a:cs typeface="Aileron Regular"/>
                <a:sym typeface="Aileron Regular"/>
              </a:rPr>
              <a:t>ainsi</a:t>
            </a:r>
            <a:r>
              <a:rPr lang="en-US" sz="2319" spc="134" dirty="0">
                <a:solidFill>
                  <a:srgbClr val="191919"/>
                </a:solidFill>
                <a:latin typeface="Aileron Regular"/>
                <a:ea typeface="Aileron Regular"/>
                <a:cs typeface="Aileron Regular"/>
                <a:sym typeface="Aileron Regular"/>
              </a:rPr>
              <a:t> la </a:t>
            </a:r>
            <a:r>
              <a:rPr lang="en-US" sz="2319" spc="134" dirty="0" err="1">
                <a:solidFill>
                  <a:srgbClr val="191919"/>
                </a:solidFill>
                <a:latin typeface="Aileron Regular"/>
                <a:ea typeface="Aileron Regular"/>
                <a:cs typeface="Aileron Regular"/>
                <a:sym typeface="Aileron Regular"/>
              </a:rPr>
              <a:t>tranquillité</a:t>
            </a:r>
            <a:r>
              <a:rPr lang="en-US" sz="2319" spc="134" dirty="0">
                <a:solidFill>
                  <a:srgbClr val="191919"/>
                </a:solidFill>
                <a:latin typeface="Aileron Regular"/>
                <a:ea typeface="Aileron Regular"/>
                <a:cs typeface="Aileron Regular"/>
                <a:sym typeface="Aileron Regular"/>
              </a:rPr>
              <a:t> d'esprit et la </a:t>
            </a:r>
            <a:r>
              <a:rPr lang="en-US" sz="2319" spc="134" dirty="0" err="1">
                <a:solidFill>
                  <a:srgbClr val="191919"/>
                </a:solidFill>
                <a:latin typeface="Aileron Regular"/>
                <a:ea typeface="Aileron Regular"/>
                <a:cs typeface="Aileron Regular"/>
                <a:sym typeface="Aileron Regular"/>
              </a:rPr>
              <a:t>continuité</a:t>
            </a:r>
            <a:r>
              <a:rPr lang="en-US" sz="2319" spc="134" dirty="0">
                <a:solidFill>
                  <a:srgbClr val="191919"/>
                </a:solidFill>
                <a:latin typeface="Aileron Regular"/>
                <a:ea typeface="Aileron Regular"/>
                <a:cs typeface="Aileron Regular"/>
                <a:sym typeface="Aileron Regular"/>
              </a:rPr>
              <a:t> de </a:t>
            </a:r>
            <a:r>
              <a:rPr lang="en-US" sz="2319" spc="134" dirty="0" err="1">
                <a:solidFill>
                  <a:srgbClr val="191919"/>
                </a:solidFill>
                <a:latin typeface="Aileron Regular"/>
                <a:ea typeface="Aileron Regular"/>
                <a:cs typeface="Aileron Regular"/>
                <a:sym typeface="Aileron Regular"/>
              </a:rPr>
              <a:t>vos</a:t>
            </a:r>
            <a:r>
              <a:rPr lang="en-US" sz="2319" spc="134" dirty="0">
                <a:solidFill>
                  <a:srgbClr val="191919"/>
                </a:solidFill>
                <a:latin typeface="Aileron Regular"/>
                <a:ea typeface="Aileron Regular"/>
                <a:cs typeface="Aileron Regular"/>
                <a:sym typeface="Aileron Regular"/>
              </a:rPr>
              <a:t> </a:t>
            </a:r>
            <a:r>
              <a:rPr lang="en-US" sz="2319" spc="134" dirty="0" err="1">
                <a:solidFill>
                  <a:srgbClr val="191919"/>
                </a:solidFill>
                <a:latin typeface="Aileron Regular"/>
                <a:ea typeface="Aileron Regular"/>
                <a:cs typeface="Aileron Regular"/>
                <a:sym typeface="Aileron Regular"/>
              </a:rPr>
              <a:t>opérations</a:t>
            </a:r>
            <a:r>
              <a:rPr lang="en-US" sz="2319" spc="134" dirty="0">
                <a:solidFill>
                  <a:srgbClr val="191919"/>
                </a:solidFill>
                <a:latin typeface="Aileron Regular"/>
                <a:ea typeface="Aileron Regular"/>
                <a:cs typeface="Aileron Regular"/>
                <a:sym typeface="Aileron Regular"/>
              </a:rPr>
              <a:t>.</a:t>
            </a:r>
          </a:p>
          <a:p>
            <a:pPr algn="just">
              <a:lnSpc>
                <a:spcPts val="3989"/>
              </a:lnSpc>
            </a:pPr>
            <a:endParaRPr lang="en-US" sz="2319" spc="134" dirty="0">
              <a:solidFill>
                <a:srgbClr val="191919"/>
              </a:solidFill>
              <a:latin typeface="Aileron Regular"/>
              <a:ea typeface="Aileron Regular"/>
              <a:cs typeface="Aileron Regular"/>
              <a:sym typeface="Aileron Regular"/>
            </a:endParaRPr>
          </a:p>
          <a:p>
            <a:pPr algn="just">
              <a:lnSpc>
                <a:spcPts val="3989"/>
              </a:lnSpc>
            </a:pPr>
            <a:endParaRPr lang="en-US" sz="2319" spc="134" dirty="0">
              <a:solidFill>
                <a:srgbClr val="191919"/>
              </a:solidFill>
              <a:latin typeface="Aileron Regular"/>
              <a:ea typeface="Aileron Regular"/>
              <a:cs typeface="Aileron Regular"/>
              <a:sym typeface="Aileron Regular"/>
            </a:endParaRPr>
          </a:p>
          <a:p>
            <a:pPr algn="just">
              <a:lnSpc>
                <a:spcPts val="3989"/>
              </a:lnSpc>
            </a:pPr>
            <a:endParaRPr lang="en-US" sz="2319" spc="134" dirty="0">
              <a:solidFill>
                <a:srgbClr val="191919"/>
              </a:solidFill>
              <a:latin typeface="Aileron Regular"/>
              <a:ea typeface="Aileron Regular"/>
              <a:cs typeface="Aileron Regular"/>
              <a:sym typeface="Aileron Regular"/>
            </a:endParaRPr>
          </a:p>
          <a:p>
            <a:pPr algn="just">
              <a:lnSpc>
                <a:spcPts val="3989"/>
              </a:lnSpc>
            </a:pPr>
            <a:endParaRPr lang="en-US" sz="2319" spc="134" dirty="0">
              <a:solidFill>
                <a:srgbClr val="191919"/>
              </a:solidFill>
              <a:latin typeface="Aileron Regular"/>
              <a:ea typeface="Aileron Regular"/>
              <a:cs typeface="Aileron Regular"/>
              <a:sym typeface="Aileron Regular"/>
            </a:endParaRPr>
          </a:p>
        </p:txBody>
      </p:sp>
      <p:sp>
        <p:nvSpPr>
          <p:cNvPr id="18" name="Freeform 18"/>
          <p:cNvSpPr/>
          <p:nvPr/>
        </p:nvSpPr>
        <p:spPr>
          <a:xfrm>
            <a:off x="15712286" y="310515"/>
            <a:ext cx="1177232" cy="1185701"/>
          </a:xfrm>
          <a:custGeom>
            <a:avLst/>
            <a:gdLst/>
            <a:ahLst/>
            <a:cxnLst/>
            <a:rect l="l" t="t" r="r" b="b"/>
            <a:pathLst>
              <a:path w="1177232" h="1185701">
                <a:moveTo>
                  <a:pt x="0" y="0"/>
                </a:moveTo>
                <a:lnTo>
                  <a:pt x="1177233" y="0"/>
                </a:lnTo>
                <a:lnTo>
                  <a:pt x="1177233" y="1185701"/>
                </a:lnTo>
                <a:lnTo>
                  <a:pt x="0" y="1185701"/>
                </a:lnTo>
                <a:lnTo>
                  <a:pt x="0" y="0"/>
                </a:lnTo>
                <a:close/>
              </a:path>
            </a:pathLst>
          </a:custGeom>
          <a:blipFill>
            <a:blip r:embed="rId15"/>
            <a:stretch>
              <a:fillRect/>
            </a:stretch>
          </a:blipFill>
        </p:spPr>
        <p:txBody>
          <a:bodyPr/>
          <a:lstStyle/>
          <a:p>
            <a:endParaRPr lang="en-IN"/>
          </a:p>
        </p:txBody>
      </p:sp>
      <p:pic>
        <p:nvPicPr>
          <p:cNvPr id="20" name="Image 19">
            <a:extLst>
              <a:ext uri="{FF2B5EF4-FFF2-40B4-BE49-F238E27FC236}">
                <a16:creationId xmlns:a16="http://schemas.microsoft.com/office/drawing/2014/main" id="{BA219C26-74CE-4953-892E-8A638E98CE79}"/>
              </a:ext>
            </a:extLst>
          </p:cNvPr>
          <p:cNvPicPr>
            <a:picLocks noChangeAspect="1"/>
          </p:cNvPicPr>
          <p:nvPr/>
        </p:nvPicPr>
        <p:blipFill rotWithShape="1">
          <a:blip r:embed="rId16" cstate="print">
            <a:extLst>
              <a:ext uri="{28A0092B-C50C-407E-A947-70E740481C1C}">
                <a14:useLocalDpi xmlns:a14="http://schemas.microsoft.com/office/drawing/2010/main" val="0"/>
              </a:ext>
            </a:extLst>
          </a:blip>
          <a:srcRect r="48180" b="50000"/>
          <a:stretch/>
        </p:blipFill>
        <p:spPr>
          <a:xfrm>
            <a:off x="17078959" y="9135676"/>
            <a:ext cx="1209041" cy="115132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741444" flipH="1" flipV="1">
            <a:off x="14659673" y="8304608"/>
            <a:ext cx="7256654" cy="5738804"/>
          </a:xfrm>
          <a:custGeom>
            <a:avLst/>
            <a:gdLst/>
            <a:ahLst/>
            <a:cxnLst/>
            <a:rect l="l" t="t" r="r" b="b"/>
            <a:pathLst>
              <a:path w="7256654" h="5738804">
                <a:moveTo>
                  <a:pt x="7256654" y="5738803"/>
                </a:moveTo>
                <a:lnTo>
                  <a:pt x="0" y="5738803"/>
                </a:lnTo>
                <a:lnTo>
                  <a:pt x="0" y="0"/>
                </a:lnTo>
                <a:lnTo>
                  <a:pt x="7256654" y="0"/>
                </a:lnTo>
                <a:lnTo>
                  <a:pt x="7256654" y="5738803"/>
                </a:lnTo>
                <a:close/>
              </a:path>
            </a:pathLst>
          </a:custGeom>
          <a:blipFill>
            <a:blip r:embed="rId2">
              <a:alphaModFix amt="12000"/>
              <a:extLst>
                <a:ext uri="{96DAC541-7B7A-43D3-8B79-37D633B846F1}">
                  <asvg:svgBlip xmlns:asvg="http://schemas.microsoft.com/office/drawing/2016/SVG/main" xmlns="" r:embed="rId3"/>
                </a:ext>
              </a:extLst>
            </a:blip>
            <a:stretch>
              <a:fillRect/>
            </a:stretch>
          </a:blipFill>
        </p:spPr>
        <p:txBody>
          <a:bodyPr/>
          <a:lstStyle/>
          <a:p>
            <a:endParaRPr lang="en-IN"/>
          </a:p>
        </p:txBody>
      </p:sp>
      <p:sp>
        <p:nvSpPr>
          <p:cNvPr id="3" name="Freeform 3"/>
          <p:cNvSpPr/>
          <p:nvPr/>
        </p:nvSpPr>
        <p:spPr>
          <a:xfrm>
            <a:off x="-432969" y="5700588"/>
            <a:ext cx="7256654" cy="5738804"/>
          </a:xfrm>
          <a:custGeom>
            <a:avLst/>
            <a:gdLst/>
            <a:ahLst/>
            <a:cxnLst/>
            <a:rect l="l" t="t" r="r" b="b"/>
            <a:pathLst>
              <a:path w="7256654" h="5738804">
                <a:moveTo>
                  <a:pt x="0" y="0"/>
                </a:moveTo>
                <a:lnTo>
                  <a:pt x="7256654" y="0"/>
                </a:lnTo>
                <a:lnTo>
                  <a:pt x="7256654" y="5738804"/>
                </a:lnTo>
                <a:lnTo>
                  <a:pt x="0" y="5738804"/>
                </a:lnTo>
                <a:lnTo>
                  <a:pt x="0" y="0"/>
                </a:lnTo>
                <a:close/>
              </a:path>
            </a:pathLst>
          </a:custGeom>
          <a:blipFill>
            <a:blip r:embed="rId2">
              <a:alphaModFix amt="12000"/>
              <a:extLst>
                <a:ext uri="{96DAC541-7B7A-43D3-8B79-37D633B846F1}">
                  <asvg:svgBlip xmlns:asvg="http://schemas.microsoft.com/office/drawing/2016/SVG/main" xmlns="" r:embed="rId3"/>
                </a:ext>
              </a:extLst>
            </a:blip>
            <a:stretch>
              <a:fillRect/>
            </a:stretch>
          </a:blipFill>
        </p:spPr>
        <p:txBody>
          <a:bodyPr/>
          <a:lstStyle/>
          <a:p>
            <a:endParaRPr lang="en-IN"/>
          </a:p>
        </p:txBody>
      </p:sp>
      <p:sp>
        <p:nvSpPr>
          <p:cNvPr id="4" name="Freeform 4"/>
          <p:cNvSpPr/>
          <p:nvPr/>
        </p:nvSpPr>
        <p:spPr>
          <a:xfrm rot="5400000">
            <a:off x="-2380180" y="2380178"/>
            <a:ext cx="9934575" cy="5174220"/>
          </a:xfrm>
          <a:custGeom>
            <a:avLst/>
            <a:gdLst/>
            <a:ahLst/>
            <a:cxnLst/>
            <a:rect l="l" t="t" r="r" b="b"/>
            <a:pathLst>
              <a:path w="10420108" h="5610259">
                <a:moveTo>
                  <a:pt x="0" y="0"/>
                </a:moveTo>
                <a:lnTo>
                  <a:pt x="10420108" y="0"/>
                </a:lnTo>
                <a:lnTo>
                  <a:pt x="10420108" y="5610259"/>
                </a:lnTo>
                <a:lnTo>
                  <a:pt x="0" y="5610259"/>
                </a:lnTo>
                <a:lnTo>
                  <a:pt x="0" y="0"/>
                </a:lnTo>
                <a:close/>
              </a:path>
            </a:pathLst>
          </a:custGeom>
          <a:blipFill>
            <a:blip r:embed="rId4">
              <a:extLst>
                <a:ext uri="{96DAC541-7B7A-43D3-8B79-37D633B846F1}">
                  <asvg:svgBlip xmlns:asvg="http://schemas.microsoft.com/office/drawing/2016/SVG/main" xmlns="" r:embed="rId5"/>
                </a:ext>
              </a:extLst>
            </a:blip>
            <a:stretch>
              <a:fillRect l="-472" t="-36928" r="-26636"/>
            </a:stretch>
          </a:blipFill>
        </p:spPr>
        <p:txBody>
          <a:bodyPr/>
          <a:lstStyle/>
          <a:p>
            <a:endParaRPr lang="en-IN"/>
          </a:p>
        </p:txBody>
      </p:sp>
      <p:sp>
        <p:nvSpPr>
          <p:cNvPr id="5" name="Freeform 5"/>
          <p:cNvSpPr/>
          <p:nvPr/>
        </p:nvSpPr>
        <p:spPr>
          <a:xfrm rot="5400000">
            <a:off x="-178269" y="164857"/>
            <a:ext cx="1396092" cy="1039579"/>
          </a:xfrm>
          <a:custGeom>
            <a:avLst/>
            <a:gdLst/>
            <a:ahLst/>
            <a:cxnLst/>
            <a:rect l="l" t="t" r="r" b="b"/>
            <a:pathLst>
              <a:path w="2700592" h="1077675">
                <a:moveTo>
                  <a:pt x="0" y="0"/>
                </a:moveTo>
                <a:lnTo>
                  <a:pt x="2700592" y="0"/>
                </a:lnTo>
                <a:lnTo>
                  <a:pt x="2700592" y="1077674"/>
                </a:lnTo>
                <a:lnTo>
                  <a:pt x="0" y="1077674"/>
                </a:lnTo>
                <a:lnTo>
                  <a:pt x="0" y="0"/>
                </a:lnTo>
                <a:close/>
              </a:path>
            </a:pathLst>
          </a:custGeom>
          <a:blipFill>
            <a:blip r:embed="rId6">
              <a:extLst>
                <a:ext uri="{96DAC541-7B7A-43D3-8B79-37D633B846F1}">
                  <asvg:svgBlip xmlns:asvg="http://schemas.microsoft.com/office/drawing/2016/SVG/main" xmlns="" r:embed="rId7"/>
                </a:ext>
              </a:extLst>
            </a:blip>
            <a:stretch>
              <a:fillRect l="2" t="-1" r="-158384" b="-3665"/>
            </a:stretch>
          </a:blipFill>
        </p:spPr>
        <p:txBody>
          <a:bodyPr/>
          <a:lstStyle/>
          <a:p>
            <a:endParaRPr lang="en-IN"/>
          </a:p>
        </p:txBody>
      </p:sp>
      <p:grpSp>
        <p:nvGrpSpPr>
          <p:cNvPr id="6" name="Group 6"/>
          <p:cNvGrpSpPr/>
          <p:nvPr/>
        </p:nvGrpSpPr>
        <p:grpSpPr>
          <a:xfrm>
            <a:off x="304800" y="304800"/>
            <a:ext cx="6793086" cy="4838700"/>
            <a:chOff x="0" y="0"/>
            <a:chExt cx="971130" cy="691733"/>
          </a:xfrm>
        </p:grpSpPr>
        <p:sp>
          <p:nvSpPr>
            <p:cNvPr id="7" name="Freeform 7"/>
            <p:cNvSpPr/>
            <p:nvPr/>
          </p:nvSpPr>
          <p:spPr>
            <a:xfrm>
              <a:off x="0" y="0"/>
              <a:ext cx="971129" cy="691733"/>
            </a:xfrm>
            <a:custGeom>
              <a:avLst/>
              <a:gdLst/>
              <a:ahLst/>
              <a:cxnLst/>
              <a:rect l="l" t="t" r="r" b="b"/>
              <a:pathLst>
                <a:path w="971129" h="691733">
                  <a:moveTo>
                    <a:pt x="11397" y="0"/>
                  </a:moveTo>
                  <a:lnTo>
                    <a:pt x="959733" y="0"/>
                  </a:lnTo>
                  <a:cubicBezTo>
                    <a:pt x="962755" y="0"/>
                    <a:pt x="965654" y="1201"/>
                    <a:pt x="967791" y="3338"/>
                  </a:cubicBezTo>
                  <a:cubicBezTo>
                    <a:pt x="969929" y="5475"/>
                    <a:pt x="971129" y="8374"/>
                    <a:pt x="971129" y="11397"/>
                  </a:cubicBezTo>
                  <a:lnTo>
                    <a:pt x="971129" y="680337"/>
                  </a:lnTo>
                  <a:cubicBezTo>
                    <a:pt x="971129" y="683359"/>
                    <a:pt x="969929" y="686258"/>
                    <a:pt x="967791" y="688395"/>
                  </a:cubicBezTo>
                  <a:cubicBezTo>
                    <a:pt x="965654" y="690533"/>
                    <a:pt x="962755" y="691733"/>
                    <a:pt x="959733" y="691733"/>
                  </a:cubicBezTo>
                  <a:lnTo>
                    <a:pt x="11397" y="691733"/>
                  </a:lnTo>
                  <a:cubicBezTo>
                    <a:pt x="8374" y="691733"/>
                    <a:pt x="5475" y="690533"/>
                    <a:pt x="3338" y="688395"/>
                  </a:cubicBezTo>
                  <a:cubicBezTo>
                    <a:pt x="1201" y="686258"/>
                    <a:pt x="0" y="683359"/>
                    <a:pt x="0" y="680337"/>
                  </a:cubicBezTo>
                  <a:lnTo>
                    <a:pt x="0" y="11397"/>
                  </a:lnTo>
                  <a:cubicBezTo>
                    <a:pt x="0" y="8374"/>
                    <a:pt x="1201" y="5475"/>
                    <a:pt x="3338" y="3338"/>
                  </a:cubicBezTo>
                  <a:cubicBezTo>
                    <a:pt x="5475" y="1201"/>
                    <a:pt x="8374" y="0"/>
                    <a:pt x="11397" y="0"/>
                  </a:cubicBezTo>
                  <a:close/>
                </a:path>
              </a:pathLst>
            </a:custGeom>
            <a:blipFill>
              <a:blip r:embed="rId8"/>
              <a:stretch>
                <a:fillRect t="-7209" b="-7209"/>
              </a:stretch>
            </a:blipFill>
            <a:ln cap="sq">
              <a:noFill/>
              <a:prstDash val="solid"/>
              <a:miter/>
            </a:ln>
          </p:spPr>
          <p:txBody>
            <a:bodyPr/>
            <a:lstStyle/>
            <a:p>
              <a:endParaRPr lang="en-IN"/>
            </a:p>
          </p:txBody>
        </p:sp>
      </p:grpSp>
      <p:grpSp>
        <p:nvGrpSpPr>
          <p:cNvPr id="8" name="Group 8"/>
          <p:cNvGrpSpPr/>
          <p:nvPr/>
        </p:nvGrpSpPr>
        <p:grpSpPr>
          <a:xfrm>
            <a:off x="7097886" y="414953"/>
            <a:ext cx="5819427" cy="967740"/>
            <a:chOff x="0" y="0"/>
            <a:chExt cx="1532689" cy="254878"/>
          </a:xfrm>
        </p:grpSpPr>
        <p:sp>
          <p:nvSpPr>
            <p:cNvPr id="9" name="Freeform 9"/>
            <p:cNvSpPr/>
            <p:nvPr/>
          </p:nvSpPr>
          <p:spPr>
            <a:xfrm>
              <a:off x="0" y="0"/>
              <a:ext cx="1532689" cy="254878"/>
            </a:xfrm>
            <a:custGeom>
              <a:avLst/>
              <a:gdLst/>
              <a:ahLst/>
              <a:cxnLst/>
              <a:rect l="l" t="t" r="r" b="b"/>
              <a:pathLst>
                <a:path w="1532689" h="254878">
                  <a:moveTo>
                    <a:pt x="13304" y="0"/>
                  </a:moveTo>
                  <a:lnTo>
                    <a:pt x="1519385" y="0"/>
                  </a:lnTo>
                  <a:cubicBezTo>
                    <a:pt x="1526732" y="0"/>
                    <a:pt x="1532689" y="5956"/>
                    <a:pt x="1532689" y="13304"/>
                  </a:cubicBezTo>
                  <a:lnTo>
                    <a:pt x="1532689" y="241574"/>
                  </a:lnTo>
                  <a:cubicBezTo>
                    <a:pt x="1532689" y="248922"/>
                    <a:pt x="1526732" y="254878"/>
                    <a:pt x="1519385" y="254878"/>
                  </a:cubicBezTo>
                  <a:lnTo>
                    <a:pt x="13304" y="254878"/>
                  </a:lnTo>
                  <a:cubicBezTo>
                    <a:pt x="5956" y="254878"/>
                    <a:pt x="0" y="248922"/>
                    <a:pt x="0" y="241574"/>
                  </a:cubicBezTo>
                  <a:lnTo>
                    <a:pt x="0" y="13304"/>
                  </a:lnTo>
                  <a:cubicBezTo>
                    <a:pt x="0" y="5956"/>
                    <a:pt x="5956" y="0"/>
                    <a:pt x="13304" y="0"/>
                  </a:cubicBezTo>
                  <a:close/>
                </a:path>
              </a:pathLst>
            </a:custGeom>
            <a:solidFill>
              <a:srgbClr val="2C92D5"/>
            </a:solidFill>
          </p:spPr>
          <p:txBody>
            <a:bodyPr/>
            <a:lstStyle/>
            <a:p>
              <a:endParaRPr lang="en-IN"/>
            </a:p>
          </p:txBody>
        </p:sp>
        <p:sp>
          <p:nvSpPr>
            <p:cNvPr id="10" name="TextBox 10"/>
            <p:cNvSpPr txBox="1"/>
            <p:nvPr/>
          </p:nvSpPr>
          <p:spPr>
            <a:xfrm>
              <a:off x="0" y="-200025"/>
              <a:ext cx="1532689" cy="454903"/>
            </a:xfrm>
            <a:prstGeom prst="rect">
              <a:avLst/>
            </a:prstGeom>
          </p:spPr>
          <p:txBody>
            <a:bodyPr lIns="50800" tIns="50800" rIns="50800" bIns="50800" rtlCol="0" anchor="ctr"/>
            <a:lstStyle/>
            <a:p>
              <a:pPr algn="ctr">
                <a:lnSpc>
                  <a:spcPts val="5040"/>
                </a:lnSpc>
              </a:pPr>
              <a:endParaRPr/>
            </a:p>
          </p:txBody>
        </p:sp>
      </p:grpSp>
      <p:sp>
        <p:nvSpPr>
          <p:cNvPr id="11" name="Freeform 11"/>
          <p:cNvSpPr/>
          <p:nvPr/>
        </p:nvSpPr>
        <p:spPr>
          <a:xfrm>
            <a:off x="6909601" y="2316393"/>
            <a:ext cx="400118" cy="326096"/>
          </a:xfrm>
          <a:custGeom>
            <a:avLst/>
            <a:gdLst/>
            <a:ahLst/>
            <a:cxnLst/>
            <a:rect l="l" t="t" r="r" b="b"/>
            <a:pathLst>
              <a:path w="400118" h="326096">
                <a:moveTo>
                  <a:pt x="0" y="0"/>
                </a:moveTo>
                <a:lnTo>
                  <a:pt x="400118" y="0"/>
                </a:lnTo>
                <a:lnTo>
                  <a:pt x="400118" y="326097"/>
                </a:lnTo>
                <a:lnTo>
                  <a:pt x="0" y="326097"/>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txBody>
          <a:bodyPr/>
          <a:lstStyle/>
          <a:p>
            <a:endParaRPr lang="en-IN"/>
          </a:p>
        </p:txBody>
      </p:sp>
      <p:sp>
        <p:nvSpPr>
          <p:cNvPr id="12" name="TextBox 12"/>
          <p:cNvSpPr txBox="1"/>
          <p:nvPr/>
        </p:nvSpPr>
        <p:spPr>
          <a:xfrm>
            <a:off x="7403324" y="527424"/>
            <a:ext cx="6117771" cy="809473"/>
          </a:xfrm>
          <a:prstGeom prst="rect">
            <a:avLst/>
          </a:prstGeom>
        </p:spPr>
        <p:txBody>
          <a:bodyPr lIns="0" tIns="0" rIns="0" bIns="0" rtlCol="0" anchor="t">
            <a:spAutoFit/>
          </a:bodyPr>
          <a:lstStyle/>
          <a:p>
            <a:pPr algn="l">
              <a:lnSpc>
                <a:spcPts val="6163"/>
              </a:lnSpc>
            </a:pPr>
            <a:r>
              <a:rPr lang="en-US" sz="5759" spc="57">
                <a:solidFill>
                  <a:srgbClr val="FFFFFF"/>
                </a:solidFill>
                <a:latin typeface="Aileron Heavy"/>
                <a:ea typeface="Aileron Heavy"/>
                <a:cs typeface="Aileron Heavy"/>
                <a:sym typeface="Aileron Heavy"/>
              </a:rPr>
              <a:t>NOS SERVICES</a:t>
            </a:r>
          </a:p>
        </p:txBody>
      </p:sp>
      <p:sp>
        <p:nvSpPr>
          <p:cNvPr id="13" name="TextBox 13"/>
          <p:cNvSpPr txBox="1"/>
          <p:nvPr/>
        </p:nvSpPr>
        <p:spPr>
          <a:xfrm>
            <a:off x="7784371" y="1866047"/>
            <a:ext cx="5132942" cy="923925"/>
          </a:xfrm>
          <a:prstGeom prst="rect">
            <a:avLst/>
          </a:prstGeom>
        </p:spPr>
        <p:txBody>
          <a:bodyPr lIns="0" tIns="0" rIns="0" bIns="0" rtlCol="0" anchor="t">
            <a:spAutoFit/>
          </a:bodyPr>
          <a:lstStyle/>
          <a:p>
            <a:pPr algn="l">
              <a:lnSpc>
                <a:spcPts val="3600"/>
              </a:lnSpc>
            </a:pPr>
            <a:r>
              <a:rPr lang="en-US" sz="3000" b="1" spc="30">
                <a:solidFill>
                  <a:srgbClr val="191919"/>
                </a:solidFill>
                <a:latin typeface="Aileron Heavy Bold"/>
                <a:ea typeface="Aileron Heavy Bold"/>
                <a:cs typeface="Aileron Heavy Bold"/>
                <a:sym typeface="Aileron Heavy Bold"/>
              </a:rPr>
              <a:t>SÉCURITÉ D’INCENDIE</a:t>
            </a:r>
          </a:p>
          <a:p>
            <a:pPr algn="l">
              <a:lnSpc>
                <a:spcPts val="3600"/>
              </a:lnSpc>
            </a:pPr>
            <a:endParaRPr lang="en-US" sz="3000" b="1" spc="30">
              <a:solidFill>
                <a:srgbClr val="191919"/>
              </a:solidFill>
              <a:latin typeface="Aileron Heavy Bold"/>
              <a:ea typeface="Aileron Heavy Bold"/>
              <a:cs typeface="Aileron Heavy Bold"/>
              <a:sym typeface="Aileron Heavy Bold"/>
            </a:endParaRPr>
          </a:p>
        </p:txBody>
      </p:sp>
      <p:sp>
        <p:nvSpPr>
          <p:cNvPr id="15" name="Freeform 15"/>
          <p:cNvSpPr/>
          <p:nvPr/>
        </p:nvSpPr>
        <p:spPr>
          <a:xfrm>
            <a:off x="8011886" y="-43815"/>
            <a:ext cx="1699256" cy="310515"/>
          </a:xfrm>
          <a:custGeom>
            <a:avLst/>
            <a:gdLst/>
            <a:ahLst/>
            <a:cxnLst/>
            <a:rect l="l" t="t" r="r" b="b"/>
            <a:pathLst>
              <a:path w="1699256" h="1019554">
                <a:moveTo>
                  <a:pt x="0" y="0"/>
                </a:moveTo>
                <a:lnTo>
                  <a:pt x="1699256" y="0"/>
                </a:lnTo>
                <a:lnTo>
                  <a:pt x="1699256" y="1019554"/>
                </a:lnTo>
                <a:lnTo>
                  <a:pt x="0" y="1019554"/>
                </a:lnTo>
                <a:lnTo>
                  <a:pt x="0" y="0"/>
                </a:lnTo>
                <a:close/>
              </a:path>
            </a:pathLst>
          </a:custGeom>
          <a:blipFill>
            <a:blip r:embed="rId11">
              <a:extLst>
                <a:ext uri="{96DAC541-7B7A-43D3-8B79-37D633B846F1}">
                  <asvg:svgBlip xmlns:asvg="http://schemas.microsoft.com/office/drawing/2016/SVG/main" xmlns="" r:embed="rId12"/>
                </a:ext>
              </a:extLst>
            </a:blip>
            <a:stretch>
              <a:fillRect t="-228342"/>
            </a:stretch>
          </a:blipFill>
        </p:spPr>
        <p:txBody>
          <a:bodyPr/>
          <a:lstStyle/>
          <a:p>
            <a:endParaRPr lang="en-IN"/>
          </a:p>
        </p:txBody>
      </p:sp>
      <p:sp>
        <p:nvSpPr>
          <p:cNvPr id="16" name="Freeform 16"/>
          <p:cNvSpPr/>
          <p:nvPr/>
        </p:nvSpPr>
        <p:spPr>
          <a:xfrm>
            <a:off x="17774614" y="-137234"/>
            <a:ext cx="677531" cy="552187"/>
          </a:xfrm>
          <a:custGeom>
            <a:avLst/>
            <a:gdLst/>
            <a:ahLst/>
            <a:cxnLst/>
            <a:rect l="l" t="t" r="r" b="b"/>
            <a:pathLst>
              <a:path w="677531" h="552187">
                <a:moveTo>
                  <a:pt x="0" y="0"/>
                </a:moveTo>
                <a:lnTo>
                  <a:pt x="677530" y="0"/>
                </a:lnTo>
                <a:lnTo>
                  <a:pt x="677530" y="552187"/>
                </a:lnTo>
                <a:lnTo>
                  <a:pt x="0" y="552187"/>
                </a:lnTo>
                <a:lnTo>
                  <a:pt x="0" y="0"/>
                </a:lnTo>
                <a:close/>
              </a:path>
            </a:pathLst>
          </a:custGeom>
          <a:blipFill>
            <a:blip r:embed="rId13">
              <a:extLst>
                <a:ext uri="{96DAC541-7B7A-43D3-8B79-37D633B846F1}">
                  <asvg:svgBlip xmlns:asvg="http://schemas.microsoft.com/office/drawing/2016/SVG/main" xmlns="" r:embed="rId14"/>
                </a:ext>
              </a:extLst>
            </a:blip>
            <a:stretch>
              <a:fillRect/>
            </a:stretch>
          </a:blipFill>
        </p:spPr>
        <p:txBody>
          <a:bodyPr/>
          <a:lstStyle/>
          <a:p>
            <a:endParaRPr lang="en-IN"/>
          </a:p>
        </p:txBody>
      </p:sp>
      <p:sp>
        <p:nvSpPr>
          <p:cNvPr id="17" name="TextBox 17"/>
          <p:cNvSpPr txBox="1"/>
          <p:nvPr/>
        </p:nvSpPr>
        <p:spPr>
          <a:xfrm>
            <a:off x="7309719" y="2528190"/>
            <a:ext cx="9717697" cy="2485228"/>
          </a:xfrm>
          <a:prstGeom prst="rect">
            <a:avLst/>
          </a:prstGeom>
        </p:spPr>
        <p:txBody>
          <a:bodyPr lIns="0" tIns="0" rIns="0" bIns="0" rtlCol="0" anchor="t">
            <a:spAutoFit/>
          </a:bodyPr>
          <a:lstStyle/>
          <a:p>
            <a:pPr algn="just">
              <a:lnSpc>
                <a:spcPts val="3989"/>
              </a:lnSpc>
            </a:pPr>
            <a:r>
              <a:rPr lang="en-US" sz="2319" spc="134" dirty="0">
                <a:solidFill>
                  <a:srgbClr val="191919"/>
                </a:solidFill>
                <a:latin typeface="Aileron Regular"/>
                <a:ea typeface="Aileron Regular"/>
                <a:cs typeface="Aileron Regular"/>
                <a:sym typeface="Aileron Regular"/>
              </a:rPr>
              <a:t>Nous </a:t>
            </a:r>
            <a:r>
              <a:rPr lang="en-US" sz="2319" spc="134" dirty="0" err="1">
                <a:solidFill>
                  <a:srgbClr val="191919"/>
                </a:solidFill>
                <a:latin typeface="Aileron Regular"/>
                <a:ea typeface="Aileron Regular"/>
                <a:cs typeface="Aileron Regular"/>
                <a:sym typeface="Aileron Regular"/>
              </a:rPr>
              <a:t>offrons</a:t>
            </a:r>
            <a:r>
              <a:rPr lang="en-US" sz="2319" spc="134" dirty="0">
                <a:solidFill>
                  <a:srgbClr val="191919"/>
                </a:solidFill>
                <a:latin typeface="Aileron Regular"/>
                <a:ea typeface="Aileron Regular"/>
                <a:cs typeface="Aileron Regular"/>
                <a:sym typeface="Aileron Regular"/>
              </a:rPr>
              <a:t> </a:t>
            </a:r>
            <a:r>
              <a:rPr lang="en-US" sz="2319" spc="134" dirty="0" err="1">
                <a:solidFill>
                  <a:srgbClr val="191919"/>
                </a:solidFill>
                <a:latin typeface="Aileron Regular"/>
                <a:ea typeface="Aileron Regular"/>
                <a:cs typeface="Aileron Regular"/>
                <a:sym typeface="Aileron Regular"/>
              </a:rPr>
              <a:t>également</a:t>
            </a:r>
            <a:r>
              <a:rPr lang="en-US" sz="2319" spc="134" dirty="0">
                <a:solidFill>
                  <a:srgbClr val="191919"/>
                </a:solidFill>
                <a:latin typeface="Aileron Regular"/>
                <a:ea typeface="Aileron Regular"/>
                <a:cs typeface="Aileron Regular"/>
                <a:sym typeface="Aileron Regular"/>
              </a:rPr>
              <a:t> des services de </a:t>
            </a:r>
            <a:r>
              <a:rPr lang="en-US" sz="2319" spc="134" dirty="0" err="1">
                <a:solidFill>
                  <a:srgbClr val="191919"/>
                </a:solidFill>
                <a:latin typeface="Aileron Regular"/>
                <a:ea typeface="Aileron Regular"/>
                <a:cs typeface="Aileron Regular"/>
                <a:sym typeface="Aileron Regular"/>
              </a:rPr>
              <a:t>sécurité</a:t>
            </a:r>
            <a:r>
              <a:rPr lang="en-US" sz="2319" spc="134" dirty="0">
                <a:solidFill>
                  <a:srgbClr val="191919"/>
                </a:solidFill>
                <a:latin typeface="Aileron Regular"/>
                <a:ea typeface="Aileron Regular"/>
                <a:cs typeface="Aileron Regular"/>
                <a:sym typeface="Aileron Regular"/>
              </a:rPr>
              <a:t> </a:t>
            </a:r>
            <a:r>
              <a:rPr lang="en-US" sz="2319" spc="134" dirty="0" err="1">
                <a:solidFill>
                  <a:srgbClr val="191919"/>
                </a:solidFill>
                <a:latin typeface="Aileron Regular"/>
                <a:ea typeface="Aileron Regular"/>
                <a:cs typeface="Aileron Regular"/>
                <a:sym typeface="Aileron Regular"/>
              </a:rPr>
              <a:t>incendie</a:t>
            </a:r>
            <a:r>
              <a:rPr lang="en-US" sz="2319" spc="134" dirty="0">
                <a:solidFill>
                  <a:srgbClr val="191919"/>
                </a:solidFill>
                <a:latin typeface="Aileron Regular"/>
                <a:ea typeface="Aileron Regular"/>
                <a:cs typeface="Aileron Regular"/>
                <a:sym typeface="Aileron Regular"/>
              </a:rPr>
              <a:t> pour </a:t>
            </a:r>
            <a:r>
              <a:rPr lang="en-US" sz="2319" spc="134" dirty="0" err="1">
                <a:solidFill>
                  <a:srgbClr val="191919"/>
                </a:solidFill>
                <a:latin typeface="Aileron Regular"/>
                <a:ea typeface="Aileron Regular"/>
                <a:cs typeface="Aileron Regular"/>
                <a:sym typeface="Aileron Regular"/>
              </a:rPr>
              <a:t>protéger</a:t>
            </a:r>
            <a:r>
              <a:rPr lang="en-US" sz="2319" spc="134" dirty="0">
                <a:solidFill>
                  <a:srgbClr val="191919"/>
                </a:solidFill>
                <a:latin typeface="Aileron Regular"/>
                <a:ea typeface="Aileron Regular"/>
                <a:cs typeface="Aileron Regular"/>
                <a:sym typeface="Aileron Regular"/>
              </a:rPr>
              <a:t> les </a:t>
            </a:r>
            <a:r>
              <a:rPr lang="en-US" sz="2319" spc="134" dirty="0" err="1">
                <a:solidFill>
                  <a:srgbClr val="191919"/>
                </a:solidFill>
                <a:latin typeface="Aileron Regular"/>
                <a:ea typeface="Aileron Regular"/>
                <a:cs typeface="Aileron Regular"/>
                <a:sym typeface="Aileron Regular"/>
              </a:rPr>
              <a:t>bâtiments</a:t>
            </a:r>
            <a:r>
              <a:rPr lang="en-US" sz="2319" spc="134" dirty="0">
                <a:solidFill>
                  <a:srgbClr val="191919"/>
                </a:solidFill>
                <a:latin typeface="Aileron Regular"/>
                <a:ea typeface="Aileron Regular"/>
                <a:cs typeface="Aileron Regular"/>
                <a:sym typeface="Aileron Regular"/>
              </a:rPr>
              <a:t> et les installations </a:t>
            </a:r>
            <a:r>
              <a:rPr lang="en-US" sz="2319" spc="134" dirty="0" err="1">
                <a:solidFill>
                  <a:srgbClr val="191919"/>
                </a:solidFill>
                <a:latin typeface="Aileron Regular"/>
                <a:ea typeface="Aileron Regular"/>
                <a:cs typeface="Aileron Regular"/>
                <a:sym typeface="Aileron Regular"/>
              </a:rPr>
              <a:t>contre</a:t>
            </a:r>
            <a:r>
              <a:rPr lang="en-US" sz="2319" spc="134" dirty="0">
                <a:solidFill>
                  <a:srgbClr val="191919"/>
                </a:solidFill>
                <a:latin typeface="Aileron Regular"/>
                <a:ea typeface="Aileron Regular"/>
                <a:cs typeface="Aileron Regular"/>
                <a:sym typeface="Aileron Regular"/>
              </a:rPr>
              <a:t> les </a:t>
            </a:r>
            <a:r>
              <a:rPr lang="en-US" sz="2319" spc="134" dirty="0" err="1">
                <a:solidFill>
                  <a:srgbClr val="191919"/>
                </a:solidFill>
                <a:latin typeface="Aileron Regular"/>
                <a:ea typeface="Aileron Regular"/>
                <a:cs typeface="Aileron Regular"/>
                <a:sym typeface="Aileron Regular"/>
              </a:rPr>
              <a:t>incendies</a:t>
            </a:r>
            <a:r>
              <a:rPr lang="en-US" sz="2319" spc="134" dirty="0">
                <a:solidFill>
                  <a:srgbClr val="191919"/>
                </a:solidFill>
                <a:latin typeface="Aileron Regular"/>
                <a:ea typeface="Aileron Regular"/>
                <a:cs typeface="Aileron Regular"/>
                <a:sym typeface="Aileron Regular"/>
              </a:rPr>
              <a:t>. Nos experts </a:t>
            </a:r>
            <a:r>
              <a:rPr lang="en-US" sz="2319" spc="134" dirty="0" err="1">
                <a:solidFill>
                  <a:srgbClr val="191919"/>
                </a:solidFill>
                <a:latin typeface="Aileron Regular"/>
                <a:ea typeface="Aileron Regular"/>
                <a:cs typeface="Aileron Regular"/>
                <a:sym typeface="Aileron Regular"/>
              </a:rPr>
              <a:t>en</a:t>
            </a:r>
            <a:r>
              <a:rPr lang="en-US" sz="2319" spc="134" dirty="0">
                <a:solidFill>
                  <a:srgbClr val="191919"/>
                </a:solidFill>
                <a:latin typeface="Aileron Regular"/>
                <a:ea typeface="Aileron Regular"/>
                <a:cs typeface="Aileron Regular"/>
                <a:sym typeface="Aileron Regular"/>
              </a:rPr>
              <a:t> </a:t>
            </a:r>
            <a:r>
              <a:rPr lang="en-US" sz="2319" spc="134" dirty="0" err="1">
                <a:solidFill>
                  <a:srgbClr val="191919"/>
                </a:solidFill>
                <a:latin typeface="Aileron Regular"/>
                <a:ea typeface="Aileron Regular"/>
                <a:cs typeface="Aileron Regular"/>
                <a:sym typeface="Aileron Regular"/>
              </a:rPr>
              <a:t>sécurité</a:t>
            </a:r>
            <a:r>
              <a:rPr lang="en-US" sz="2319" spc="134" dirty="0">
                <a:solidFill>
                  <a:srgbClr val="191919"/>
                </a:solidFill>
                <a:latin typeface="Aileron Regular"/>
                <a:ea typeface="Aileron Regular"/>
                <a:cs typeface="Aileron Regular"/>
                <a:sym typeface="Aileron Regular"/>
              </a:rPr>
              <a:t> </a:t>
            </a:r>
            <a:r>
              <a:rPr lang="en-US" sz="2319" spc="134" dirty="0" err="1">
                <a:solidFill>
                  <a:srgbClr val="191919"/>
                </a:solidFill>
                <a:latin typeface="Aileron Regular"/>
                <a:ea typeface="Aileron Regular"/>
                <a:cs typeface="Aileron Regular"/>
                <a:sym typeface="Aileron Regular"/>
              </a:rPr>
              <a:t>incendie</a:t>
            </a:r>
            <a:r>
              <a:rPr lang="en-US" sz="2319" spc="134" dirty="0">
                <a:solidFill>
                  <a:srgbClr val="191919"/>
                </a:solidFill>
                <a:latin typeface="Aileron Regular"/>
                <a:ea typeface="Aileron Regular"/>
                <a:cs typeface="Aileron Regular"/>
                <a:sym typeface="Aileron Regular"/>
              </a:rPr>
              <a:t> </a:t>
            </a:r>
            <a:r>
              <a:rPr lang="en-US" sz="2319" spc="134" dirty="0" err="1">
                <a:solidFill>
                  <a:srgbClr val="191919"/>
                </a:solidFill>
                <a:latin typeface="Aileron Regular"/>
                <a:ea typeface="Aileron Regular"/>
                <a:cs typeface="Aileron Regular"/>
                <a:sym typeface="Aileron Regular"/>
              </a:rPr>
              <a:t>sont</a:t>
            </a:r>
            <a:r>
              <a:rPr lang="en-US" sz="2319" spc="134" dirty="0">
                <a:solidFill>
                  <a:srgbClr val="191919"/>
                </a:solidFill>
                <a:latin typeface="Aileron Regular"/>
                <a:ea typeface="Aileron Regular"/>
                <a:cs typeface="Aileron Regular"/>
                <a:sym typeface="Aileron Regular"/>
              </a:rPr>
              <a:t> </a:t>
            </a:r>
            <a:r>
              <a:rPr lang="en-US" sz="2319" spc="134" dirty="0" err="1">
                <a:solidFill>
                  <a:srgbClr val="191919"/>
                </a:solidFill>
                <a:latin typeface="Aileron Regular"/>
                <a:ea typeface="Aileron Regular"/>
                <a:cs typeface="Aileron Regular"/>
                <a:sym typeface="Aileron Regular"/>
              </a:rPr>
              <a:t>formés</a:t>
            </a:r>
            <a:r>
              <a:rPr lang="en-US" sz="2319" spc="134" dirty="0">
                <a:solidFill>
                  <a:srgbClr val="191919"/>
                </a:solidFill>
                <a:latin typeface="Aileron Regular"/>
                <a:ea typeface="Aileron Regular"/>
                <a:cs typeface="Aileron Regular"/>
                <a:sym typeface="Aileron Regular"/>
              </a:rPr>
              <a:t> pour </a:t>
            </a:r>
            <a:r>
              <a:rPr lang="en-US" sz="2319" spc="134" dirty="0" err="1">
                <a:solidFill>
                  <a:srgbClr val="191919"/>
                </a:solidFill>
                <a:latin typeface="Aileron Regular"/>
                <a:ea typeface="Aileron Regular"/>
                <a:cs typeface="Aileron Regular"/>
                <a:sym typeface="Aileron Regular"/>
              </a:rPr>
              <a:t>répondre</a:t>
            </a:r>
            <a:r>
              <a:rPr lang="en-US" sz="2319" spc="134" dirty="0">
                <a:solidFill>
                  <a:srgbClr val="191919"/>
                </a:solidFill>
                <a:latin typeface="Aileron Regular"/>
                <a:ea typeface="Aileron Regular"/>
                <a:cs typeface="Aileron Regular"/>
                <a:sym typeface="Aileron Regular"/>
              </a:rPr>
              <a:t> </a:t>
            </a:r>
            <a:r>
              <a:rPr lang="en-US" sz="2319" spc="134" dirty="0" err="1">
                <a:solidFill>
                  <a:srgbClr val="191919"/>
                </a:solidFill>
                <a:latin typeface="Aileron Regular"/>
                <a:ea typeface="Aileron Regular"/>
                <a:cs typeface="Aileron Regular"/>
                <a:sym typeface="Aileron Regular"/>
              </a:rPr>
              <a:t>rapidement</a:t>
            </a:r>
            <a:r>
              <a:rPr lang="en-US" sz="2319" spc="134" dirty="0">
                <a:solidFill>
                  <a:srgbClr val="191919"/>
                </a:solidFill>
                <a:latin typeface="Aileron Regular"/>
                <a:ea typeface="Aileron Regular"/>
                <a:cs typeface="Aileron Regular"/>
                <a:sym typeface="Aileron Regular"/>
              </a:rPr>
              <a:t> et </a:t>
            </a:r>
            <a:r>
              <a:rPr lang="en-US" sz="2319" spc="134" dirty="0" err="1">
                <a:solidFill>
                  <a:srgbClr val="191919"/>
                </a:solidFill>
                <a:latin typeface="Aileron Regular"/>
                <a:ea typeface="Aileron Regular"/>
                <a:cs typeface="Aileron Regular"/>
                <a:sym typeface="Aileron Regular"/>
              </a:rPr>
              <a:t>efficacement</a:t>
            </a:r>
            <a:r>
              <a:rPr lang="en-US" sz="2319" spc="134" dirty="0">
                <a:solidFill>
                  <a:srgbClr val="191919"/>
                </a:solidFill>
                <a:latin typeface="Aileron Regular"/>
                <a:ea typeface="Aileron Regular"/>
                <a:cs typeface="Aileron Regular"/>
                <a:sym typeface="Aileron Regular"/>
              </a:rPr>
              <a:t> aux situations </a:t>
            </a:r>
            <a:r>
              <a:rPr lang="en-US" sz="2319" spc="134" dirty="0" err="1">
                <a:solidFill>
                  <a:srgbClr val="191919"/>
                </a:solidFill>
                <a:latin typeface="Aileron Regular"/>
                <a:ea typeface="Aileron Regular"/>
                <a:cs typeface="Aileron Regular"/>
                <a:sym typeface="Aileron Regular"/>
              </a:rPr>
              <a:t>d'urgence</a:t>
            </a:r>
            <a:r>
              <a:rPr lang="en-US" sz="2319" spc="134" dirty="0">
                <a:solidFill>
                  <a:srgbClr val="191919"/>
                </a:solidFill>
                <a:latin typeface="Aileron Regular"/>
                <a:ea typeface="Aileron Regular"/>
                <a:cs typeface="Aileron Regular"/>
                <a:sym typeface="Aileron Regular"/>
              </a:rPr>
              <a:t>.</a:t>
            </a:r>
          </a:p>
          <a:p>
            <a:pPr algn="just">
              <a:lnSpc>
                <a:spcPts val="3989"/>
              </a:lnSpc>
            </a:pPr>
            <a:endParaRPr lang="en-US" sz="2319" spc="134" dirty="0">
              <a:solidFill>
                <a:srgbClr val="191919"/>
              </a:solidFill>
              <a:latin typeface="Aileron Regular"/>
              <a:ea typeface="Aileron Regular"/>
              <a:cs typeface="Aileron Regular"/>
              <a:sym typeface="Aileron Regular"/>
            </a:endParaRPr>
          </a:p>
        </p:txBody>
      </p:sp>
      <p:grpSp>
        <p:nvGrpSpPr>
          <p:cNvPr id="18" name="Group 18"/>
          <p:cNvGrpSpPr/>
          <p:nvPr/>
        </p:nvGrpSpPr>
        <p:grpSpPr>
          <a:xfrm>
            <a:off x="304800" y="5095875"/>
            <a:ext cx="6793086" cy="4838700"/>
            <a:chOff x="0" y="0"/>
            <a:chExt cx="971130" cy="691733"/>
          </a:xfrm>
        </p:grpSpPr>
        <p:sp>
          <p:nvSpPr>
            <p:cNvPr id="19" name="Freeform 19"/>
            <p:cNvSpPr/>
            <p:nvPr/>
          </p:nvSpPr>
          <p:spPr>
            <a:xfrm>
              <a:off x="0" y="0"/>
              <a:ext cx="971129" cy="691733"/>
            </a:xfrm>
            <a:custGeom>
              <a:avLst/>
              <a:gdLst/>
              <a:ahLst/>
              <a:cxnLst/>
              <a:rect l="l" t="t" r="r" b="b"/>
              <a:pathLst>
                <a:path w="971129" h="691733">
                  <a:moveTo>
                    <a:pt x="11397" y="0"/>
                  </a:moveTo>
                  <a:lnTo>
                    <a:pt x="959733" y="0"/>
                  </a:lnTo>
                  <a:cubicBezTo>
                    <a:pt x="962755" y="0"/>
                    <a:pt x="965654" y="1201"/>
                    <a:pt x="967791" y="3338"/>
                  </a:cubicBezTo>
                  <a:cubicBezTo>
                    <a:pt x="969929" y="5475"/>
                    <a:pt x="971129" y="8374"/>
                    <a:pt x="971129" y="11397"/>
                  </a:cubicBezTo>
                  <a:lnTo>
                    <a:pt x="971129" y="680337"/>
                  </a:lnTo>
                  <a:cubicBezTo>
                    <a:pt x="971129" y="683359"/>
                    <a:pt x="969929" y="686258"/>
                    <a:pt x="967791" y="688395"/>
                  </a:cubicBezTo>
                  <a:cubicBezTo>
                    <a:pt x="965654" y="690533"/>
                    <a:pt x="962755" y="691733"/>
                    <a:pt x="959733" y="691733"/>
                  </a:cubicBezTo>
                  <a:lnTo>
                    <a:pt x="11397" y="691733"/>
                  </a:lnTo>
                  <a:cubicBezTo>
                    <a:pt x="8374" y="691733"/>
                    <a:pt x="5475" y="690533"/>
                    <a:pt x="3338" y="688395"/>
                  </a:cubicBezTo>
                  <a:cubicBezTo>
                    <a:pt x="1201" y="686258"/>
                    <a:pt x="0" y="683359"/>
                    <a:pt x="0" y="680337"/>
                  </a:cubicBezTo>
                  <a:lnTo>
                    <a:pt x="0" y="11397"/>
                  </a:lnTo>
                  <a:cubicBezTo>
                    <a:pt x="0" y="8374"/>
                    <a:pt x="1201" y="5475"/>
                    <a:pt x="3338" y="3338"/>
                  </a:cubicBezTo>
                  <a:cubicBezTo>
                    <a:pt x="5475" y="1201"/>
                    <a:pt x="8374" y="0"/>
                    <a:pt x="11397" y="0"/>
                  </a:cubicBezTo>
                  <a:close/>
                </a:path>
              </a:pathLst>
            </a:custGeom>
            <a:blipFill>
              <a:blip r:embed="rId15"/>
              <a:stretch>
                <a:fillRect l="-3455" r="-3455"/>
              </a:stretch>
            </a:blipFill>
            <a:ln cap="sq">
              <a:noFill/>
              <a:prstDash val="solid"/>
              <a:miter/>
            </a:ln>
          </p:spPr>
          <p:txBody>
            <a:bodyPr/>
            <a:lstStyle/>
            <a:p>
              <a:endParaRPr lang="en-IN"/>
            </a:p>
          </p:txBody>
        </p:sp>
      </p:grpSp>
      <p:sp>
        <p:nvSpPr>
          <p:cNvPr id="20" name="TextBox 20"/>
          <p:cNvSpPr txBox="1"/>
          <p:nvPr/>
        </p:nvSpPr>
        <p:spPr>
          <a:xfrm>
            <a:off x="7252569" y="5688716"/>
            <a:ext cx="7840073" cy="923925"/>
          </a:xfrm>
          <a:prstGeom prst="rect">
            <a:avLst/>
          </a:prstGeom>
        </p:spPr>
        <p:txBody>
          <a:bodyPr lIns="0" tIns="0" rIns="0" bIns="0" rtlCol="0" anchor="t">
            <a:spAutoFit/>
          </a:bodyPr>
          <a:lstStyle/>
          <a:p>
            <a:pPr algn="l">
              <a:lnSpc>
                <a:spcPts val="3600"/>
              </a:lnSpc>
            </a:pPr>
            <a:r>
              <a:rPr lang="en-US" sz="3000" b="1" spc="30">
                <a:solidFill>
                  <a:srgbClr val="191919"/>
                </a:solidFill>
                <a:latin typeface="Aileron Heavy Bold"/>
                <a:ea typeface="Aileron Heavy Bold"/>
                <a:cs typeface="Aileron Heavy Bold"/>
                <a:sym typeface="Aileron Heavy Bold"/>
              </a:rPr>
              <a:t>GARDIENNAGE DES ENTREPÔTS</a:t>
            </a:r>
          </a:p>
          <a:p>
            <a:pPr algn="l">
              <a:lnSpc>
                <a:spcPts val="3600"/>
              </a:lnSpc>
            </a:pPr>
            <a:endParaRPr lang="en-US" sz="3000" b="1" spc="30">
              <a:solidFill>
                <a:srgbClr val="191919"/>
              </a:solidFill>
              <a:latin typeface="Aileron Heavy Bold"/>
              <a:ea typeface="Aileron Heavy Bold"/>
              <a:cs typeface="Aileron Heavy Bold"/>
              <a:sym typeface="Aileron Heavy Bold"/>
            </a:endParaRPr>
          </a:p>
        </p:txBody>
      </p:sp>
      <p:sp>
        <p:nvSpPr>
          <p:cNvPr id="21" name="TextBox 21"/>
          <p:cNvSpPr txBox="1"/>
          <p:nvPr/>
        </p:nvSpPr>
        <p:spPr>
          <a:xfrm>
            <a:off x="7309719" y="6350859"/>
            <a:ext cx="9717697" cy="2485228"/>
          </a:xfrm>
          <a:prstGeom prst="rect">
            <a:avLst/>
          </a:prstGeom>
        </p:spPr>
        <p:txBody>
          <a:bodyPr lIns="0" tIns="0" rIns="0" bIns="0" rtlCol="0" anchor="t">
            <a:spAutoFit/>
          </a:bodyPr>
          <a:lstStyle/>
          <a:p>
            <a:pPr algn="just">
              <a:lnSpc>
                <a:spcPts val="3989"/>
              </a:lnSpc>
            </a:pPr>
            <a:r>
              <a:rPr lang="en-US" sz="2319" spc="134" dirty="0">
                <a:solidFill>
                  <a:srgbClr val="191919"/>
                </a:solidFill>
                <a:latin typeface="Aileron Regular"/>
                <a:ea typeface="Aileron Regular"/>
                <a:cs typeface="Aileron Regular"/>
                <a:sym typeface="Aileron Regular"/>
              </a:rPr>
              <a:t>G.I.P.S </a:t>
            </a:r>
            <a:r>
              <a:rPr lang="en-US" sz="2319" spc="134" dirty="0" err="1">
                <a:solidFill>
                  <a:srgbClr val="191919"/>
                </a:solidFill>
                <a:latin typeface="Aileron Regular"/>
                <a:ea typeface="Aileron Regular"/>
                <a:cs typeface="Aileron Regular"/>
                <a:sym typeface="Aileron Regular"/>
              </a:rPr>
              <a:t>est</a:t>
            </a:r>
            <a:r>
              <a:rPr lang="en-US" sz="2319" spc="134" dirty="0">
                <a:solidFill>
                  <a:srgbClr val="191919"/>
                </a:solidFill>
                <a:latin typeface="Aileron Regular"/>
                <a:ea typeface="Aileron Regular"/>
                <a:cs typeface="Aileron Regular"/>
                <a:sym typeface="Aileron Regular"/>
              </a:rPr>
              <a:t> </a:t>
            </a:r>
            <a:r>
              <a:rPr lang="en-US" sz="2319" spc="134" dirty="0" err="1">
                <a:solidFill>
                  <a:srgbClr val="191919"/>
                </a:solidFill>
                <a:latin typeface="Aileron Regular"/>
                <a:ea typeface="Aileron Regular"/>
                <a:cs typeface="Aileron Regular"/>
                <a:sym typeface="Aileron Regular"/>
              </a:rPr>
              <a:t>spécialisée</a:t>
            </a:r>
            <a:r>
              <a:rPr lang="en-US" sz="2319" spc="134" dirty="0">
                <a:solidFill>
                  <a:srgbClr val="191919"/>
                </a:solidFill>
                <a:latin typeface="Aileron Regular"/>
                <a:ea typeface="Aileron Regular"/>
                <a:cs typeface="Aileron Regular"/>
                <a:sym typeface="Aileron Regular"/>
              </a:rPr>
              <a:t> dans le </a:t>
            </a:r>
            <a:r>
              <a:rPr lang="en-US" sz="2319" spc="134" dirty="0" err="1">
                <a:solidFill>
                  <a:srgbClr val="191919"/>
                </a:solidFill>
                <a:latin typeface="Aileron Regular"/>
                <a:ea typeface="Aileron Regular"/>
                <a:cs typeface="Aileron Regular"/>
                <a:sym typeface="Aileron Regular"/>
              </a:rPr>
              <a:t>gardiennage</a:t>
            </a:r>
            <a:r>
              <a:rPr lang="en-US" sz="2319" spc="134" dirty="0">
                <a:solidFill>
                  <a:srgbClr val="191919"/>
                </a:solidFill>
                <a:latin typeface="Aileron Regular"/>
                <a:ea typeface="Aileron Regular"/>
                <a:cs typeface="Aileron Regular"/>
                <a:sym typeface="Aileron Regular"/>
              </a:rPr>
              <a:t> des entrepôts et des installations </a:t>
            </a:r>
            <a:r>
              <a:rPr lang="en-US" sz="2319" spc="134" dirty="0" err="1">
                <a:solidFill>
                  <a:srgbClr val="191919"/>
                </a:solidFill>
                <a:latin typeface="Aileron Regular"/>
                <a:ea typeface="Aileron Regular"/>
                <a:cs typeface="Aileron Regular"/>
                <a:sym typeface="Aileron Regular"/>
              </a:rPr>
              <a:t>industrielles</a:t>
            </a:r>
            <a:r>
              <a:rPr lang="en-US" sz="2319" spc="134" dirty="0">
                <a:solidFill>
                  <a:srgbClr val="191919"/>
                </a:solidFill>
                <a:latin typeface="Aileron Regular"/>
                <a:ea typeface="Aileron Regular"/>
                <a:cs typeface="Aileron Regular"/>
                <a:sym typeface="Aileron Regular"/>
              </a:rPr>
              <a:t>. Nos agents de </a:t>
            </a:r>
            <a:r>
              <a:rPr lang="en-US" sz="2319" spc="134" dirty="0" err="1">
                <a:solidFill>
                  <a:srgbClr val="191919"/>
                </a:solidFill>
                <a:latin typeface="Aileron Regular"/>
                <a:ea typeface="Aileron Regular"/>
                <a:cs typeface="Aileron Regular"/>
                <a:sym typeface="Aileron Regular"/>
              </a:rPr>
              <a:t>sécurité</a:t>
            </a:r>
            <a:r>
              <a:rPr lang="en-US" sz="2319" spc="134" dirty="0">
                <a:solidFill>
                  <a:srgbClr val="191919"/>
                </a:solidFill>
                <a:latin typeface="Aileron Regular"/>
                <a:ea typeface="Aileron Regular"/>
                <a:cs typeface="Aileron Regular"/>
                <a:sym typeface="Aileron Regular"/>
              </a:rPr>
              <a:t> </a:t>
            </a:r>
            <a:r>
              <a:rPr lang="en-US" sz="2319" spc="134" dirty="0" err="1">
                <a:solidFill>
                  <a:srgbClr val="191919"/>
                </a:solidFill>
                <a:latin typeface="Aileron Regular"/>
                <a:ea typeface="Aileron Regular"/>
                <a:cs typeface="Aileron Regular"/>
                <a:sym typeface="Aileron Regular"/>
              </a:rPr>
              <a:t>sont</a:t>
            </a:r>
            <a:r>
              <a:rPr lang="en-US" sz="2319" spc="134" dirty="0">
                <a:solidFill>
                  <a:srgbClr val="191919"/>
                </a:solidFill>
                <a:latin typeface="Aileron Regular"/>
                <a:ea typeface="Aileron Regular"/>
                <a:cs typeface="Aileron Regular"/>
                <a:sym typeface="Aileron Regular"/>
              </a:rPr>
              <a:t> </a:t>
            </a:r>
            <a:r>
              <a:rPr lang="en-US" sz="2319" spc="134" dirty="0" err="1">
                <a:solidFill>
                  <a:srgbClr val="191919"/>
                </a:solidFill>
                <a:latin typeface="Aileron Regular"/>
                <a:ea typeface="Aileron Regular"/>
                <a:cs typeface="Aileron Regular"/>
                <a:sym typeface="Aileron Regular"/>
              </a:rPr>
              <a:t>formés</a:t>
            </a:r>
            <a:r>
              <a:rPr lang="en-US" sz="2319" spc="134" dirty="0">
                <a:solidFill>
                  <a:srgbClr val="191919"/>
                </a:solidFill>
                <a:latin typeface="Aileron Regular"/>
                <a:ea typeface="Aileron Regular"/>
                <a:cs typeface="Aileron Regular"/>
                <a:sym typeface="Aileron Regular"/>
              </a:rPr>
              <a:t> pour </a:t>
            </a:r>
            <a:r>
              <a:rPr lang="en-US" sz="2319" spc="134" dirty="0" err="1">
                <a:solidFill>
                  <a:srgbClr val="191919"/>
                </a:solidFill>
                <a:latin typeface="Aileron Regular"/>
                <a:ea typeface="Aileron Regular"/>
                <a:cs typeface="Aileron Regular"/>
                <a:sym typeface="Aileron Regular"/>
              </a:rPr>
              <a:t>surveiller</a:t>
            </a:r>
            <a:r>
              <a:rPr lang="en-US" sz="2319" spc="134" dirty="0">
                <a:solidFill>
                  <a:srgbClr val="191919"/>
                </a:solidFill>
                <a:latin typeface="Aileron Regular"/>
                <a:ea typeface="Aileron Regular"/>
                <a:cs typeface="Aileron Regular"/>
                <a:sym typeface="Aileron Regular"/>
              </a:rPr>
              <a:t> les entrées et sorties, </a:t>
            </a:r>
            <a:r>
              <a:rPr lang="en-US" sz="2319" spc="134" dirty="0" err="1">
                <a:solidFill>
                  <a:srgbClr val="191919"/>
                </a:solidFill>
                <a:latin typeface="Aileron Regular"/>
                <a:ea typeface="Aileron Regular"/>
                <a:cs typeface="Aileron Regular"/>
                <a:sym typeface="Aileron Regular"/>
              </a:rPr>
              <a:t>contrôler</a:t>
            </a:r>
            <a:r>
              <a:rPr lang="en-US" sz="2319" spc="134" dirty="0">
                <a:solidFill>
                  <a:srgbClr val="191919"/>
                </a:solidFill>
                <a:latin typeface="Aileron Regular"/>
                <a:ea typeface="Aileron Regular"/>
                <a:cs typeface="Aileron Regular"/>
                <a:sym typeface="Aileron Regular"/>
              </a:rPr>
              <a:t> les </a:t>
            </a:r>
            <a:r>
              <a:rPr lang="en-US" sz="2319" spc="134" dirty="0" err="1">
                <a:solidFill>
                  <a:srgbClr val="191919"/>
                </a:solidFill>
                <a:latin typeface="Aileron Regular"/>
                <a:ea typeface="Aileron Regular"/>
                <a:cs typeface="Aileron Regular"/>
                <a:sym typeface="Aileron Regular"/>
              </a:rPr>
              <a:t>accès</a:t>
            </a:r>
            <a:r>
              <a:rPr lang="en-US" sz="2319" spc="134" dirty="0">
                <a:solidFill>
                  <a:srgbClr val="191919"/>
                </a:solidFill>
                <a:latin typeface="Aileron Regular"/>
                <a:ea typeface="Aileron Regular"/>
                <a:cs typeface="Aileron Regular"/>
                <a:sym typeface="Aileron Regular"/>
              </a:rPr>
              <a:t> et </a:t>
            </a:r>
            <a:r>
              <a:rPr lang="en-US" sz="2319" spc="134" dirty="0" err="1">
                <a:solidFill>
                  <a:srgbClr val="191919"/>
                </a:solidFill>
                <a:latin typeface="Aileron Regular"/>
                <a:ea typeface="Aileron Regular"/>
                <a:cs typeface="Aileron Regular"/>
                <a:sym typeface="Aileron Regular"/>
              </a:rPr>
              <a:t>prévenir</a:t>
            </a:r>
            <a:r>
              <a:rPr lang="en-US" sz="2319" spc="134" dirty="0">
                <a:solidFill>
                  <a:srgbClr val="191919"/>
                </a:solidFill>
                <a:latin typeface="Aileron Regular"/>
                <a:ea typeface="Aileron Regular"/>
                <a:cs typeface="Aileron Regular"/>
                <a:sym typeface="Aileron Regular"/>
              </a:rPr>
              <a:t> les vols </a:t>
            </a:r>
            <a:r>
              <a:rPr lang="en-US" sz="2319" spc="134" dirty="0" err="1">
                <a:solidFill>
                  <a:srgbClr val="191919"/>
                </a:solidFill>
                <a:latin typeface="Aileron Regular"/>
                <a:ea typeface="Aileron Regular"/>
                <a:cs typeface="Aileron Regular"/>
                <a:sym typeface="Aileron Regular"/>
              </a:rPr>
              <a:t>ou</a:t>
            </a:r>
            <a:r>
              <a:rPr lang="en-US" sz="2319" spc="134" dirty="0">
                <a:solidFill>
                  <a:srgbClr val="191919"/>
                </a:solidFill>
                <a:latin typeface="Aileron Regular"/>
                <a:ea typeface="Aileron Regular"/>
                <a:cs typeface="Aileron Regular"/>
                <a:sym typeface="Aileron Regular"/>
              </a:rPr>
              <a:t> les </a:t>
            </a:r>
            <a:r>
              <a:rPr lang="en-US" sz="2319" spc="134" dirty="0" err="1">
                <a:solidFill>
                  <a:srgbClr val="191919"/>
                </a:solidFill>
                <a:latin typeface="Aileron Regular"/>
                <a:ea typeface="Aileron Regular"/>
                <a:cs typeface="Aileron Regular"/>
                <a:sym typeface="Aileron Regular"/>
              </a:rPr>
              <a:t>actes</a:t>
            </a:r>
            <a:r>
              <a:rPr lang="en-US" sz="2319" spc="134" dirty="0">
                <a:solidFill>
                  <a:srgbClr val="191919"/>
                </a:solidFill>
                <a:latin typeface="Aileron Regular"/>
                <a:ea typeface="Aileron Regular"/>
                <a:cs typeface="Aileron Regular"/>
                <a:sym typeface="Aileron Regular"/>
              </a:rPr>
              <a:t> de </a:t>
            </a:r>
            <a:r>
              <a:rPr lang="en-US" sz="2319" spc="134" dirty="0" err="1">
                <a:solidFill>
                  <a:srgbClr val="191919"/>
                </a:solidFill>
                <a:latin typeface="Aileron Regular"/>
                <a:ea typeface="Aileron Regular"/>
                <a:cs typeface="Aileron Regular"/>
                <a:sym typeface="Aileron Regular"/>
              </a:rPr>
              <a:t>vandalisme</a:t>
            </a:r>
            <a:r>
              <a:rPr lang="en-US" sz="2319" spc="134" dirty="0">
                <a:solidFill>
                  <a:srgbClr val="191919"/>
                </a:solidFill>
                <a:latin typeface="Aileron Regular"/>
                <a:ea typeface="Aileron Regular"/>
                <a:cs typeface="Aileron Regular"/>
                <a:sym typeface="Aileron Regular"/>
              </a:rPr>
              <a:t>.</a:t>
            </a:r>
          </a:p>
          <a:p>
            <a:pPr algn="just">
              <a:lnSpc>
                <a:spcPts val="3989"/>
              </a:lnSpc>
            </a:pPr>
            <a:endParaRPr lang="en-US" sz="2319" spc="134" dirty="0">
              <a:solidFill>
                <a:srgbClr val="191919"/>
              </a:solidFill>
              <a:latin typeface="Aileron Regular"/>
              <a:ea typeface="Aileron Regular"/>
              <a:cs typeface="Aileron Regular"/>
              <a:sym typeface="Aileron Regular"/>
            </a:endParaRPr>
          </a:p>
        </p:txBody>
      </p:sp>
      <p:sp>
        <p:nvSpPr>
          <p:cNvPr id="22" name="Freeform 22"/>
          <p:cNvSpPr/>
          <p:nvPr/>
        </p:nvSpPr>
        <p:spPr>
          <a:xfrm>
            <a:off x="16082068" y="414953"/>
            <a:ext cx="1177232" cy="1185701"/>
          </a:xfrm>
          <a:custGeom>
            <a:avLst/>
            <a:gdLst/>
            <a:ahLst/>
            <a:cxnLst/>
            <a:rect l="l" t="t" r="r" b="b"/>
            <a:pathLst>
              <a:path w="1177232" h="1185701">
                <a:moveTo>
                  <a:pt x="0" y="0"/>
                </a:moveTo>
                <a:lnTo>
                  <a:pt x="1177232" y="0"/>
                </a:lnTo>
                <a:lnTo>
                  <a:pt x="1177232" y="1185702"/>
                </a:lnTo>
                <a:lnTo>
                  <a:pt x="0" y="1185702"/>
                </a:lnTo>
                <a:lnTo>
                  <a:pt x="0" y="0"/>
                </a:lnTo>
                <a:close/>
              </a:path>
            </a:pathLst>
          </a:custGeom>
          <a:blipFill>
            <a:blip r:embed="rId16"/>
            <a:stretch>
              <a:fillRect/>
            </a:stretch>
          </a:blipFill>
        </p:spPr>
        <p:txBody>
          <a:bodyPr/>
          <a:lstStyle/>
          <a:p>
            <a:endParaRPr lang="en-IN"/>
          </a:p>
        </p:txBody>
      </p:sp>
      <p:pic>
        <p:nvPicPr>
          <p:cNvPr id="23" name="Image 22">
            <a:extLst>
              <a:ext uri="{FF2B5EF4-FFF2-40B4-BE49-F238E27FC236}">
                <a16:creationId xmlns:a16="http://schemas.microsoft.com/office/drawing/2014/main" id="{C0EFA6F8-B5E6-4436-BD6F-A669A77281DB}"/>
              </a:ext>
            </a:extLst>
          </p:cNvPr>
          <p:cNvPicPr>
            <a:picLocks noChangeAspect="1"/>
          </p:cNvPicPr>
          <p:nvPr/>
        </p:nvPicPr>
        <p:blipFill rotWithShape="1">
          <a:blip r:embed="rId17" cstate="print">
            <a:extLst>
              <a:ext uri="{28A0092B-C50C-407E-A947-70E740481C1C}">
                <a14:useLocalDpi xmlns:a14="http://schemas.microsoft.com/office/drawing/2010/main" val="0"/>
              </a:ext>
            </a:extLst>
          </a:blip>
          <a:srcRect r="48180" b="50000"/>
          <a:stretch/>
        </p:blipFill>
        <p:spPr>
          <a:xfrm>
            <a:off x="17078959" y="9135676"/>
            <a:ext cx="1209041" cy="115132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741444" flipH="1" flipV="1">
            <a:off x="14659673" y="8304608"/>
            <a:ext cx="7256654" cy="5738804"/>
          </a:xfrm>
          <a:custGeom>
            <a:avLst/>
            <a:gdLst/>
            <a:ahLst/>
            <a:cxnLst/>
            <a:rect l="l" t="t" r="r" b="b"/>
            <a:pathLst>
              <a:path w="7256654" h="5738804">
                <a:moveTo>
                  <a:pt x="7256654" y="5738803"/>
                </a:moveTo>
                <a:lnTo>
                  <a:pt x="0" y="5738803"/>
                </a:lnTo>
                <a:lnTo>
                  <a:pt x="0" y="0"/>
                </a:lnTo>
                <a:lnTo>
                  <a:pt x="7256654" y="0"/>
                </a:lnTo>
                <a:lnTo>
                  <a:pt x="7256654" y="5738803"/>
                </a:lnTo>
                <a:close/>
              </a:path>
            </a:pathLst>
          </a:custGeom>
          <a:blipFill>
            <a:blip r:embed="rId2">
              <a:alphaModFix amt="12000"/>
              <a:extLst>
                <a:ext uri="{96DAC541-7B7A-43D3-8B79-37D633B846F1}">
                  <asvg:svgBlip xmlns:asvg="http://schemas.microsoft.com/office/drawing/2016/SVG/main" xmlns="" r:embed="rId3"/>
                </a:ext>
              </a:extLst>
            </a:blip>
            <a:stretch>
              <a:fillRect/>
            </a:stretch>
          </a:blipFill>
        </p:spPr>
        <p:txBody>
          <a:bodyPr/>
          <a:lstStyle/>
          <a:p>
            <a:endParaRPr lang="en-IN"/>
          </a:p>
        </p:txBody>
      </p:sp>
      <p:sp>
        <p:nvSpPr>
          <p:cNvPr id="3" name="Freeform 3"/>
          <p:cNvSpPr/>
          <p:nvPr/>
        </p:nvSpPr>
        <p:spPr>
          <a:xfrm>
            <a:off x="-4274641" y="8836087"/>
            <a:ext cx="7256654" cy="5738804"/>
          </a:xfrm>
          <a:custGeom>
            <a:avLst/>
            <a:gdLst/>
            <a:ahLst/>
            <a:cxnLst/>
            <a:rect l="l" t="t" r="r" b="b"/>
            <a:pathLst>
              <a:path w="7256654" h="5738804">
                <a:moveTo>
                  <a:pt x="0" y="0"/>
                </a:moveTo>
                <a:lnTo>
                  <a:pt x="7256654" y="0"/>
                </a:lnTo>
                <a:lnTo>
                  <a:pt x="7256654" y="5738804"/>
                </a:lnTo>
                <a:lnTo>
                  <a:pt x="0" y="5738804"/>
                </a:lnTo>
                <a:lnTo>
                  <a:pt x="0" y="0"/>
                </a:lnTo>
                <a:close/>
              </a:path>
            </a:pathLst>
          </a:custGeom>
          <a:blipFill>
            <a:blip r:embed="rId2">
              <a:alphaModFix amt="12000"/>
              <a:extLst>
                <a:ext uri="{96DAC541-7B7A-43D3-8B79-37D633B846F1}">
                  <asvg:svgBlip xmlns:asvg="http://schemas.microsoft.com/office/drawing/2016/SVG/main" xmlns="" r:embed="rId3"/>
                </a:ext>
              </a:extLst>
            </a:blip>
            <a:stretch>
              <a:fillRect/>
            </a:stretch>
          </a:blipFill>
        </p:spPr>
        <p:txBody>
          <a:bodyPr/>
          <a:lstStyle/>
          <a:p>
            <a:endParaRPr lang="en-IN"/>
          </a:p>
        </p:txBody>
      </p:sp>
      <p:sp>
        <p:nvSpPr>
          <p:cNvPr id="4" name="Freeform 4"/>
          <p:cNvSpPr/>
          <p:nvPr/>
        </p:nvSpPr>
        <p:spPr>
          <a:xfrm rot="5400000">
            <a:off x="-1287237" y="1287235"/>
            <a:ext cx="5143500" cy="2569030"/>
          </a:xfrm>
          <a:custGeom>
            <a:avLst/>
            <a:gdLst/>
            <a:ahLst/>
            <a:cxnLst/>
            <a:rect l="l" t="t" r="r" b="b"/>
            <a:pathLst>
              <a:path w="5581408" h="3005069">
                <a:moveTo>
                  <a:pt x="0" y="0"/>
                </a:moveTo>
                <a:lnTo>
                  <a:pt x="5581408" y="0"/>
                </a:lnTo>
                <a:lnTo>
                  <a:pt x="5581408" y="3005069"/>
                </a:lnTo>
                <a:lnTo>
                  <a:pt x="0" y="3005069"/>
                </a:lnTo>
                <a:lnTo>
                  <a:pt x="0" y="0"/>
                </a:lnTo>
                <a:close/>
              </a:path>
            </a:pathLst>
          </a:custGeom>
          <a:blipFill>
            <a:blip r:embed="rId4">
              <a:extLst>
                <a:ext uri="{96DAC541-7B7A-43D3-8B79-37D633B846F1}">
                  <asvg:svgBlip xmlns:asvg="http://schemas.microsoft.com/office/drawing/2016/SVG/main" xmlns="" r:embed="rId5"/>
                </a:ext>
              </a:extLst>
            </a:blip>
            <a:stretch>
              <a:fillRect t="-36928" r="-27109"/>
            </a:stretch>
          </a:blipFill>
        </p:spPr>
        <p:txBody>
          <a:bodyPr/>
          <a:lstStyle/>
          <a:p>
            <a:endParaRPr lang="en-IN"/>
          </a:p>
        </p:txBody>
      </p:sp>
      <p:sp>
        <p:nvSpPr>
          <p:cNvPr id="5" name="Freeform 5"/>
          <p:cNvSpPr/>
          <p:nvPr/>
        </p:nvSpPr>
        <p:spPr>
          <a:xfrm rot="5400000">
            <a:off x="-58423" y="45012"/>
            <a:ext cx="1194502" cy="1077677"/>
          </a:xfrm>
          <a:custGeom>
            <a:avLst/>
            <a:gdLst/>
            <a:ahLst/>
            <a:cxnLst/>
            <a:rect l="l" t="t" r="r" b="b"/>
            <a:pathLst>
              <a:path w="2700592" h="1077675">
                <a:moveTo>
                  <a:pt x="0" y="0"/>
                </a:moveTo>
                <a:lnTo>
                  <a:pt x="2700592" y="0"/>
                </a:lnTo>
                <a:lnTo>
                  <a:pt x="2700592" y="1077674"/>
                </a:lnTo>
                <a:lnTo>
                  <a:pt x="0" y="1077674"/>
                </a:lnTo>
                <a:lnTo>
                  <a:pt x="0" y="0"/>
                </a:lnTo>
                <a:close/>
              </a:path>
            </a:pathLst>
          </a:custGeom>
          <a:blipFill>
            <a:blip r:embed="rId6">
              <a:extLst>
                <a:ext uri="{96DAC541-7B7A-43D3-8B79-37D633B846F1}">
                  <asvg:svgBlip xmlns:asvg="http://schemas.microsoft.com/office/drawing/2016/SVG/main" xmlns="" r:embed="rId7"/>
                </a:ext>
              </a:extLst>
            </a:blip>
            <a:stretch>
              <a:fillRect r="-201989"/>
            </a:stretch>
          </a:blipFill>
        </p:spPr>
        <p:txBody>
          <a:bodyPr/>
          <a:lstStyle/>
          <a:p>
            <a:endParaRPr lang="en-IN"/>
          </a:p>
        </p:txBody>
      </p:sp>
      <p:grpSp>
        <p:nvGrpSpPr>
          <p:cNvPr id="6" name="Group 6"/>
          <p:cNvGrpSpPr/>
          <p:nvPr/>
        </p:nvGrpSpPr>
        <p:grpSpPr>
          <a:xfrm>
            <a:off x="304800" y="304800"/>
            <a:ext cx="6793086" cy="9677400"/>
            <a:chOff x="0" y="0"/>
            <a:chExt cx="971130" cy="1383467"/>
          </a:xfrm>
        </p:grpSpPr>
        <p:sp>
          <p:nvSpPr>
            <p:cNvPr id="7" name="Freeform 7"/>
            <p:cNvSpPr/>
            <p:nvPr/>
          </p:nvSpPr>
          <p:spPr>
            <a:xfrm>
              <a:off x="0" y="0"/>
              <a:ext cx="971129" cy="1383467"/>
            </a:xfrm>
            <a:custGeom>
              <a:avLst/>
              <a:gdLst/>
              <a:ahLst/>
              <a:cxnLst/>
              <a:rect l="l" t="t" r="r" b="b"/>
              <a:pathLst>
                <a:path w="971129" h="1383467">
                  <a:moveTo>
                    <a:pt x="11397" y="0"/>
                  </a:moveTo>
                  <a:lnTo>
                    <a:pt x="959733" y="0"/>
                  </a:lnTo>
                  <a:cubicBezTo>
                    <a:pt x="962755" y="0"/>
                    <a:pt x="965654" y="1201"/>
                    <a:pt x="967791" y="3338"/>
                  </a:cubicBezTo>
                  <a:cubicBezTo>
                    <a:pt x="969929" y="5475"/>
                    <a:pt x="971129" y="8374"/>
                    <a:pt x="971129" y="11397"/>
                  </a:cubicBezTo>
                  <a:lnTo>
                    <a:pt x="971129" y="1372070"/>
                  </a:lnTo>
                  <a:cubicBezTo>
                    <a:pt x="971129" y="1375093"/>
                    <a:pt x="969929" y="1377991"/>
                    <a:pt x="967791" y="1380129"/>
                  </a:cubicBezTo>
                  <a:cubicBezTo>
                    <a:pt x="965654" y="1382266"/>
                    <a:pt x="962755" y="1383467"/>
                    <a:pt x="959733" y="1383467"/>
                  </a:cubicBezTo>
                  <a:lnTo>
                    <a:pt x="11397" y="1383467"/>
                  </a:lnTo>
                  <a:cubicBezTo>
                    <a:pt x="8374" y="1383467"/>
                    <a:pt x="5475" y="1382266"/>
                    <a:pt x="3338" y="1380129"/>
                  </a:cubicBezTo>
                  <a:cubicBezTo>
                    <a:pt x="1201" y="1377991"/>
                    <a:pt x="0" y="1375093"/>
                    <a:pt x="0" y="1372070"/>
                  </a:cubicBezTo>
                  <a:lnTo>
                    <a:pt x="0" y="11397"/>
                  </a:lnTo>
                  <a:cubicBezTo>
                    <a:pt x="0" y="8374"/>
                    <a:pt x="1201" y="5475"/>
                    <a:pt x="3338" y="3338"/>
                  </a:cubicBezTo>
                  <a:cubicBezTo>
                    <a:pt x="5475" y="1201"/>
                    <a:pt x="8374" y="0"/>
                    <a:pt x="11397" y="0"/>
                  </a:cubicBezTo>
                  <a:close/>
                </a:path>
              </a:pathLst>
            </a:custGeom>
            <a:blipFill>
              <a:blip r:embed="rId8"/>
              <a:stretch>
                <a:fillRect t="-2172" b="-2172"/>
              </a:stretch>
            </a:blipFill>
            <a:ln cap="sq">
              <a:noFill/>
              <a:prstDash val="solid"/>
              <a:miter/>
            </a:ln>
          </p:spPr>
          <p:txBody>
            <a:bodyPr/>
            <a:lstStyle/>
            <a:p>
              <a:endParaRPr lang="en-IN"/>
            </a:p>
          </p:txBody>
        </p:sp>
      </p:grpSp>
      <p:grpSp>
        <p:nvGrpSpPr>
          <p:cNvPr id="8" name="Group 8"/>
          <p:cNvGrpSpPr/>
          <p:nvPr/>
        </p:nvGrpSpPr>
        <p:grpSpPr>
          <a:xfrm>
            <a:off x="7097886" y="414953"/>
            <a:ext cx="5819427" cy="967740"/>
            <a:chOff x="0" y="0"/>
            <a:chExt cx="1532689" cy="254878"/>
          </a:xfrm>
        </p:grpSpPr>
        <p:sp>
          <p:nvSpPr>
            <p:cNvPr id="9" name="Freeform 9"/>
            <p:cNvSpPr/>
            <p:nvPr/>
          </p:nvSpPr>
          <p:spPr>
            <a:xfrm>
              <a:off x="0" y="0"/>
              <a:ext cx="1532689" cy="254878"/>
            </a:xfrm>
            <a:custGeom>
              <a:avLst/>
              <a:gdLst/>
              <a:ahLst/>
              <a:cxnLst/>
              <a:rect l="l" t="t" r="r" b="b"/>
              <a:pathLst>
                <a:path w="1532689" h="254878">
                  <a:moveTo>
                    <a:pt x="13304" y="0"/>
                  </a:moveTo>
                  <a:lnTo>
                    <a:pt x="1519385" y="0"/>
                  </a:lnTo>
                  <a:cubicBezTo>
                    <a:pt x="1526732" y="0"/>
                    <a:pt x="1532689" y="5956"/>
                    <a:pt x="1532689" y="13304"/>
                  </a:cubicBezTo>
                  <a:lnTo>
                    <a:pt x="1532689" y="241574"/>
                  </a:lnTo>
                  <a:cubicBezTo>
                    <a:pt x="1532689" y="248922"/>
                    <a:pt x="1526732" y="254878"/>
                    <a:pt x="1519385" y="254878"/>
                  </a:cubicBezTo>
                  <a:lnTo>
                    <a:pt x="13304" y="254878"/>
                  </a:lnTo>
                  <a:cubicBezTo>
                    <a:pt x="5956" y="254878"/>
                    <a:pt x="0" y="248922"/>
                    <a:pt x="0" y="241574"/>
                  </a:cubicBezTo>
                  <a:lnTo>
                    <a:pt x="0" y="13304"/>
                  </a:lnTo>
                  <a:cubicBezTo>
                    <a:pt x="0" y="5956"/>
                    <a:pt x="5956" y="0"/>
                    <a:pt x="13304" y="0"/>
                  </a:cubicBezTo>
                  <a:close/>
                </a:path>
              </a:pathLst>
            </a:custGeom>
            <a:solidFill>
              <a:srgbClr val="2C92D5"/>
            </a:solidFill>
          </p:spPr>
          <p:txBody>
            <a:bodyPr/>
            <a:lstStyle/>
            <a:p>
              <a:endParaRPr lang="en-IN"/>
            </a:p>
          </p:txBody>
        </p:sp>
        <p:sp>
          <p:nvSpPr>
            <p:cNvPr id="10" name="TextBox 10"/>
            <p:cNvSpPr txBox="1"/>
            <p:nvPr/>
          </p:nvSpPr>
          <p:spPr>
            <a:xfrm>
              <a:off x="0" y="-200025"/>
              <a:ext cx="1532689" cy="454903"/>
            </a:xfrm>
            <a:prstGeom prst="rect">
              <a:avLst/>
            </a:prstGeom>
          </p:spPr>
          <p:txBody>
            <a:bodyPr lIns="50800" tIns="50800" rIns="50800" bIns="50800" rtlCol="0" anchor="ctr"/>
            <a:lstStyle/>
            <a:p>
              <a:pPr algn="ctr">
                <a:lnSpc>
                  <a:spcPts val="5040"/>
                </a:lnSpc>
              </a:pPr>
              <a:endParaRPr/>
            </a:p>
          </p:txBody>
        </p:sp>
      </p:grpSp>
      <p:sp>
        <p:nvSpPr>
          <p:cNvPr id="11" name="Freeform 11"/>
          <p:cNvSpPr/>
          <p:nvPr/>
        </p:nvSpPr>
        <p:spPr>
          <a:xfrm>
            <a:off x="6909601" y="2316393"/>
            <a:ext cx="400118" cy="326096"/>
          </a:xfrm>
          <a:custGeom>
            <a:avLst/>
            <a:gdLst/>
            <a:ahLst/>
            <a:cxnLst/>
            <a:rect l="l" t="t" r="r" b="b"/>
            <a:pathLst>
              <a:path w="400118" h="326096">
                <a:moveTo>
                  <a:pt x="0" y="0"/>
                </a:moveTo>
                <a:lnTo>
                  <a:pt x="400118" y="0"/>
                </a:lnTo>
                <a:lnTo>
                  <a:pt x="400118" y="326097"/>
                </a:lnTo>
                <a:lnTo>
                  <a:pt x="0" y="326097"/>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txBody>
          <a:bodyPr/>
          <a:lstStyle/>
          <a:p>
            <a:endParaRPr lang="en-IN"/>
          </a:p>
        </p:txBody>
      </p:sp>
      <p:sp>
        <p:nvSpPr>
          <p:cNvPr id="12" name="TextBox 12"/>
          <p:cNvSpPr txBox="1"/>
          <p:nvPr/>
        </p:nvSpPr>
        <p:spPr>
          <a:xfrm>
            <a:off x="7403324" y="527424"/>
            <a:ext cx="6117771" cy="809473"/>
          </a:xfrm>
          <a:prstGeom prst="rect">
            <a:avLst/>
          </a:prstGeom>
        </p:spPr>
        <p:txBody>
          <a:bodyPr lIns="0" tIns="0" rIns="0" bIns="0" rtlCol="0" anchor="t">
            <a:spAutoFit/>
          </a:bodyPr>
          <a:lstStyle/>
          <a:p>
            <a:pPr algn="l">
              <a:lnSpc>
                <a:spcPts val="6163"/>
              </a:lnSpc>
            </a:pPr>
            <a:r>
              <a:rPr lang="en-US" sz="5759" spc="57">
                <a:solidFill>
                  <a:srgbClr val="FFFFFF"/>
                </a:solidFill>
                <a:latin typeface="Aileron Heavy"/>
                <a:ea typeface="Aileron Heavy"/>
                <a:cs typeface="Aileron Heavy"/>
                <a:sym typeface="Aileron Heavy"/>
              </a:rPr>
              <a:t>NOS SERVICES</a:t>
            </a:r>
          </a:p>
        </p:txBody>
      </p:sp>
      <p:sp>
        <p:nvSpPr>
          <p:cNvPr id="14" name="Freeform 14"/>
          <p:cNvSpPr/>
          <p:nvPr/>
        </p:nvSpPr>
        <p:spPr>
          <a:xfrm>
            <a:off x="8001000" y="-13401"/>
            <a:ext cx="1710142" cy="323916"/>
          </a:xfrm>
          <a:custGeom>
            <a:avLst/>
            <a:gdLst/>
            <a:ahLst/>
            <a:cxnLst/>
            <a:rect l="l" t="t" r="r" b="b"/>
            <a:pathLst>
              <a:path w="1699256" h="1019554">
                <a:moveTo>
                  <a:pt x="0" y="0"/>
                </a:moveTo>
                <a:lnTo>
                  <a:pt x="1699256" y="0"/>
                </a:lnTo>
                <a:lnTo>
                  <a:pt x="1699256" y="1019554"/>
                </a:lnTo>
                <a:lnTo>
                  <a:pt x="0" y="1019554"/>
                </a:lnTo>
                <a:lnTo>
                  <a:pt x="0" y="0"/>
                </a:lnTo>
                <a:close/>
              </a:path>
            </a:pathLst>
          </a:custGeom>
          <a:blipFill>
            <a:blip r:embed="rId11">
              <a:extLst>
                <a:ext uri="{96DAC541-7B7A-43D3-8B79-37D633B846F1}">
                  <asvg:svgBlip xmlns:asvg="http://schemas.microsoft.com/office/drawing/2016/SVG/main" xmlns="" r:embed="rId12"/>
                </a:ext>
              </a:extLst>
            </a:blip>
            <a:stretch>
              <a:fillRect l="636" t="-214759" r="1"/>
            </a:stretch>
          </a:blipFill>
        </p:spPr>
        <p:txBody>
          <a:bodyPr/>
          <a:lstStyle/>
          <a:p>
            <a:endParaRPr lang="en-IN"/>
          </a:p>
        </p:txBody>
      </p:sp>
      <p:sp>
        <p:nvSpPr>
          <p:cNvPr id="15" name="Freeform 15"/>
          <p:cNvSpPr/>
          <p:nvPr/>
        </p:nvSpPr>
        <p:spPr>
          <a:xfrm>
            <a:off x="17774614" y="-137234"/>
            <a:ext cx="677531" cy="552187"/>
          </a:xfrm>
          <a:custGeom>
            <a:avLst/>
            <a:gdLst/>
            <a:ahLst/>
            <a:cxnLst/>
            <a:rect l="l" t="t" r="r" b="b"/>
            <a:pathLst>
              <a:path w="677531" h="552187">
                <a:moveTo>
                  <a:pt x="0" y="0"/>
                </a:moveTo>
                <a:lnTo>
                  <a:pt x="677530" y="0"/>
                </a:lnTo>
                <a:lnTo>
                  <a:pt x="677530" y="552187"/>
                </a:lnTo>
                <a:lnTo>
                  <a:pt x="0" y="552187"/>
                </a:lnTo>
                <a:lnTo>
                  <a:pt x="0" y="0"/>
                </a:lnTo>
                <a:close/>
              </a:path>
            </a:pathLst>
          </a:custGeom>
          <a:blipFill>
            <a:blip r:embed="rId13">
              <a:extLst>
                <a:ext uri="{96DAC541-7B7A-43D3-8B79-37D633B846F1}">
                  <asvg:svgBlip xmlns:asvg="http://schemas.microsoft.com/office/drawing/2016/SVG/main" xmlns="" r:embed="rId14"/>
                </a:ext>
              </a:extLst>
            </a:blip>
            <a:stretch>
              <a:fillRect/>
            </a:stretch>
          </a:blipFill>
        </p:spPr>
        <p:txBody>
          <a:bodyPr/>
          <a:lstStyle/>
          <a:p>
            <a:endParaRPr lang="en-IN"/>
          </a:p>
        </p:txBody>
      </p:sp>
      <p:sp>
        <p:nvSpPr>
          <p:cNvPr id="16" name="TextBox 16"/>
          <p:cNvSpPr txBox="1"/>
          <p:nvPr/>
        </p:nvSpPr>
        <p:spPr>
          <a:xfrm>
            <a:off x="7541603" y="2528190"/>
            <a:ext cx="9717697" cy="8013030"/>
          </a:xfrm>
          <a:prstGeom prst="rect">
            <a:avLst/>
          </a:prstGeom>
        </p:spPr>
        <p:txBody>
          <a:bodyPr lIns="0" tIns="0" rIns="0" bIns="0" rtlCol="0" anchor="t">
            <a:spAutoFit/>
          </a:bodyPr>
          <a:lstStyle/>
          <a:p>
            <a:pPr algn="just">
              <a:lnSpc>
                <a:spcPts val="3989"/>
              </a:lnSpc>
            </a:pPr>
            <a:r>
              <a:rPr lang="en-US" sz="2319" spc="134">
                <a:solidFill>
                  <a:srgbClr val="191919"/>
                </a:solidFill>
                <a:latin typeface="Aileron Regular"/>
                <a:ea typeface="Aileron Regular"/>
                <a:cs typeface="Aileron Regular"/>
                <a:sym typeface="Aileron Regular"/>
              </a:rPr>
              <a:t>Nous offrons des services de sécurité complets pour garantir la protection des chantiers de construction contre divers risques, notamment le vol, le vandalisme et les accidents. Nos solutions sont conçues pour répondre aux besoins spécifiques de chaque chantier, assurant ainsi une protection maximale.</a:t>
            </a:r>
          </a:p>
          <a:p>
            <a:pPr algn="just">
              <a:lnSpc>
                <a:spcPts val="3989"/>
              </a:lnSpc>
            </a:pPr>
            <a:r>
              <a:rPr lang="en-US" sz="2319" spc="134">
                <a:solidFill>
                  <a:srgbClr val="191919"/>
                </a:solidFill>
                <a:latin typeface="Aileron Regular"/>
                <a:ea typeface="Aileron Regular"/>
                <a:cs typeface="Aileron Regular"/>
                <a:sym typeface="Aileron Regular"/>
              </a:rPr>
              <a:t>Nos agents sont spécialement formés pour faire face aux défis uniques des environnements de construction. Ils sont équipés pour gérer les situations d'urgence, telles que les incendies, les accidents du travail et les intrusions non autorisées.En choisissant nos services de sécurité, vous pouvez avoir l'esprit tranquille en sachant que vos chantiers de construction sont protégés par des professionnels dévoués et compétents. Nous nous engageons à assurer la sécurité et la continuité de vos opérations, vous permettant ainsi de vous concentrer sur l'avancement de vos projets.</a:t>
            </a:r>
          </a:p>
          <a:p>
            <a:pPr algn="just">
              <a:lnSpc>
                <a:spcPts val="3818"/>
              </a:lnSpc>
            </a:pPr>
            <a:endParaRPr lang="en-US" sz="2319" spc="134">
              <a:solidFill>
                <a:srgbClr val="191919"/>
              </a:solidFill>
              <a:latin typeface="Aileron Regular"/>
              <a:ea typeface="Aileron Regular"/>
              <a:cs typeface="Aileron Regular"/>
              <a:sym typeface="Aileron Regular"/>
            </a:endParaRPr>
          </a:p>
        </p:txBody>
      </p:sp>
      <p:sp>
        <p:nvSpPr>
          <p:cNvPr id="17" name="TextBox 17"/>
          <p:cNvSpPr txBox="1"/>
          <p:nvPr/>
        </p:nvSpPr>
        <p:spPr>
          <a:xfrm>
            <a:off x="7309719" y="1525568"/>
            <a:ext cx="8314724" cy="1381125"/>
          </a:xfrm>
          <a:prstGeom prst="rect">
            <a:avLst/>
          </a:prstGeom>
        </p:spPr>
        <p:txBody>
          <a:bodyPr lIns="0" tIns="0" rIns="0" bIns="0" rtlCol="0" anchor="t">
            <a:spAutoFit/>
          </a:bodyPr>
          <a:lstStyle/>
          <a:p>
            <a:pPr algn="l">
              <a:lnSpc>
                <a:spcPts val="3600"/>
              </a:lnSpc>
            </a:pPr>
            <a:r>
              <a:rPr lang="en-US" sz="3000" b="1" spc="30">
                <a:solidFill>
                  <a:srgbClr val="191919"/>
                </a:solidFill>
                <a:latin typeface="Aileron Heavy Bold"/>
                <a:ea typeface="Aileron Heavy Bold"/>
                <a:cs typeface="Aileron Heavy Bold"/>
                <a:sym typeface="Aileron Heavy Bold"/>
              </a:rPr>
              <a:t>LA SURETÉ DES CHANTIERS DE CONSTRUCTION (BTP)</a:t>
            </a:r>
          </a:p>
          <a:p>
            <a:pPr algn="l">
              <a:lnSpc>
                <a:spcPts val="3600"/>
              </a:lnSpc>
            </a:pPr>
            <a:endParaRPr lang="en-US" sz="3000" b="1" spc="30">
              <a:solidFill>
                <a:srgbClr val="191919"/>
              </a:solidFill>
              <a:latin typeface="Aileron Heavy Bold"/>
              <a:ea typeface="Aileron Heavy Bold"/>
              <a:cs typeface="Aileron Heavy Bold"/>
              <a:sym typeface="Aileron Heavy Bold"/>
            </a:endParaRPr>
          </a:p>
        </p:txBody>
      </p:sp>
      <p:sp>
        <p:nvSpPr>
          <p:cNvPr id="18" name="Freeform 18"/>
          <p:cNvSpPr/>
          <p:nvPr/>
        </p:nvSpPr>
        <p:spPr>
          <a:xfrm>
            <a:off x="16082068" y="414953"/>
            <a:ext cx="1177232" cy="1185701"/>
          </a:xfrm>
          <a:custGeom>
            <a:avLst/>
            <a:gdLst/>
            <a:ahLst/>
            <a:cxnLst/>
            <a:rect l="l" t="t" r="r" b="b"/>
            <a:pathLst>
              <a:path w="1177232" h="1185701">
                <a:moveTo>
                  <a:pt x="0" y="0"/>
                </a:moveTo>
                <a:lnTo>
                  <a:pt x="1177232" y="0"/>
                </a:lnTo>
                <a:lnTo>
                  <a:pt x="1177232" y="1185702"/>
                </a:lnTo>
                <a:lnTo>
                  <a:pt x="0" y="1185702"/>
                </a:lnTo>
                <a:lnTo>
                  <a:pt x="0" y="0"/>
                </a:lnTo>
                <a:close/>
              </a:path>
            </a:pathLst>
          </a:custGeom>
          <a:blipFill>
            <a:blip r:embed="rId15"/>
            <a:stretch>
              <a:fillRect/>
            </a:stretch>
          </a:blipFill>
        </p:spPr>
        <p:txBody>
          <a:bodyPr/>
          <a:lstStyle/>
          <a:p>
            <a:endParaRPr lang="en-IN"/>
          </a:p>
        </p:txBody>
      </p:sp>
      <p:pic>
        <p:nvPicPr>
          <p:cNvPr id="19" name="Image 18">
            <a:extLst>
              <a:ext uri="{FF2B5EF4-FFF2-40B4-BE49-F238E27FC236}">
                <a16:creationId xmlns:a16="http://schemas.microsoft.com/office/drawing/2014/main" id="{B1B43C94-854D-4AD2-8513-95F138F5EBFF}"/>
              </a:ext>
            </a:extLst>
          </p:cNvPr>
          <p:cNvPicPr>
            <a:picLocks noChangeAspect="1"/>
          </p:cNvPicPr>
          <p:nvPr/>
        </p:nvPicPr>
        <p:blipFill rotWithShape="1">
          <a:blip r:embed="rId16" cstate="print">
            <a:extLst>
              <a:ext uri="{28A0092B-C50C-407E-A947-70E740481C1C}">
                <a14:useLocalDpi xmlns:a14="http://schemas.microsoft.com/office/drawing/2010/main" val="0"/>
              </a:ext>
            </a:extLst>
          </a:blip>
          <a:srcRect r="48180" b="50000"/>
          <a:stretch/>
        </p:blipFill>
        <p:spPr>
          <a:xfrm>
            <a:off x="17078959" y="9135676"/>
            <a:ext cx="1209041" cy="115132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741444" flipH="1" flipV="1">
            <a:off x="14659673" y="8304608"/>
            <a:ext cx="7256654" cy="5738804"/>
          </a:xfrm>
          <a:custGeom>
            <a:avLst/>
            <a:gdLst/>
            <a:ahLst/>
            <a:cxnLst/>
            <a:rect l="l" t="t" r="r" b="b"/>
            <a:pathLst>
              <a:path w="7256654" h="5738804">
                <a:moveTo>
                  <a:pt x="7256654" y="5738803"/>
                </a:moveTo>
                <a:lnTo>
                  <a:pt x="0" y="5738803"/>
                </a:lnTo>
                <a:lnTo>
                  <a:pt x="0" y="0"/>
                </a:lnTo>
                <a:lnTo>
                  <a:pt x="7256654" y="0"/>
                </a:lnTo>
                <a:lnTo>
                  <a:pt x="7256654" y="5738803"/>
                </a:lnTo>
                <a:close/>
              </a:path>
            </a:pathLst>
          </a:custGeom>
          <a:blipFill>
            <a:blip r:embed="rId2">
              <a:alphaModFix amt="12000"/>
              <a:extLst>
                <a:ext uri="{96DAC541-7B7A-43D3-8B79-37D633B846F1}">
                  <asvg:svgBlip xmlns:asvg="http://schemas.microsoft.com/office/drawing/2016/SVG/main" xmlns="" r:embed="rId3"/>
                </a:ext>
              </a:extLst>
            </a:blip>
            <a:stretch>
              <a:fillRect/>
            </a:stretch>
          </a:blipFill>
        </p:spPr>
        <p:txBody>
          <a:bodyPr/>
          <a:lstStyle/>
          <a:p>
            <a:endParaRPr lang="en-IN"/>
          </a:p>
        </p:txBody>
      </p:sp>
      <p:sp>
        <p:nvSpPr>
          <p:cNvPr id="3" name="Freeform 3"/>
          <p:cNvSpPr/>
          <p:nvPr/>
        </p:nvSpPr>
        <p:spPr>
          <a:xfrm>
            <a:off x="-4274641" y="8836087"/>
            <a:ext cx="7256654" cy="5738804"/>
          </a:xfrm>
          <a:custGeom>
            <a:avLst/>
            <a:gdLst/>
            <a:ahLst/>
            <a:cxnLst/>
            <a:rect l="l" t="t" r="r" b="b"/>
            <a:pathLst>
              <a:path w="7256654" h="5738804">
                <a:moveTo>
                  <a:pt x="0" y="0"/>
                </a:moveTo>
                <a:lnTo>
                  <a:pt x="7256654" y="0"/>
                </a:lnTo>
                <a:lnTo>
                  <a:pt x="7256654" y="5738804"/>
                </a:lnTo>
                <a:lnTo>
                  <a:pt x="0" y="5738804"/>
                </a:lnTo>
                <a:lnTo>
                  <a:pt x="0" y="0"/>
                </a:lnTo>
                <a:close/>
              </a:path>
            </a:pathLst>
          </a:custGeom>
          <a:blipFill>
            <a:blip r:embed="rId2">
              <a:alphaModFix amt="12000"/>
              <a:extLst>
                <a:ext uri="{96DAC541-7B7A-43D3-8B79-37D633B846F1}">
                  <asvg:svgBlip xmlns:asvg="http://schemas.microsoft.com/office/drawing/2016/SVG/main" xmlns="" r:embed="rId3"/>
                </a:ext>
              </a:extLst>
            </a:blip>
            <a:stretch>
              <a:fillRect/>
            </a:stretch>
          </a:blipFill>
        </p:spPr>
        <p:txBody>
          <a:bodyPr/>
          <a:lstStyle/>
          <a:p>
            <a:endParaRPr lang="en-IN"/>
          </a:p>
        </p:txBody>
      </p:sp>
      <p:sp>
        <p:nvSpPr>
          <p:cNvPr id="4" name="Freeform 4"/>
          <p:cNvSpPr/>
          <p:nvPr/>
        </p:nvSpPr>
        <p:spPr>
          <a:xfrm rot="5400000">
            <a:off x="-2599134" y="2161225"/>
            <a:ext cx="10372483" cy="5174219"/>
          </a:xfrm>
          <a:custGeom>
            <a:avLst/>
            <a:gdLst/>
            <a:ahLst/>
            <a:cxnLst/>
            <a:rect l="l" t="t" r="r" b="b"/>
            <a:pathLst>
              <a:path w="10420108" h="5610259">
                <a:moveTo>
                  <a:pt x="0" y="0"/>
                </a:moveTo>
                <a:lnTo>
                  <a:pt x="10420108" y="0"/>
                </a:lnTo>
                <a:lnTo>
                  <a:pt x="10420108" y="5610259"/>
                </a:lnTo>
                <a:lnTo>
                  <a:pt x="0" y="5610259"/>
                </a:lnTo>
                <a:lnTo>
                  <a:pt x="0" y="0"/>
                </a:lnTo>
                <a:close/>
              </a:path>
            </a:pathLst>
          </a:custGeom>
          <a:blipFill>
            <a:blip r:embed="rId4">
              <a:extLst>
                <a:ext uri="{96DAC541-7B7A-43D3-8B79-37D633B846F1}">
                  <asvg:svgBlip xmlns:asvg="http://schemas.microsoft.com/office/drawing/2016/SVG/main" xmlns="" r:embed="rId5"/>
                </a:ext>
              </a:extLst>
            </a:blip>
            <a:stretch>
              <a:fillRect l="-472" t="-36928" r="-26636"/>
            </a:stretch>
          </a:blipFill>
        </p:spPr>
        <p:txBody>
          <a:bodyPr/>
          <a:lstStyle/>
          <a:p>
            <a:endParaRPr lang="en-IN"/>
          </a:p>
        </p:txBody>
      </p:sp>
      <p:sp>
        <p:nvSpPr>
          <p:cNvPr id="5" name="Freeform 5"/>
          <p:cNvSpPr/>
          <p:nvPr/>
        </p:nvSpPr>
        <p:spPr>
          <a:xfrm rot="5400000">
            <a:off x="-219279" y="-219278"/>
            <a:ext cx="1466610" cy="1029347"/>
          </a:xfrm>
          <a:custGeom>
            <a:avLst/>
            <a:gdLst/>
            <a:ahLst/>
            <a:cxnLst/>
            <a:rect l="l" t="t" r="r" b="b"/>
            <a:pathLst>
              <a:path w="2700592" h="1077675">
                <a:moveTo>
                  <a:pt x="0" y="0"/>
                </a:moveTo>
                <a:lnTo>
                  <a:pt x="2700592" y="0"/>
                </a:lnTo>
                <a:lnTo>
                  <a:pt x="2700592" y="1077674"/>
                </a:lnTo>
                <a:lnTo>
                  <a:pt x="0" y="1077674"/>
                </a:lnTo>
                <a:lnTo>
                  <a:pt x="0" y="0"/>
                </a:lnTo>
                <a:close/>
              </a:path>
            </a:pathLst>
          </a:custGeom>
          <a:blipFill>
            <a:blip r:embed="rId6">
              <a:extLst>
                <a:ext uri="{96DAC541-7B7A-43D3-8B79-37D633B846F1}">
                  <asvg:svgBlip xmlns:asvg="http://schemas.microsoft.com/office/drawing/2016/SVG/main" xmlns="" r:embed="rId7"/>
                </a:ext>
              </a:extLst>
            </a:blip>
            <a:stretch>
              <a:fillRect l="-75798" t="17979" r="-70162" b="-22674"/>
            </a:stretch>
          </a:blipFill>
        </p:spPr>
        <p:txBody>
          <a:bodyPr/>
          <a:lstStyle/>
          <a:p>
            <a:endParaRPr lang="en-IN"/>
          </a:p>
        </p:txBody>
      </p:sp>
      <p:grpSp>
        <p:nvGrpSpPr>
          <p:cNvPr id="6" name="Group 6"/>
          <p:cNvGrpSpPr/>
          <p:nvPr/>
        </p:nvGrpSpPr>
        <p:grpSpPr>
          <a:xfrm>
            <a:off x="304800" y="304800"/>
            <a:ext cx="6793086" cy="4838700"/>
            <a:chOff x="0" y="0"/>
            <a:chExt cx="971130" cy="691733"/>
          </a:xfrm>
        </p:grpSpPr>
        <p:sp>
          <p:nvSpPr>
            <p:cNvPr id="7" name="Freeform 7"/>
            <p:cNvSpPr/>
            <p:nvPr/>
          </p:nvSpPr>
          <p:spPr>
            <a:xfrm>
              <a:off x="0" y="0"/>
              <a:ext cx="971129" cy="691733"/>
            </a:xfrm>
            <a:custGeom>
              <a:avLst/>
              <a:gdLst/>
              <a:ahLst/>
              <a:cxnLst/>
              <a:rect l="l" t="t" r="r" b="b"/>
              <a:pathLst>
                <a:path w="971129" h="691733">
                  <a:moveTo>
                    <a:pt x="11397" y="0"/>
                  </a:moveTo>
                  <a:lnTo>
                    <a:pt x="959733" y="0"/>
                  </a:lnTo>
                  <a:cubicBezTo>
                    <a:pt x="962755" y="0"/>
                    <a:pt x="965654" y="1201"/>
                    <a:pt x="967791" y="3338"/>
                  </a:cubicBezTo>
                  <a:cubicBezTo>
                    <a:pt x="969929" y="5475"/>
                    <a:pt x="971129" y="8374"/>
                    <a:pt x="971129" y="11397"/>
                  </a:cubicBezTo>
                  <a:lnTo>
                    <a:pt x="971129" y="680337"/>
                  </a:lnTo>
                  <a:cubicBezTo>
                    <a:pt x="971129" y="683359"/>
                    <a:pt x="969929" y="686258"/>
                    <a:pt x="967791" y="688395"/>
                  </a:cubicBezTo>
                  <a:cubicBezTo>
                    <a:pt x="965654" y="690533"/>
                    <a:pt x="962755" y="691733"/>
                    <a:pt x="959733" y="691733"/>
                  </a:cubicBezTo>
                  <a:lnTo>
                    <a:pt x="11397" y="691733"/>
                  </a:lnTo>
                  <a:cubicBezTo>
                    <a:pt x="8374" y="691733"/>
                    <a:pt x="5475" y="690533"/>
                    <a:pt x="3338" y="688395"/>
                  </a:cubicBezTo>
                  <a:cubicBezTo>
                    <a:pt x="1201" y="686258"/>
                    <a:pt x="0" y="683359"/>
                    <a:pt x="0" y="680337"/>
                  </a:cubicBezTo>
                  <a:lnTo>
                    <a:pt x="0" y="11397"/>
                  </a:lnTo>
                  <a:cubicBezTo>
                    <a:pt x="0" y="8374"/>
                    <a:pt x="1201" y="5475"/>
                    <a:pt x="3338" y="3338"/>
                  </a:cubicBezTo>
                  <a:cubicBezTo>
                    <a:pt x="5475" y="1201"/>
                    <a:pt x="8374" y="0"/>
                    <a:pt x="11397" y="0"/>
                  </a:cubicBezTo>
                  <a:close/>
                </a:path>
              </a:pathLst>
            </a:custGeom>
            <a:blipFill>
              <a:blip r:embed="rId8"/>
              <a:stretch>
                <a:fillRect l="-3455" r="-3455"/>
              </a:stretch>
            </a:blipFill>
            <a:ln cap="sq">
              <a:noFill/>
              <a:prstDash val="solid"/>
              <a:miter/>
            </a:ln>
          </p:spPr>
          <p:txBody>
            <a:bodyPr/>
            <a:lstStyle/>
            <a:p>
              <a:endParaRPr lang="en-IN"/>
            </a:p>
          </p:txBody>
        </p:sp>
      </p:grpSp>
      <p:grpSp>
        <p:nvGrpSpPr>
          <p:cNvPr id="8" name="Group 8"/>
          <p:cNvGrpSpPr/>
          <p:nvPr/>
        </p:nvGrpSpPr>
        <p:grpSpPr>
          <a:xfrm>
            <a:off x="7097886" y="414953"/>
            <a:ext cx="5819427" cy="967740"/>
            <a:chOff x="0" y="0"/>
            <a:chExt cx="1532689" cy="254878"/>
          </a:xfrm>
        </p:grpSpPr>
        <p:sp>
          <p:nvSpPr>
            <p:cNvPr id="9" name="Freeform 9"/>
            <p:cNvSpPr/>
            <p:nvPr/>
          </p:nvSpPr>
          <p:spPr>
            <a:xfrm>
              <a:off x="0" y="0"/>
              <a:ext cx="1532689" cy="254878"/>
            </a:xfrm>
            <a:custGeom>
              <a:avLst/>
              <a:gdLst/>
              <a:ahLst/>
              <a:cxnLst/>
              <a:rect l="l" t="t" r="r" b="b"/>
              <a:pathLst>
                <a:path w="1532689" h="254878">
                  <a:moveTo>
                    <a:pt x="13304" y="0"/>
                  </a:moveTo>
                  <a:lnTo>
                    <a:pt x="1519385" y="0"/>
                  </a:lnTo>
                  <a:cubicBezTo>
                    <a:pt x="1526732" y="0"/>
                    <a:pt x="1532689" y="5956"/>
                    <a:pt x="1532689" y="13304"/>
                  </a:cubicBezTo>
                  <a:lnTo>
                    <a:pt x="1532689" y="241574"/>
                  </a:lnTo>
                  <a:cubicBezTo>
                    <a:pt x="1532689" y="248922"/>
                    <a:pt x="1526732" y="254878"/>
                    <a:pt x="1519385" y="254878"/>
                  </a:cubicBezTo>
                  <a:lnTo>
                    <a:pt x="13304" y="254878"/>
                  </a:lnTo>
                  <a:cubicBezTo>
                    <a:pt x="5956" y="254878"/>
                    <a:pt x="0" y="248922"/>
                    <a:pt x="0" y="241574"/>
                  </a:cubicBezTo>
                  <a:lnTo>
                    <a:pt x="0" y="13304"/>
                  </a:lnTo>
                  <a:cubicBezTo>
                    <a:pt x="0" y="5956"/>
                    <a:pt x="5956" y="0"/>
                    <a:pt x="13304" y="0"/>
                  </a:cubicBezTo>
                  <a:close/>
                </a:path>
              </a:pathLst>
            </a:custGeom>
            <a:solidFill>
              <a:srgbClr val="2C92D5"/>
            </a:solidFill>
          </p:spPr>
          <p:txBody>
            <a:bodyPr/>
            <a:lstStyle/>
            <a:p>
              <a:endParaRPr lang="en-IN"/>
            </a:p>
          </p:txBody>
        </p:sp>
        <p:sp>
          <p:nvSpPr>
            <p:cNvPr id="10" name="TextBox 10"/>
            <p:cNvSpPr txBox="1"/>
            <p:nvPr/>
          </p:nvSpPr>
          <p:spPr>
            <a:xfrm>
              <a:off x="0" y="-200025"/>
              <a:ext cx="1532689" cy="454903"/>
            </a:xfrm>
            <a:prstGeom prst="rect">
              <a:avLst/>
            </a:prstGeom>
          </p:spPr>
          <p:txBody>
            <a:bodyPr lIns="50800" tIns="50800" rIns="50800" bIns="50800" rtlCol="0" anchor="ctr"/>
            <a:lstStyle/>
            <a:p>
              <a:pPr algn="ctr">
                <a:lnSpc>
                  <a:spcPts val="5040"/>
                </a:lnSpc>
              </a:pPr>
              <a:endParaRPr/>
            </a:p>
          </p:txBody>
        </p:sp>
      </p:grpSp>
      <p:sp>
        <p:nvSpPr>
          <p:cNvPr id="11" name="Freeform 11"/>
          <p:cNvSpPr/>
          <p:nvPr/>
        </p:nvSpPr>
        <p:spPr>
          <a:xfrm>
            <a:off x="6909601" y="2316393"/>
            <a:ext cx="400118" cy="326096"/>
          </a:xfrm>
          <a:custGeom>
            <a:avLst/>
            <a:gdLst/>
            <a:ahLst/>
            <a:cxnLst/>
            <a:rect l="l" t="t" r="r" b="b"/>
            <a:pathLst>
              <a:path w="400118" h="326096">
                <a:moveTo>
                  <a:pt x="0" y="0"/>
                </a:moveTo>
                <a:lnTo>
                  <a:pt x="400118" y="0"/>
                </a:lnTo>
                <a:lnTo>
                  <a:pt x="400118" y="326097"/>
                </a:lnTo>
                <a:lnTo>
                  <a:pt x="0" y="326097"/>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txBody>
          <a:bodyPr/>
          <a:lstStyle/>
          <a:p>
            <a:endParaRPr lang="en-IN"/>
          </a:p>
        </p:txBody>
      </p:sp>
      <p:sp>
        <p:nvSpPr>
          <p:cNvPr id="12" name="TextBox 12"/>
          <p:cNvSpPr txBox="1"/>
          <p:nvPr/>
        </p:nvSpPr>
        <p:spPr>
          <a:xfrm>
            <a:off x="7403324" y="527424"/>
            <a:ext cx="6117771" cy="809473"/>
          </a:xfrm>
          <a:prstGeom prst="rect">
            <a:avLst/>
          </a:prstGeom>
        </p:spPr>
        <p:txBody>
          <a:bodyPr lIns="0" tIns="0" rIns="0" bIns="0" rtlCol="0" anchor="t">
            <a:spAutoFit/>
          </a:bodyPr>
          <a:lstStyle/>
          <a:p>
            <a:pPr algn="l">
              <a:lnSpc>
                <a:spcPts val="6163"/>
              </a:lnSpc>
            </a:pPr>
            <a:r>
              <a:rPr lang="en-US" sz="5759" spc="57">
                <a:solidFill>
                  <a:srgbClr val="FFFFFF"/>
                </a:solidFill>
                <a:latin typeface="Aileron Heavy"/>
                <a:ea typeface="Aileron Heavy"/>
                <a:cs typeface="Aileron Heavy"/>
                <a:sym typeface="Aileron Heavy"/>
              </a:rPr>
              <a:t>NOS SERVICES</a:t>
            </a:r>
          </a:p>
        </p:txBody>
      </p:sp>
      <p:sp>
        <p:nvSpPr>
          <p:cNvPr id="14" name="Freeform 14"/>
          <p:cNvSpPr/>
          <p:nvPr/>
        </p:nvSpPr>
        <p:spPr>
          <a:xfrm>
            <a:off x="8011886" y="-709039"/>
            <a:ext cx="1699256" cy="1019554"/>
          </a:xfrm>
          <a:custGeom>
            <a:avLst/>
            <a:gdLst/>
            <a:ahLst/>
            <a:cxnLst/>
            <a:rect l="l" t="t" r="r" b="b"/>
            <a:pathLst>
              <a:path w="1699256" h="1019554">
                <a:moveTo>
                  <a:pt x="0" y="0"/>
                </a:moveTo>
                <a:lnTo>
                  <a:pt x="1699256" y="0"/>
                </a:lnTo>
                <a:lnTo>
                  <a:pt x="1699256" y="1019554"/>
                </a:lnTo>
                <a:lnTo>
                  <a:pt x="0" y="1019554"/>
                </a:lnTo>
                <a:lnTo>
                  <a:pt x="0" y="0"/>
                </a:lnTo>
                <a:close/>
              </a:path>
            </a:pathLst>
          </a:custGeom>
          <a:blipFill>
            <a:blip r:embed="rId11">
              <a:extLst>
                <a:ext uri="{96DAC541-7B7A-43D3-8B79-37D633B846F1}">
                  <asvg:svgBlip xmlns:asvg="http://schemas.microsoft.com/office/drawing/2016/SVG/main" xmlns="" r:embed="rId12"/>
                </a:ext>
              </a:extLst>
            </a:blip>
            <a:stretch>
              <a:fillRect/>
            </a:stretch>
          </a:blipFill>
        </p:spPr>
        <p:txBody>
          <a:bodyPr/>
          <a:lstStyle/>
          <a:p>
            <a:endParaRPr lang="en-IN"/>
          </a:p>
        </p:txBody>
      </p:sp>
      <p:sp>
        <p:nvSpPr>
          <p:cNvPr id="15" name="Freeform 15"/>
          <p:cNvSpPr/>
          <p:nvPr/>
        </p:nvSpPr>
        <p:spPr>
          <a:xfrm>
            <a:off x="17774614" y="-137234"/>
            <a:ext cx="677531" cy="552187"/>
          </a:xfrm>
          <a:custGeom>
            <a:avLst/>
            <a:gdLst/>
            <a:ahLst/>
            <a:cxnLst/>
            <a:rect l="l" t="t" r="r" b="b"/>
            <a:pathLst>
              <a:path w="677531" h="552187">
                <a:moveTo>
                  <a:pt x="0" y="0"/>
                </a:moveTo>
                <a:lnTo>
                  <a:pt x="677530" y="0"/>
                </a:lnTo>
                <a:lnTo>
                  <a:pt x="677530" y="552187"/>
                </a:lnTo>
                <a:lnTo>
                  <a:pt x="0" y="552187"/>
                </a:lnTo>
                <a:lnTo>
                  <a:pt x="0" y="0"/>
                </a:lnTo>
                <a:close/>
              </a:path>
            </a:pathLst>
          </a:custGeom>
          <a:blipFill>
            <a:blip r:embed="rId13">
              <a:extLst>
                <a:ext uri="{96DAC541-7B7A-43D3-8B79-37D633B846F1}">
                  <asvg:svgBlip xmlns:asvg="http://schemas.microsoft.com/office/drawing/2016/SVG/main" xmlns="" r:embed="rId14"/>
                </a:ext>
              </a:extLst>
            </a:blip>
            <a:stretch>
              <a:fillRect/>
            </a:stretch>
          </a:blipFill>
        </p:spPr>
        <p:txBody>
          <a:bodyPr/>
          <a:lstStyle/>
          <a:p>
            <a:endParaRPr lang="en-IN"/>
          </a:p>
        </p:txBody>
      </p:sp>
      <p:grpSp>
        <p:nvGrpSpPr>
          <p:cNvPr id="16" name="Group 16"/>
          <p:cNvGrpSpPr/>
          <p:nvPr/>
        </p:nvGrpSpPr>
        <p:grpSpPr>
          <a:xfrm>
            <a:off x="304800" y="5095875"/>
            <a:ext cx="6793086" cy="4838700"/>
            <a:chOff x="0" y="0"/>
            <a:chExt cx="971130" cy="691733"/>
          </a:xfrm>
        </p:grpSpPr>
        <p:sp>
          <p:nvSpPr>
            <p:cNvPr id="17" name="Freeform 17"/>
            <p:cNvSpPr/>
            <p:nvPr/>
          </p:nvSpPr>
          <p:spPr>
            <a:xfrm>
              <a:off x="0" y="0"/>
              <a:ext cx="971129" cy="691733"/>
            </a:xfrm>
            <a:custGeom>
              <a:avLst/>
              <a:gdLst/>
              <a:ahLst/>
              <a:cxnLst/>
              <a:rect l="l" t="t" r="r" b="b"/>
              <a:pathLst>
                <a:path w="971129" h="691733">
                  <a:moveTo>
                    <a:pt x="11397" y="0"/>
                  </a:moveTo>
                  <a:lnTo>
                    <a:pt x="959733" y="0"/>
                  </a:lnTo>
                  <a:cubicBezTo>
                    <a:pt x="962755" y="0"/>
                    <a:pt x="965654" y="1201"/>
                    <a:pt x="967791" y="3338"/>
                  </a:cubicBezTo>
                  <a:cubicBezTo>
                    <a:pt x="969929" y="5475"/>
                    <a:pt x="971129" y="8374"/>
                    <a:pt x="971129" y="11397"/>
                  </a:cubicBezTo>
                  <a:lnTo>
                    <a:pt x="971129" y="680337"/>
                  </a:lnTo>
                  <a:cubicBezTo>
                    <a:pt x="971129" y="683359"/>
                    <a:pt x="969929" y="686258"/>
                    <a:pt x="967791" y="688395"/>
                  </a:cubicBezTo>
                  <a:cubicBezTo>
                    <a:pt x="965654" y="690533"/>
                    <a:pt x="962755" y="691733"/>
                    <a:pt x="959733" y="691733"/>
                  </a:cubicBezTo>
                  <a:lnTo>
                    <a:pt x="11397" y="691733"/>
                  </a:lnTo>
                  <a:cubicBezTo>
                    <a:pt x="8374" y="691733"/>
                    <a:pt x="5475" y="690533"/>
                    <a:pt x="3338" y="688395"/>
                  </a:cubicBezTo>
                  <a:cubicBezTo>
                    <a:pt x="1201" y="686258"/>
                    <a:pt x="0" y="683359"/>
                    <a:pt x="0" y="680337"/>
                  </a:cubicBezTo>
                  <a:lnTo>
                    <a:pt x="0" y="11397"/>
                  </a:lnTo>
                  <a:cubicBezTo>
                    <a:pt x="0" y="8374"/>
                    <a:pt x="1201" y="5475"/>
                    <a:pt x="3338" y="3338"/>
                  </a:cubicBezTo>
                  <a:cubicBezTo>
                    <a:pt x="5475" y="1201"/>
                    <a:pt x="8374" y="0"/>
                    <a:pt x="11397" y="0"/>
                  </a:cubicBezTo>
                  <a:close/>
                </a:path>
              </a:pathLst>
            </a:custGeom>
            <a:blipFill>
              <a:blip r:embed="rId15"/>
              <a:stretch>
                <a:fillRect l="-3405" r="-3405"/>
              </a:stretch>
            </a:blipFill>
            <a:ln cap="sq">
              <a:noFill/>
              <a:prstDash val="solid"/>
              <a:miter/>
            </a:ln>
          </p:spPr>
          <p:txBody>
            <a:bodyPr/>
            <a:lstStyle/>
            <a:p>
              <a:endParaRPr lang="en-IN"/>
            </a:p>
          </p:txBody>
        </p:sp>
      </p:grpSp>
      <p:sp>
        <p:nvSpPr>
          <p:cNvPr id="18" name="TextBox 18"/>
          <p:cNvSpPr txBox="1"/>
          <p:nvPr/>
        </p:nvSpPr>
        <p:spPr>
          <a:xfrm>
            <a:off x="7309719" y="1621068"/>
            <a:ext cx="7840073" cy="1381125"/>
          </a:xfrm>
          <a:prstGeom prst="rect">
            <a:avLst/>
          </a:prstGeom>
        </p:spPr>
        <p:txBody>
          <a:bodyPr lIns="0" tIns="0" rIns="0" bIns="0" rtlCol="0" anchor="t">
            <a:spAutoFit/>
          </a:bodyPr>
          <a:lstStyle/>
          <a:p>
            <a:pPr algn="l">
              <a:lnSpc>
                <a:spcPts val="3600"/>
              </a:lnSpc>
            </a:pPr>
            <a:r>
              <a:rPr lang="en-US" sz="3000" b="1" spc="30">
                <a:solidFill>
                  <a:srgbClr val="191919"/>
                </a:solidFill>
                <a:latin typeface="Aileron Heavy Bold"/>
                <a:ea typeface="Aileron Heavy Bold"/>
                <a:cs typeface="Aileron Heavy Bold"/>
                <a:sym typeface="Aileron Heavy Bold"/>
              </a:rPr>
              <a:t>LE CONTRÔLE DES VÉHICULES PAR TRACKING</a:t>
            </a:r>
          </a:p>
          <a:p>
            <a:pPr algn="l">
              <a:lnSpc>
                <a:spcPts val="3600"/>
              </a:lnSpc>
            </a:pPr>
            <a:endParaRPr lang="en-US" sz="3000" b="1" spc="30">
              <a:solidFill>
                <a:srgbClr val="191919"/>
              </a:solidFill>
              <a:latin typeface="Aileron Heavy Bold"/>
              <a:ea typeface="Aileron Heavy Bold"/>
              <a:cs typeface="Aileron Heavy Bold"/>
              <a:sym typeface="Aileron Heavy Bold"/>
            </a:endParaRPr>
          </a:p>
        </p:txBody>
      </p:sp>
      <p:sp>
        <p:nvSpPr>
          <p:cNvPr id="19" name="TextBox 19"/>
          <p:cNvSpPr txBox="1"/>
          <p:nvPr/>
        </p:nvSpPr>
        <p:spPr>
          <a:xfrm>
            <a:off x="7403324" y="2609850"/>
            <a:ext cx="9717697" cy="2485228"/>
          </a:xfrm>
          <a:prstGeom prst="rect">
            <a:avLst/>
          </a:prstGeom>
        </p:spPr>
        <p:txBody>
          <a:bodyPr lIns="0" tIns="0" rIns="0" bIns="0" rtlCol="0" anchor="t">
            <a:spAutoFit/>
          </a:bodyPr>
          <a:lstStyle/>
          <a:p>
            <a:pPr algn="just">
              <a:lnSpc>
                <a:spcPts val="3989"/>
              </a:lnSpc>
            </a:pPr>
            <a:r>
              <a:rPr lang="en-US" sz="2319" spc="134">
                <a:solidFill>
                  <a:srgbClr val="191919"/>
                </a:solidFill>
                <a:latin typeface="Aileron Regular"/>
                <a:ea typeface="Aileron Regular"/>
                <a:cs typeface="Aileron Regular"/>
                <a:sym typeface="Aileron Regular"/>
              </a:rPr>
              <a:t>G.I.P.S est spécialisée dans le gardiennage des entrepôts et des installations industrielles. Nos agents de sécurité sont formés pour surveiller les entrées et sorties, contrôler les accès et prévenir les vols ou les actes de vandalisme.</a:t>
            </a:r>
          </a:p>
          <a:p>
            <a:pPr algn="just">
              <a:lnSpc>
                <a:spcPts val="3989"/>
              </a:lnSpc>
            </a:pPr>
            <a:endParaRPr lang="en-US" sz="2319" spc="134">
              <a:solidFill>
                <a:srgbClr val="191919"/>
              </a:solidFill>
              <a:latin typeface="Aileron Regular"/>
              <a:ea typeface="Aileron Regular"/>
              <a:cs typeface="Aileron Regular"/>
              <a:sym typeface="Aileron Regular"/>
            </a:endParaRPr>
          </a:p>
        </p:txBody>
      </p:sp>
      <p:sp>
        <p:nvSpPr>
          <p:cNvPr id="20" name="TextBox 20"/>
          <p:cNvSpPr txBox="1"/>
          <p:nvPr/>
        </p:nvSpPr>
        <p:spPr>
          <a:xfrm>
            <a:off x="7356521" y="5333203"/>
            <a:ext cx="7746468" cy="923925"/>
          </a:xfrm>
          <a:prstGeom prst="rect">
            <a:avLst/>
          </a:prstGeom>
        </p:spPr>
        <p:txBody>
          <a:bodyPr lIns="0" tIns="0" rIns="0" bIns="0" rtlCol="0" anchor="t">
            <a:spAutoFit/>
          </a:bodyPr>
          <a:lstStyle/>
          <a:p>
            <a:pPr algn="l">
              <a:lnSpc>
                <a:spcPts val="3600"/>
              </a:lnSpc>
            </a:pPr>
            <a:r>
              <a:rPr lang="en-US" sz="3000" b="1" spc="30">
                <a:solidFill>
                  <a:srgbClr val="191919"/>
                </a:solidFill>
                <a:latin typeface="Aileron Heavy Bold"/>
                <a:ea typeface="Aileron Heavy Bold"/>
                <a:cs typeface="Aileron Heavy Bold"/>
                <a:sym typeface="Aileron Heavy Bold"/>
              </a:rPr>
              <a:t>PROTECTION RAPPROCHÉE ET SÉCURITÉ HUMAINE:</a:t>
            </a:r>
          </a:p>
        </p:txBody>
      </p:sp>
      <p:sp>
        <p:nvSpPr>
          <p:cNvPr id="21" name="TextBox 21"/>
          <p:cNvSpPr txBox="1"/>
          <p:nvPr/>
        </p:nvSpPr>
        <p:spPr>
          <a:xfrm>
            <a:off x="7334184" y="6333328"/>
            <a:ext cx="9855976" cy="2977906"/>
          </a:xfrm>
          <a:prstGeom prst="rect">
            <a:avLst/>
          </a:prstGeom>
        </p:spPr>
        <p:txBody>
          <a:bodyPr lIns="0" tIns="0" rIns="0" bIns="0" rtlCol="0" anchor="t">
            <a:spAutoFit/>
          </a:bodyPr>
          <a:lstStyle/>
          <a:p>
            <a:pPr algn="just">
              <a:lnSpc>
                <a:spcPts val="3440"/>
              </a:lnSpc>
            </a:pPr>
            <a:r>
              <a:rPr lang="en-US" sz="2219" spc="128">
                <a:solidFill>
                  <a:srgbClr val="191919"/>
                </a:solidFill>
                <a:latin typeface="Aileron Regular"/>
                <a:ea typeface="Aileron Regular"/>
                <a:cs typeface="Aileron Regular"/>
                <a:sym typeface="Aileron Regular"/>
              </a:rPr>
              <a:t>Nos agents spécialisés assurent une surveillance rigoureuse et proactive pour garantir une intervention immédiate en cas de nécessité. Grâce à leur formation de pointe et leur expérience avérée, nos équipes qualifiées offrent une protection inégalée, que ce soit pour vos événements, vos déplacements professionnels ou personnels. Nous mettons un point d'honneur à anticiper les risques et à créer un environnement sécurisé pour vous et vos invités.</a:t>
            </a:r>
          </a:p>
        </p:txBody>
      </p:sp>
      <p:sp>
        <p:nvSpPr>
          <p:cNvPr id="22" name="Freeform 22"/>
          <p:cNvSpPr/>
          <p:nvPr/>
        </p:nvSpPr>
        <p:spPr>
          <a:xfrm>
            <a:off x="16082068" y="414953"/>
            <a:ext cx="1177232" cy="1185701"/>
          </a:xfrm>
          <a:custGeom>
            <a:avLst/>
            <a:gdLst/>
            <a:ahLst/>
            <a:cxnLst/>
            <a:rect l="l" t="t" r="r" b="b"/>
            <a:pathLst>
              <a:path w="1177232" h="1185701">
                <a:moveTo>
                  <a:pt x="0" y="0"/>
                </a:moveTo>
                <a:lnTo>
                  <a:pt x="1177232" y="0"/>
                </a:lnTo>
                <a:lnTo>
                  <a:pt x="1177232" y="1185702"/>
                </a:lnTo>
                <a:lnTo>
                  <a:pt x="0" y="1185702"/>
                </a:lnTo>
                <a:lnTo>
                  <a:pt x="0" y="0"/>
                </a:lnTo>
                <a:close/>
              </a:path>
            </a:pathLst>
          </a:custGeom>
          <a:blipFill>
            <a:blip r:embed="rId16"/>
            <a:stretch>
              <a:fillRect/>
            </a:stretch>
          </a:blipFill>
        </p:spPr>
        <p:txBody>
          <a:bodyPr/>
          <a:lstStyle/>
          <a:p>
            <a:endParaRPr lang="en-IN"/>
          </a:p>
        </p:txBody>
      </p:sp>
      <p:pic>
        <p:nvPicPr>
          <p:cNvPr id="23" name="Image 22">
            <a:extLst>
              <a:ext uri="{FF2B5EF4-FFF2-40B4-BE49-F238E27FC236}">
                <a16:creationId xmlns:a16="http://schemas.microsoft.com/office/drawing/2014/main" id="{B44D253A-8D82-4ADD-9926-B5612817FB10}"/>
              </a:ext>
            </a:extLst>
          </p:cNvPr>
          <p:cNvPicPr>
            <a:picLocks noChangeAspect="1"/>
          </p:cNvPicPr>
          <p:nvPr/>
        </p:nvPicPr>
        <p:blipFill rotWithShape="1">
          <a:blip r:embed="rId17" cstate="print">
            <a:extLst>
              <a:ext uri="{28A0092B-C50C-407E-A947-70E740481C1C}">
                <a14:useLocalDpi xmlns:a14="http://schemas.microsoft.com/office/drawing/2010/main" val="0"/>
              </a:ext>
            </a:extLst>
          </a:blip>
          <a:srcRect r="48180" b="50000"/>
          <a:stretch/>
        </p:blipFill>
        <p:spPr>
          <a:xfrm>
            <a:off x="17078959" y="9135676"/>
            <a:ext cx="1209041" cy="115132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208368" y="-62625"/>
            <a:ext cx="14342843" cy="10448451"/>
            <a:chOff x="0" y="0"/>
            <a:chExt cx="836813" cy="609600"/>
          </a:xfrm>
        </p:grpSpPr>
        <p:sp>
          <p:nvSpPr>
            <p:cNvPr id="3" name="Freeform 3"/>
            <p:cNvSpPr/>
            <p:nvPr/>
          </p:nvSpPr>
          <p:spPr>
            <a:xfrm>
              <a:off x="0" y="0"/>
              <a:ext cx="836813" cy="609600"/>
            </a:xfrm>
            <a:custGeom>
              <a:avLst/>
              <a:gdLst/>
              <a:ahLst/>
              <a:cxnLst/>
              <a:rect l="l" t="t" r="r" b="b"/>
              <a:pathLst>
                <a:path w="836813" h="609600">
                  <a:moveTo>
                    <a:pt x="633613" y="0"/>
                  </a:moveTo>
                  <a:lnTo>
                    <a:pt x="0" y="0"/>
                  </a:lnTo>
                  <a:lnTo>
                    <a:pt x="203200" y="609600"/>
                  </a:lnTo>
                  <a:lnTo>
                    <a:pt x="836813" y="609600"/>
                  </a:lnTo>
                  <a:lnTo>
                    <a:pt x="633613" y="0"/>
                  </a:lnTo>
                  <a:close/>
                </a:path>
              </a:pathLst>
            </a:custGeom>
            <a:blipFill>
              <a:blip r:embed="rId2"/>
              <a:stretch>
                <a:fillRect r="-8287"/>
              </a:stretch>
            </a:blipFill>
            <a:ln w="66675" cap="sq">
              <a:solidFill>
                <a:srgbClr val="FFFFFF"/>
              </a:solidFill>
              <a:prstDash val="solid"/>
              <a:miter/>
            </a:ln>
          </p:spPr>
          <p:txBody>
            <a:bodyPr/>
            <a:lstStyle/>
            <a:p>
              <a:endParaRPr lang="en-IN"/>
            </a:p>
          </p:txBody>
        </p:sp>
      </p:grpSp>
      <p:grpSp>
        <p:nvGrpSpPr>
          <p:cNvPr id="4" name="Group 4"/>
          <p:cNvGrpSpPr/>
          <p:nvPr/>
        </p:nvGrpSpPr>
        <p:grpSpPr>
          <a:xfrm>
            <a:off x="5157588" y="459966"/>
            <a:ext cx="5856543" cy="828138"/>
            <a:chOff x="0" y="0"/>
            <a:chExt cx="4311056" cy="609600"/>
          </a:xfrm>
        </p:grpSpPr>
        <p:sp>
          <p:nvSpPr>
            <p:cNvPr id="5" name="Freeform 5"/>
            <p:cNvSpPr/>
            <p:nvPr/>
          </p:nvSpPr>
          <p:spPr>
            <a:xfrm>
              <a:off x="0" y="0"/>
              <a:ext cx="4311056" cy="609600"/>
            </a:xfrm>
            <a:custGeom>
              <a:avLst/>
              <a:gdLst/>
              <a:ahLst/>
              <a:cxnLst/>
              <a:rect l="l" t="t" r="r" b="b"/>
              <a:pathLst>
                <a:path w="4311056" h="609600">
                  <a:moveTo>
                    <a:pt x="4107856" y="0"/>
                  </a:moveTo>
                  <a:lnTo>
                    <a:pt x="0" y="0"/>
                  </a:lnTo>
                  <a:lnTo>
                    <a:pt x="203200" y="609600"/>
                  </a:lnTo>
                  <a:lnTo>
                    <a:pt x="4311056" y="609600"/>
                  </a:lnTo>
                  <a:lnTo>
                    <a:pt x="4107856" y="0"/>
                  </a:lnTo>
                  <a:close/>
                </a:path>
              </a:pathLst>
            </a:custGeom>
            <a:solidFill>
              <a:srgbClr val="2C92D5"/>
            </a:solidFill>
          </p:spPr>
          <p:txBody>
            <a:bodyPr/>
            <a:lstStyle/>
            <a:p>
              <a:endParaRPr lang="en-IN"/>
            </a:p>
          </p:txBody>
        </p:sp>
        <p:sp>
          <p:nvSpPr>
            <p:cNvPr id="6" name="TextBox 6"/>
            <p:cNvSpPr txBox="1"/>
            <p:nvPr/>
          </p:nvSpPr>
          <p:spPr>
            <a:xfrm>
              <a:off x="101600" y="-38100"/>
              <a:ext cx="4107856"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2380521" y="3572701"/>
            <a:ext cx="10454747" cy="5241386"/>
            <a:chOff x="0" y="0"/>
            <a:chExt cx="1215941" cy="609600"/>
          </a:xfrm>
        </p:grpSpPr>
        <p:sp>
          <p:nvSpPr>
            <p:cNvPr id="8" name="Freeform 8"/>
            <p:cNvSpPr/>
            <p:nvPr/>
          </p:nvSpPr>
          <p:spPr>
            <a:xfrm>
              <a:off x="0" y="0"/>
              <a:ext cx="1215941" cy="609600"/>
            </a:xfrm>
            <a:custGeom>
              <a:avLst/>
              <a:gdLst/>
              <a:ahLst/>
              <a:cxnLst/>
              <a:rect l="l" t="t" r="r" b="b"/>
              <a:pathLst>
                <a:path w="1215941" h="609600">
                  <a:moveTo>
                    <a:pt x="1012741" y="0"/>
                  </a:moveTo>
                  <a:lnTo>
                    <a:pt x="0" y="0"/>
                  </a:lnTo>
                  <a:lnTo>
                    <a:pt x="203200" y="609600"/>
                  </a:lnTo>
                  <a:lnTo>
                    <a:pt x="1215941" y="609600"/>
                  </a:lnTo>
                  <a:lnTo>
                    <a:pt x="1012741" y="0"/>
                  </a:lnTo>
                  <a:close/>
                </a:path>
              </a:pathLst>
            </a:custGeom>
            <a:solidFill>
              <a:srgbClr val="FFFFFF">
                <a:alpha val="82745"/>
              </a:srgbClr>
            </a:solidFill>
          </p:spPr>
          <p:txBody>
            <a:bodyPr/>
            <a:lstStyle/>
            <a:p>
              <a:endParaRPr lang="en-IN"/>
            </a:p>
          </p:txBody>
        </p:sp>
        <p:sp>
          <p:nvSpPr>
            <p:cNvPr id="9" name="TextBox 9"/>
            <p:cNvSpPr txBox="1"/>
            <p:nvPr/>
          </p:nvSpPr>
          <p:spPr>
            <a:xfrm>
              <a:off x="101600" y="-38100"/>
              <a:ext cx="1012741" cy="647700"/>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729899" y="4007253"/>
            <a:ext cx="5682984" cy="5000625"/>
          </a:xfrm>
          <a:prstGeom prst="rect">
            <a:avLst/>
          </a:prstGeom>
        </p:spPr>
        <p:txBody>
          <a:bodyPr lIns="0" tIns="0" rIns="0" bIns="0" rtlCol="0" anchor="t">
            <a:spAutoFit/>
          </a:bodyPr>
          <a:lstStyle/>
          <a:p>
            <a:pPr algn="l">
              <a:lnSpc>
                <a:spcPts val="7920"/>
              </a:lnSpc>
            </a:pPr>
            <a:r>
              <a:rPr lang="en-US" sz="6600" spc="66" dirty="0">
                <a:solidFill>
                  <a:srgbClr val="191919"/>
                </a:solidFill>
                <a:latin typeface="Aileron Heavy"/>
                <a:ea typeface="Aileron Heavy"/>
                <a:cs typeface="Aileron Heavy"/>
                <a:sym typeface="Aileron Heavy"/>
              </a:rPr>
              <a:t>AVANTAGES DE NOS SERVICES DE SÉCURITÉ</a:t>
            </a:r>
          </a:p>
          <a:p>
            <a:pPr algn="l">
              <a:lnSpc>
                <a:spcPts val="7920"/>
              </a:lnSpc>
            </a:pPr>
            <a:endParaRPr lang="en-US" sz="6600" spc="66" dirty="0">
              <a:solidFill>
                <a:srgbClr val="191919"/>
              </a:solidFill>
              <a:latin typeface="Aileron Heavy"/>
              <a:ea typeface="Aileron Heavy"/>
              <a:cs typeface="Aileron Heavy"/>
              <a:sym typeface="Aileron Heavy"/>
            </a:endParaRPr>
          </a:p>
        </p:txBody>
      </p:sp>
      <p:sp>
        <p:nvSpPr>
          <p:cNvPr id="11" name="TextBox 11"/>
          <p:cNvSpPr txBox="1"/>
          <p:nvPr/>
        </p:nvSpPr>
        <p:spPr>
          <a:xfrm>
            <a:off x="7122379" y="1472913"/>
            <a:ext cx="8948055" cy="2380710"/>
          </a:xfrm>
          <a:prstGeom prst="rect">
            <a:avLst/>
          </a:prstGeom>
        </p:spPr>
        <p:txBody>
          <a:bodyPr lIns="0" tIns="0" rIns="0" bIns="0" rtlCol="0" anchor="t">
            <a:spAutoFit/>
          </a:bodyPr>
          <a:lstStyle/>
          <a:p>
            <a:pPr algn="just">
              <a:lnSpc>
                <a:spcPts val="3179"/>
              </a:lnSpc>
            </a:pPr>
            <a:r>
              <a:rPr lang="en-US" sz="2271" spc="131">
                <a:solidFill>
                  <a:srgbClr val="191919"/>
                </a:solidFill>
                <a:latin typeface="Aileron Regular"/>
                <a:ea typeface="Aileron Regular"/>
                <a:cs typeface="Aileron Regular"/>
                <a:sym typeface="Aileron Regular"/>
              </a:rPr>
              <a:t>Nos équipes sont composées de professionnels de la sécurité hautement qualifiés et expérimentés. Nous investissons dans la formation continue de nos agents pour assurer qu'ils possèdent les compétences et les connaissances nécessaires pour faire face aux situations d'urgence.</a:t>
            </a:r>
          </a:p>
          <a:p>
            <a:pPr algn="just">
              <a:lnSpc>
                <a:spcPts val="3179"/>
              </a:lnSpc>
              <a:spcBef>
                <a:spcPct val="0"/>
              </a:spcBef>
            </a:pPr>
            <a:endParaRPr lang="en-US" sz="2271" spc="131">
              <a:solidFill>
                <a:srgbClr val="191919"/>
              </a:solidFill>
              <a:latin typeface="Aileron Regular"/>
              <a:ea typeface="Aileron Regular"/>
              <a:cs typeface="Aileron Regular"/>
              <a:sym typeface="Aileron Regular"/>
            </a:endParaRPr>
          </a:p>
        </p:txBody>
      </p:sp>
      <p:sp>
        <p:nvSpPr>
          <p:cNvPr id="12" name="TextBox 12"/>
          <p:cNvSpPr txBox="1"/>
          <p:nvPr/>
        </p:nvSpPr>
        <p:spPr>
          <a:xfrm>
            <a:off x="5465608" y="641823"/>
            <a:ext cx="5240504" cy="736536"/>
          </a:xfrm>
          <a:prstGeom prst="rect">
            <a:avLst/>
          </a:prstGeom>
        </p:spPr>
        <p:txBody>
          <a:bodyPr lIns="0" tIns="0" rIns="0" bIns="0" rtlCol="0" anchor="t">
            <a:spAutoFit/>
          </a:bodyPr>
          <a:lstStyle/>
          <a:p>
            <a:pPr algn="ctr">
              <a:lnSpc>
                <a:spcPts val="2978"/>
              </a:lnSpc>
            </a:pPr>
            <a:r>
              <a:rPr lang="en-US" sz="2127" b="1" spc="21">
                <a:solidFill>
                  <a:srgbClr val="FFFFFF"/>
                </a:solidFill>
                <a:latin typeface="Aileron Heavy Bold"/>
                <a:ea typeface="Aileron Heavy Bold"/>
                <a:cs typeface="Aileron Heavy Bold"/>
                <a:sym typeface="Aileron Heavy Bold"/>
              </a:rPr>
              <a:t>EXPERTISE ET PROFESSIONNALISME</a:t>
            </a:r>
          </a:p>
          <a:p>
            <a:pPr algn="ctr">
              <a:lnSpc>
                <a:spcPts val="2978"/>
              </a:lnSpc>
              <a:spcBef>
                <a:spcPct val="0"/>
              </a:spcBef>
            </a:pPr>
            <a:endParaRPr lang="en-US" sz="2127" b="1" spc="21">
              <a:solidFill>
                <a:srgbClr val="FFFFFF"/>
              </a:solidFill>
              <a:latin typeface="Aileron Heavy Bold"/>
              <a:ea typeface="Aileron Heavy Bold"/>
              <a:cs typeface="Aileron Heavy Bold"/>
              <a:sym typeface="Aileron Heavy Bold"/>
            </a:endParaRPr>
          </a:p>
        </p:txBody>
      </p:sp>
      <p:sp>
        <p:nvSpPr>
          <p:cNvPr id="13" name="TextBox 13"/>
          <p:cNvSpPr txBox="1"/>
          <p:nvPr/>
        </p:nvSpPr>
        <p:spPr>
          <a:xfrm>
            <a:off x="8085860" y="4827941"/>
            <a:ext cx="9173440" cy="2380710"/>
          </a:xfrm>
          <a:prstGeom prst="rect">
            <a:avLst/>
          </a:prstGeom>
        </p:spPr>
        <p:txBody>
          <a:bodyPr lIns="0" tIns="0" rIns="0" bIns="0" rtlCol="0" anchor="t">
            <a:spAutoFit/>
          </a:bodyPr>
          <a:lstStyle/>
          <a:p>
            <a:pPr algn="just">
              <a:lnSpc>
                <a:spcPts val="3179"/>
              </a:lnSpc>
            </a:pPr>
            <a:r>
              <a:rPr lang="en-US" sz="2271" spc="131">
                <a:solidFill>
                  <a:srgbClr val="191919"/>
                </a:solidFill>
                <a:latin typeface="Aileron Regular"/>
                <a:ea typeface="Aileron Regular"/>
                <a:cs typeface="Aileron Regular"/>
                <a:sym typeface="Aileron Regular"/>
              </a:rPr>
              <a:t>Nous comprenons que chaque client a des besoins uniques en matière de sécurité. C’est pourquoi nous offrons des solutions personnalisées adaptées aux besoins spécifiques de chaque client. Nous travaillons en étroite collaboration avec nos clients pour comprendre leurs besoins et leurs exigences.</a:t>
            </a:r>
          </a:p>
          <a:p>
            <a:pPr algn="just">
              <a:lnSpc>
                <a:spcPts val="3179"/>
              </a:lnSpc>
              <a:spcBef>
                <a:spcPct val="0"/>
              </a:spcBef>
            </a:pPr>
            <a:endParaRPr lang="en-US" sz="2271" spc="131">
              <a:solidFill>
                <a:srgbClr val="191919"/>
              </a:solidFill>
              <a:latin typeface="Aileron Regular"/>
              <a:ea typeface="Aileron Regular"/>
              <a:cs typeface="Aileron Regular"/>
              <a:sym typeface="Aileron Regular"/>
            </a:endParaRPr>
          </a:p>
        </p:txBody>
      </p:sp>
      <p:grpSp>
        <p:nvGrpSpPr>
          <p:cNvPr id="14" name="Group 14"/>
          <p:cNvGrpSpPr/>
          <p:nvPr/>
        </p:nvGrpSpPr>
        <p:grpSpPr>
          <a:xfrm>
            <a:off x="5980821" y="3986278"/>
            <a:ext cx="5996147" cy="828138"/>
            <a:chOff x="0" y="0"/>
            <a:chExt cx="4413820" cy="609600"/>
          </a:xfrm>
        </p:grpSpPr>
        <p:sp>
          <p:nvSpPr>
            <p:cNvPr id="15" name="Freeform 15"/>
            <p:cNvSpPr/>
            <p:nvPr/>
          </p:nvSpPr>
          <p:spPr>
            <a:xfrm>
              <a:off x="0" y="0"/>
              <a:ext cx="4413820" cy="609600"/>
            </a:xfrm>
            <a:custGeom>
              <a:avLst/>
              <a:gdLst/>
              <a:ahLst/>
              <a:cxnLst/>
              <a:rect l="l" t="t" r="r" b="b"/>
              <a:pathLst>
                <a:path w="4413820" h="609600">
                  <a:moveTo>
                    <a:pt x="4210620" y="0"/>
                  </a:moveTo>
                  <a:lnTo>
                    <a:pt x="0" y="0"/>
                  </a:lnTo>
                  <a:lnTo>
                    <a:pt x="203200" y="609600"/>
                  </a:lnTo>
                  <a:lnTo>
                    <a:pt x="4413820" y="609600"/>
                  </a:lnTo>
                  <a:lnTo>
                    <a:pt x="4210620" y="0"/>
                  </a:lnTo>
                  <a:close/>
                </a:path>
              </a:pathLst>
            </a:custGeom>
            <a:solidFill>
              <a:srgbClr val="2C92D5"/>
            </a:solidFill>
          </p:spPr>
          <p:txBody>
            <a:bodyPr/>
            <a:lstStyle/>
            <a:p>
              <a:endParaRPr lang="en-IN"/>
            </a:p>
          </p:txBody>
        </p:sp>
        <p:sp>
          <p:nvSpPr>
            <p:cNvPr id="16" name="TextBox 16"/>
            <p:cNvSpPr txBox="1"/>
            <p:nvPr/>
          </p:nvSpPr>
          <p:spPr>
            <a:xfrm>
              <a:off x="101600" y="-38100"/>
              <a:ext cx="4210620"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17" name="Group 17"/>
          <p:cNvGrpSpPr/>
          <p:nvPr/>
        </p:nvGrpSpPr>
        <p:grpSpPr>
          <a:xfrm>
            <a:off x="6836095" y="6951285"/>
            <a:ext cx="5813073" cy="828138"/>
            <a:chOff x="0" y="0"/>
            <a:chExt cx="4279058" cy="609600"/>
          </a:xfrm>
        </p:grpSpPr>
        <p:sp>
          <p:nvSpPr>
            <p:cNvPr id="18" name="Freeform 18"/>
            <p:cNvSpPr/>
            <p:nvPr/>
          </p:nvSpPr>
          <p:spPr>
            <a:xfrm>
              <a:off x="0" y="0"/>
              <a:ext cx="4279058" cy="609600"/>
            </a:xfrm>
            <a:custGeom>
              <a:avLst/>
              <a:gdLst/>
              <a:ahLst/>
              <a:cxnLst/>
              <a:rect l="l" t="t" r="r" b="b"/>
              <a:pathLst>
                <a:path w="4279058" h="609600">
                  <a:moveTo>
                    <a:pt x="4075858" y="0"/>
                  </a:moveTo>
                  <a:lnTo>
                    <a:pt x="0" y="0"/>
                  </a:lnTo>
                  <a:lnTo>
                    <a:pt x="203200" y="609600"/>
                  </a:lnTo>
                  <a:lnTo>
                    <a:pt x="4279058" y="609600"/>
                  </a:lnTo>
                  <a:lnTo>
                    <a:pt x="4075858" y="0"/>
                  </a:lnTo>
                  <a:close/>
                </a:path>
              </a:pathLst>
            </a:custGeom>
            <a:solidFill>
              <a:srgbClr val="2C92D5"/>
            </a:solidFill>
          </p:spPr>
          <p:txBody>
            <a:bodyPr/>
            <a:lstStyle/>
            <a:p>
              <a:endParaRPr lang="en-IN"/>
            </a:p>
          </p:txBody>
        </p:sp>
        <p:sp>
          <p:nvSpPr>
            <p:cNvPr id="19" name="TextBox 19"/>
            <p:cNvSpPr txBox="1"/>
            <p:nvPr/>
          </p:nvSpPr>
          <p:spPr>
            <a:xfrm>
              <a:off x="101600" y="-38100"/>
              <a:ext cx="4075858" cy="647700"/>
            </a:xfrm>
            <a:prstGeom prst="rect">
              <a:avLst/>
            </a:prstGeom>
          </p:spPr>
          <p:txBody>
            <a:bodyPr lIns="50800" tIns="50800" rIns="50800" bIns="50800" rtlCol="0" anchor="ctr"/>
            <a:lstStyle/>
            <a:p>
              <a:pPr algn="ctr">
                <a:lnSpc>
                  <a:spcPts val="2659"/>
                </a:lnSpc>
                <a:spcBef>
                  <a:spcPct val="0"/>
                </a:spcBef>
              </a:pPr>
              <a:endParaRPr/>
            </a:p>
          </p:txBody>
        </p:sp>
      </p:grpSp>
      <p:sp>
        <p:nvSpPr>
          <p:cNvPr id="20" name="TextBox 20"/>
          <p:cNvSpPr txBox="1"/>
          <p:nvPr/>
        </p:nvSpPr>
        <p:spPr>
          <a:xfrm>
            <a:off x="9144000" y="7817523"/>
            <a:ext cx="8280405" cy="2380710"/>
          </a:xfrm>
          <a:prstGeom prst="rect">
            <a:avLst/>
          </a:prstGeom>
        </p:spPr>
        <p:txBody>
          <a:bodyPr lIns="0" tIns="0" rIns="0" bIns="0" rtlCol="0" anchor="t">
            <a:spAutoFit/>
          </a:bodyPr>
          <a:lstStyle/>
          <a:p>
            <a:pPr algn="just">
              <a:lnSpc>
                <a:spcPts val="3179"/>
              </a:lnSpc>
            </a:pPr>
            <a:r>
              <a:rPr lang="en-US" sz="2271" spc="131">
                <a:solidFill>
                  <a:srgbClr val="191919"/>
                </a:solidFill>
                <a:latin typeface="Aileron Regular"/>
                <a:ea typeface="Aileron Regular"/>
                <a:cs typeface="Aileron Regular"/>
                <a:sym typeface="Aileron Regular"/>
              </a:rPr>
              <a:t>Nous utilisons la technologie de pointe pour améliorer l'efficacité de nos services de sécurité. Nos systèmes de surveillance vidéo, de contrôle d’accès et de suivi GPS nous permettent de garantir une sécurité maximale pour nos clients.</a:t>
            </a:r>
          </a:p>
          <a:p>
            <a:pPr algn="just">
              <a:lnSpc>
                <a:spcPts val="3179"/>
              </a:lnSpc>
              <a:spcBef>
                <a:spcPct val="0"/>
              </a:spcBef>
            </a:pPr>
            <a:endParaRPr lang="en-US" sz="2271" spc="131">
              <a:solidFill>
                <a:srgbClr val="191919"/>
              </a:solidFill>
              <a:latin typeface="Aileron Regular"/>
              <a:ea typeface="Aileron Regular"/>
              <a:cs typeface="Aileron Regular"/>
              <a:sym typeface="Aileron Regular"/>
            </a:endParaRPr>
          </a:p>
        </p:txBody>
      </p:sp>
      <p:sp>
        <p:nvSpPr>
          <p:cNvPr id="21" name="TextBox 21"/>
          <p:cNvSpPr txBox="1"/>
          <p:nvPr/>
        </p:nvSpPr>
        <p:spPr>
          <a:xfrm>
            <a:off x="6358642" y="4181945"/>
            <a:ext cx="5240504" cy="684096"/>
          </a:xfrm>
          <a:prstGeom prst="rect">
            <a:avLst/>
          </a:prstGeom>
        </p:spPr>
        <p:txBody>
          <a:bodyPr lIns="0" tIns="0" rIns="0" bIns="0" rtlCol="0" anchor="t">
            <a:spAutoFit/>
          </a:bodyPr>
          <a:lstStyle/>
          <a:p>
            <a:pPr algn="ctr">
              <a:lnSpc>
                <a:spcPts val="2718"/>
              </a:lnSpc>
            </a:pPr>
            <a:r>
              <a:rPr lang="en-US" sz="1942" b="1" spc="19">
                <a:solidFill>
                  <a:srgbClr val="FFFFFF"/>
                </a:solidFill>
                <a:latin typeface="Aileron Heavy Bold"/>
                <a:ea typeface="Aileron Heavy Bold"/>
                <a:cs typeface="Aileron Heavy Bold"/>
                <a:sym typeface="Aileron Heavy Bold"/>
              </a:rPr>
              <a:t>SOLUTIONS PERSONNALISÉES</a:t>
            </a:r>
          </a:p>
          <a:p>
            <a:pPr algn="ctr">
              <a:lnSpc>
                <a:spcPts val="2718"/>
              </a:lnSpc>
              <a:spcBef>
                <a:spcPct val="0"/>
              </a:spcBef>
            </a:pPr>
            <a:endParaRPr lang="en-US" sz="1942" b="1" spc="19">
              <a:solidFill>
                <a:srgbClr val="FFFFFF"/>
              </a:solidFill>
              <a:latin typeface="Aileron Heavy Bold"/>
              <a:ea typeface="Aileron Heavy Bold"/>
              <a:cs typeface="Aileron Heavy Bold"/>
              <a:sym typeface="Aileron Heavy Bold"/>
            </a:endParaRPr>
          </a:p>
        </p:txBody>
      </p:sp>
      <p:sp>
        <p:nvSpPr>
          <p:cNvPr id="22" name="TextBox 22"/>
          <p:cNvSpPr txBox="1"/>
          <p:nvPr/>
        </p:nvSpPr>
        <p:spPr>
          <a:xfrm>
            <a:off x="7122379" y="7156477"/>
            <a:ext cx="5240504" cy="780510"/>
          </a:xfrm>
          <a:prstGeom prst="rect">
            <a:avLst/>
          </a:prstGeom>
        </p:spPr>
        <p:txBody>
          <a:bodyPr lIns="0" tIns="0" rIns="0" bIns="0" rtlCol="0" anchor="t">
            <a:spAutoFit/>
          </a:bodyPr>
          <a:lstStyle/>
          <a:p>
            <a:pPr algn="ctr">
              <a:lnSpc>
                <a:spcPts val="3179"/>
              </a:lnSpc>
            </a:pPr>
            <a:r>
              <a:rPr lang="en-US" sz="2271" b="1" spc="22">
                <a:solidFill>
                  <a:srgbClr val="FFFFFF"/>
                </a:solidFill>
                <a:latin typeface="Aileron Heavy Bold"/>
                <a:ea typeface="Aileron Heavy Bold"/>
                <a:cs typeface="Aileron Heavy Bold"/>
                <a:sym typeface="Aileron Heavy Bold"/>
              </a:rPr>
              <a:t>TECHNOLOGIE DE POINTE</a:t>
            </a:r>
          </a:p>
          <a:p>
            <a:pPr algn="ctr">
              <a:lnSpc>
                <a:spcPts val="3179"/>
              </a:lnSpc>
              <a:spcBef>
                <a:spcPct val="0"/>
              </a:spcBef>
            </a:pPr>
            <a:endParaRPr lang="en-US" sz="2271" b="1" spc="22">
              <a:solidFill>
                <a:srgbClr val="FFFFFF"/>
              </a:solidFill>
              <a:latin typeface="Aileron Heavy Bold"/>
              <a:ea typeface="Aileron Heavy Bold"/>
              <a:cs typeface="Aileron Heavy Bold"/>
              <a:sym typeface="Aileron Heavy Bold"/>
            </a:endParaRPr>
          </a:p>
        </p:txBody>
      </p:sp>
      <p:sp>
        <p:nvSpPr>
          <p:cNvPr id="23" name="Freeform 23"/>
          <p:cNvSpPr/>
          <p:nvPr/>
        </p:nvSpPr>
        <p:spPr>
          <a:xfrm>
            <a:off x="16082068" y="414953"/>
            <a:ext cx="1177232" cy="1185701"/>
          </a:xfrm>
          <a:custGeom>
            <a:avLst/>
            <a:gdLst/>
            <a:ahLst/>
            <a:cxnLst/>
            <a:rect l="l" t="t" r="r" b="b"/>
            <a:pathLst>
              <a:path w="1177232" h="1185701">
                <a:moveTo>
                  <a:pt x="0" y="0"/>
                </a:moveTo>
                <a:lnTo>
                  <a:pt x="1177232" y="0"/>
                </a:lnTo>
                <a:lnTo>
                  <a:pt x="1177232" y="1185702"/>
                </a:lnTo>
                <a:lnTo>
                  <a:pt x="0" y="1185702"/>
                </a:lnTo>
                <a:lnTo>
                  <a:pt x="0" y="0"/>
                </a:lnTo>
                <a:close/>
              </a:path>
            </a:pathLst>
          </a:custGeom>
          <a:blipFill>
            <a:blip r:embed="rId3"/>
            <a:stretch>
              <a:fillRect/>
            </a:stretch>
          </a:blipFill>
        </p:spPr>
        <p:txBody>
          <a:bodyPr/>
          <a:lstStyle/>
          <a:p>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251781" y="-9525"/>
            <a:ext cx="13623720" cy="10250799"/>
            <a:chOff x="0" y="0"/>
            <a:chExt cx="810183" cy="609600"/>
          </a:xfrm>
        </p:grpSpPr>
        <p:sp>
          <p:nvSpPr>
            <p:cNvPr id="3" name="Freeform 3"/>
            <p:cNvSpPr/>
            <p:nvPr/>
          </p:nvSpPr>
          <p:spPr>
            <a:xfrm>
              <a:off x="0" y="0"/>
              <a:ext cx="810183" cy="609600"/>
            </a:xfrm>
            <a:custGeom>
              <a:avLst/>
              <a:gdLst/>
              <a:ahLst/>
              <a:cxnLst/>
              <a:rect l="l" t="t" r="r" b="b"/>
              <a:pathLst>
                <a:path w="810183" h="609600">
                  <a:moveTo>
                    <a:pt x="606983" y="0"/>
                  </a:moveTo>
                  <a:lnTo>
                    <a:pt x="0" y="0"/>
                  </a:lnTo>
                  <a:lnTo>
                    <a:pt x="203200" y="609600"/>
                  </a:lnTo>
                  <a:lnTo>
                    <a:pt x="810183" y="609600"/>
                  </a:lnTo>
                  <a:lnTo>
                    <a:pt x="606983" y="0"/>
                  </a:lnTo>
                  <a:close/>
                </a:path>
              </a:pathLst>
            </a:custGeom>
            <a:blipFill>
              <a:blip r:embed="rId2"/>
              <a:stretch>
                <a:fillRect l="-4451" r="-4451"/>
              </a:stretch>
            </a:blipFill>
          </p:spPr>
          <p:txBody>
            <a:bodyPr/>
            <a:lstStyle/>
            <a:p>
              <a:endParaRPr lang="en-IN"/>
            </a:p>
          </p:txBody>
        </p:sp>
      </p:grpSp>
      <p:grpSp>
        <p:nvGrpSpPr>
          <p:cNvPr id="4" name="Group 4"/>
          <p:cNvGrpSpPr/>
          <p:nvPr/>
        </p:nvGrpSpPr>
        <p:grpSpPr>
          <a:xfrm>
            <a:off x="4026876" y="1893642"/>
            <a:ext cx="4564658" cy="1126050"/>
            <a:chOff x="0" y="0"/>
            <a:chExt cx="2471129" cy="609600"/>
          </a:xfrm>
        </p:grpSpPr>
        <p:sp>
          <p:nvSpPr>
            <p:cNvPr id="5" name="Freeform 5"/>
            <p:cNvSpPr/>
            <p:nvPr/>
          </p:nvSpPr>
          <p:spPr>
            <a:xfrm>
              <a:off x="0" y="0"/>
              <a:ext cx="2471129" cy="609600"/>
            </a:xfrm>
            <a:custGeom>
              <a:avLst/>
              <a:gdLst/>
              <a:ahLst/>
              <a:cxnLst/>
              <a:rect l="l" t="t" r="r" b="b"/>
              <a:pathLst>
                <a:path w="2471129" h="609600">
                  <a:moveTo>
                    <a:pt x="2267929" y="0"/>
                  </a:moveTo>
                  <a:lnTo>
                    <a:pt x="0" y="0"/>
                  </a:lnTo>
                  <a:lnTo>
                    <a:pt x="203200" y="609600"/>
                  </a:lnTo>
                  <a:lnTo>
                    <a:pt x="2471129" y="609600"/>
                  </a:lnTo>
                  <a:lnTo>
                    <a:pt x="2267929" y="0"/>
                  </a:lnTo>
                  <a:close/>
                </a:path>
              </a:pathLst>
            </a:custGeom>
            <a:solidFill>
              <a:srgbClr val="2C92D5"/>
            </a:solidFill>
          </p:spPr>
          <p:txBody>
            <a:bodyPr/>
            <a:lstStyle/>
            <a:p>
              <a:endParaRPr lang="en-IN"/>
            </a:p>
          </p:txBody>
        </p:sp>
        <p:sp>
          <p:nvSpPr>
            <p:cNvPr id="6" name="TextBox 6"/>
            <p:cNvSpPr txBox="1"/>
            <p:nvPr/>
          </p:nvSpPr>
          <p:spPr>
            <a:xfrm>
              <a:off x="101600" y="-38100"/>
              <a:ext cx="2267929" cy="647700"/>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5327677" y="6310060"/>
            <a:ext cx="4564658" cy="1126050"/>
            <a:chOff x="0" y="0"/>
            <a:chExt cx="2471129" cy="609600"/>
          </a:xfrm>
        </p:grpSpPr>
        <p:sp>
          <p:nvSpPr>
            <p:cNvPr id="8" name="Freeform 8"/>
            <p:cNvSpPr/>
            <p:nvPr/>
          </p:nvSpPr>
          <p:spPr>
            <a:xfrm>
              <a:off x="0" y="0"/>
              <a:ext cx="2471129" cy="609600"/>
            </a:xfrm>
            <a:custGeom>
              <a:avLst/>
              <a:gdLst/>
              <a:ahLst/>
              <a:cxnLst/>
              <a:rect l="l" t="t" r="r" b="b"/>
              <a:pathLst>
                <a:path w="2471129" h="609600">
                  <a:moveTo>
                    <a:pt x="2267929" y="0"/>
                  </a:moveTo>
                  <a:lnTo>
                    <a:pt x="0" y="0"/>
                  </a:lnTo>
                  <a:lnTo>
                    <a:pt x="203200" y="609600"/>
                  </a:lnTo>
                  <a:lnTo>
                    <a:pt x="2471129" y="609600"/>
                  </a:lnTo>
                  <a:lnTo>
                    <a:pt x="2267929" y="0"/>
                  </a:lnTo>
                  <a:close/>
                </a:path>
              </a:pathLst>
            </a:custGeom>
            <a:solidFill>
              <a:srgbClr val="2C92D5"/>
            </a:solidFill>
          </p:spPr>
          <p:txBody>
            <a:bodyPr/>
            <a:lstStyle/>
            <a:p>
              <a:endParaRPr lang="en-IN"/>
            </a:p>
          </p:txBody>
        </p:sp>
        <p:sp>
          <p:nvSpPr>
            <p:cNvPr id="9" name="TextBox 9"/>
            <p:cNvSpPr txBox="1"/>
            <p:nvPr/>
          </p:nvSpPr>
          <p:spPr>
            <a:xfrm>
              <a:off x="101600" y="-38100"/>
              <a:ext cx="2267929" cy="647700"/>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4870477" y="576262"/>
            <a:ext cx="10917072" cy="904875"/>
          </a:xfrm>
          <a:prstGeom prst="rect">
            <a:avLst/>
          </a:prstGeom>
        </p:spPr>
        <p:txBody>
          <a:bodyPr lIns="0" tIns="0" rIns="0" bIns="0" rtlCol="0" anchor="t">
            <a:spAutoFit/>
          </a:bodyPr>
          <a:lstStyle/>
          <a:p>
            <a:pPr algn="r">
              <a:lnSpc>
                <a:spcPts val="7188"/>
              </a:lnSpc>
            </a:pPr>
            <a:r>
              <a:rPr lang="en-US" sz="5990" spc="59">
                <a:solidFill>
                  <a:srgbClr val="191919"/>
                </a:solidFill>
                <a:latin typeface="Aileron Heavy"/>
                <a:ea typeface="Aileron Heavy"/>
                <a:cs typeface="Aileron Heavy"/>
                <a:sym typeface="Aileron Heavy"/>
              </a:rPr>
              <a:t> </a:t>
            </a:r>
            <a:r>
              <a:rPr lang="en-US" sz="5990" b="1" spc="59">
                <a:solidFill>
                  <a:srgbClr val="191919"/>
                </a:solidFill>
                <a:latin typeface="Aileron Heavy"/>
                <a:ea typeface="Aileron Heavy"/>
                <a:cs typeface="Aileron Heavy"/>
                <a:sym typeface="Aileron Heavy"/>
              </a:rPr>
              <a:t>VISION ET MISSION</a:t>
            </a:r>
          </a:p>
        </p:txBody>
      </p:sp>
      <p:sp>
        <p:nvSpPr>
          <p:cNvPr id="11" name="TextBox 11"/>
          <p:cNvSpPr txBox="1"/>
          <p:nvPr/>
        </p:nvSpPr>
        <p:spPr>
          <a:xfrm>
            <a:off x="6078035" y="3196183"/>
            <a:ext cx="11181265" cy="2485228"/>
          </a:xfrm>
          <a:prstGeom prst="rect">
            <a:avLst/>
          </a:prstGeom>
        </p:spPr>
        <p:txBody>
          <a:bodyPr lIns="0" tIns="0" rIns="0" bIns="0" rtlCol="0" anchor="t">
            <a:spAutoFit/>
          </a:bodyPr>
          <a:lstStyle/>
          <a:p>
            <a:pPr algn="just">
              <a:lnSpc>
                <a:spcPts val="3989"/>
              </a:lnSpc>
              <a:spcBef>
                <a:spcPct val="0"/>
              </a:spcBef>
            </a:pPr>
            <a:r>
              <a:rPr lang="en-US" sz="2319" u="none" strike="noStrike" spc="134">
                <a:solidFill>
                  <a:srgbClr val="191919"/>
                </a:solidFill>
                <a:latin typeface="Aileron Regular"/>
                <a:ea typeface="Aileron Regular"/>
                <a:cs typeface="Aileron Regular"/>
                <a:sym typeface="Aileron Regular"/>
              </a:rPr>
              <a:t>Nous nous battons pour atteindre une sécurité optimale en fournissant des services sur mesures et de haute qualité à nos clients et leur environnement. GIPS ne se contente pas seulement de satisfaire les attentes de ses clients, nous cherchons constamment à les devancer afin d’assurer leur tranquillité d’esprit.</a:t>
            </a:r>
          </a:p>
        </p:txBody>
      </p:sp>
      <p:sp>
        <p:nvSpPr>
          <p:cNvPr id="12" name="TextBox 12"/>
          <p:cNvSpPr txBox="1"/>
          <p:nvPr/>
        </p:nvSpPr>
        <p:spPr>
          <a:xfrm>
            <a:off x="5969289" y="6541298"/>
            <a:ext cx="3063942" cy="555943"/>
          </a:xfrm>
          <a:prstGeom prst="rect">
            <a:avLst/>
          </a:prstGeom>
        </p:spPr>
        <p:txBody>
          <a:bodyPr lIns="0" tIns="0" rIns="0" bIns="0" rtlCol="0" anchor="t">
            <a:spAutoFit/>
          </a:bodyPr>
          <a:lstStyle/>
          <a:p>
            <a:pPr algn="ctr">
              <a:lnSpc>
                <a:spcPts val="4532"/>
              </a:lnSpc>
              <a:spcBef>
                <a:spcPct val="0"/>
              </a:spcBef>
            </a:pPr>
            <a:r>
              <a:rPr lang="en-US" sz="3237" b="1" spc="32">
                <a:solidFill>
                  <a:srgbClr val="FFFFFF"/>
                </a:solidFill>
                <a:latin typeface="Aileron Heavy Bold"/>
                <a:ea typeface="Aileron Heavy Bold"/>
                <a:cs typeface="Aileron Heavy Bold"/>
                <a:sym typeface="Aileron Heavy Bold"/>
              </a:rPr>
              <a:t>NOTRE VISION</a:t>
            </a:r>
          </a:p>
        </p:txBody>
      </p:sp>
      <p:sp>
        <p:nvSpPr>
          <p:cNvPr id="13" name="TextBox 13"/>
          <p:cNvSpPr txBox="1"/>
          <p:nvPr/>
        </p:nvSpPr>
        <p:spPr>
          <a:xfrm>
            <a:off x="7371939" y="7398011"/>
            <a:ext cx="9887361" cy="2990053"/>
          </a:xfrm>
          <a:prstGeom prst="rect">
            <a:avLst/>
          </a:prstGeom>
        </p:spPr>
        <p:txBody>
          <a:bodyPr lIns="0" tIns="0" rIns="0" bIns="0" rtlCol="0" anchor="t">
            <a:spAutoFit/>
          </a:bodyPr>
          <a:lstStyle/>
          <a:p>
            <a:pPr algn="just">
              <a:lnSpc>
                <a:spcPts val="3989"/>
              </a:lnSpc>
            </a:pPr>
            <a:r>
              <a:rPr lang="en-US" sz="2319" spc="134">
                <a:solidFill>
                  <a:srgbClr val="191919"/>
                </a:solidFill>
                <a:latin typeface="Aileron Regular"/>
                <a:ea typeface="Aileron Regular"/>
                <a:cs typeface="Aileron Regular"/>
                <a:sym typeface="Aileron Regular"/>
              </a:rPr>
              <a:t>Nous perfectionnons continuellement nos stratégies pour exceller dans notre domaine et devenir une référence en matière de sécurité dans nos zones d'opération.</a:t>
            </a:r>
          </a:p>
          <a:p>
            <a:pPr algn="just">
              <a:lnSpc>
                <a:spcPts val="3989"/>
              </a:lnSpc>
            </a:pPr>
            <a:r>
              <a:rPr lang="en-US" sz="2319" spc="134">
                <a:solidFill>
                  <a:srgbClr val="191919"/>
                </a:solidFill>
                <a:latin typeface="Aileron Regular"/>
                <a:ea typeface="Aileron Regular"/>
                <a:cs typeface="Aileron Regular"/>
                <a:sym typeface="Aileron Regular"/>
              </a:rPr>
              <a:t>Cela met en avant votre engagement envers l'excellence et la sécurité</a:t>
            </a:r>
          </a:p>
          <a:p>
            <a:pPr marL="0" lvl="0" indent="0" algn="just">
              <a:lnSpc>
                <a:spcPts val="3989"/>
              </a:lnSpc>
              <a:spcBef>
                <a:spcPct val="0"/>
              </a:spcBef>
            </a:pPr>
            <a:endParaRPr lang="en-US" sz="2319" spc="134">
              <a:solidFill>
                <a:srgbClr val="191919"/>
              </a:solidFill>
              <a:latin typeface="Aileron Regular"/>
              <a:ea typeface="Aileron Regular"/>
              <a:cs typeface="Aileron Regular"/>
              <a:sym typeface="Aileron Regular"/>
            </a:endParaRPr>
          </a:p>
        </p:txBody>
      </p:sp>
      <p:sp>
        <p:nvSpPr>
          <p:cNvPr id="14" name="TextBox 14"/>
          <p:cNvSpPr txBox="1"/>
          <p:nvPr/>
        </p:nvSpPr>
        <p:spPr>
          <a:xfrm>
            <a:off x="4546064" y="2124880"/>
            <a:ext cx="3673542" cy="596900"/>
          </a:xfrm>
          <a:prstGeom prst="rect">
            <a:avLst/>
          </a:prstGeom>
        </p:spPr>
        <p:txBody>
          <a:bodyPr lIns="0" tIns="0" rIns="0" bIns="0" rtlCol="0" anchor="t">
            <a:spAutoFit/>
          </a:bodyPr>
          <a:lstStyle/>
          <a:p>
            <a:pPr algn="ctr">
              <a:lnSpc>
                <a:spcPts val="4899"/>
              </a:lnSpc>
              <a:spcBef>
                <a:spcPct val="0"/>
              </a:spcBef>
            </a:pPr>
            <a:r>
              <a:rPr lang="en-US" sz="3499" b="1" spc="34">
                <a:solidFill>
                  <a:srgbClr val="FFFFFF"/>
                </a:solidFill>
                <a:latin typeface="Aileron Heavy Bold"/>
                <a:ea typeface="Aileron Heavy Bold"/>
                <a:cs typeface="Aileron Heavy Bold"/>
                <a:sym typeface="Aileron Heavy Bold"/>
              </a:rPr>
              <a:t>NOTRE MISSION</a:t>
            </a:r>
          </a:p>
        </p:txBody>
      </p:sp>
      <p:sp>
        <p:nvSpPr>
          <p:cNvPr id="15" name="Freeform 15"/>
          <p:cNvSpPr/>
          <p:nvPr/>
        </p:nvSpPr>
        <p:spPr>
          <a:xfrm>
            <a:off x="16082068" y="414953"/>
            <a:ext cx="1177232" cy="1185701"/>
          </a:xfrm>
          <a:custGeom>
            <a:avLst/>
            <a:gdLst/>
            <a:ahLst/>
            <a:cxnLst/>
            <a:rect l="l" t="t" r="r" b="b"/>
            <a:pathLst>
              <a:path w="1177232" h="1185701">
                <a:moveTo>
                  <a:pt x="0" y="0"/>
                </a:moveTo>
                <a:lnTo>
                  <a:pt x="1177232" y="0"/>
                </a:lnTo>
                <a:lnTo>
                  <a:pt x="1177232" y="1185702"/>
                </a:lnTo>
                <a:lnTo>
                  <a:pt x="0" y="1185702"/>
                </a:lnTo>
                <a:lnTo>
                  <a:pt x="0" y="0"/>
                </a:lnTo>
                <a:close/>
              </a:path>
            </a:pathLst>
          </a:custGeom>
          <a:blipFill>
            <a:blip r:embed="rId3"/>
            <a:stretch>
              <a:fillRect/>
            </a:stretch>
          </a:blipFill>
        </p:spPr>
        <p:txBody>
          <a:bodyPr/>
          <a:lstStyle/>
          <a:p>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741444" flipH="1" flipV="1">
            <a:off x="14659673" y="8304608"/>
            <a:ext cx="7256654" cy="5738804"/>
          </a:xfrm>
          <a:custGeom>
            <a:avLst/>
            <a:gdLst/>
            <a:ahLst/>
            <a:cxnLst/>
            <a:rect l="l" t="t" r="r" b="b"/>
            <a:pathLst>
              <a:path w="7256654" h="5738804">
                <a:moveTo>
                  <a:pt x="7256654" y="5738803"/>
                </a:moveTo>
                <a:lnTo>
                  <a:pt x="0" y="5738803"/>
                </a:lnTo>
                <a:lnTo>
                  <a:pt x="0" y="0"/>
                </a:lnTo>
                <a:lnTo>
                  <a:pt x="7256654" y="0"/>
                </a:lnTo>
                <a:lnTo>
                  <a:pt x="7256654" y="5738803"/>
                </a:lnTo>
                <a:close/>
              </a:path>
            </a:pathLst>
          </a:custGeom>
          <a:blipFill>
            <a:blip r:embed="rId2">
              <a:alphaModFix amt="12000"/>
              <a:extLst>
                <a:ext uri="{96DAC541-7B7A-43D3-8B79-37D633B846F1}">
                  <asvg:svgBlip xmlns:asvg="http://schemas.microsoft.com/office/drawing/2016/SVG/main" xmlns="" r:embed="rId3"/>
                </a:ext>
              </a:extLst>
            </a:blip>
            <a:stretch>
              <a:fillRect/>
            </a:stretch>
          </a:blipFill>
        </p:spPr>
        <p:txBody>
          <a:bodyPr/>
          <a:lstStyle/>
          <a:p>
            <a:endParaRPr lang="en-IN"/>
          </a:p>
        </p:txBody>
      </p:sp>
      <p:sp>
        <p:nvSpPr>
          <p:cNvPr id="3" name="Freeform 3"/>
          <p:cNvSpPr/>
          <p:nvPr/>
        </p:nvSpPr>
        <p:spPr>
          <a:xfrm>
            <a:off x="-4274641" y="8836087"/>
            <a:ext cx="7256654" cy="5738804"/>
          </a:xfrm>
          <a:custGeom>
            <a:avLst/>
            <a:gdLst/>
            <a:ahLst/>
            <a:cxnLst/>
            <a:rect l="l" t="t" r="r" b="b"/>
            <a:pathLst>
              <a:path w="7256654" h="5738804">
                <a:moveTo>
                  <a:pt x="0" y="0"/>
                </a:moveTo>
                <a:lnTo>
                  <a:pt x="7256654" y="0"/>
                </a:lnTo>
                <a:lnTo>
                  <a:pt x="7256654" y="5738804"/>
                </a:lnTo>
                <a:lnTo>
                  <a:pt x="0" y="5738804"/>
                </a:lnTo>
                <a:lnTo>
                  <a:pt x="0" y="0"/>
                </a:lnTo>
                <a:close/>
              </a:path>
            </a:pathLst>
          </a:custGeom>
          <a:blipFill>
            <a:blip r:embed="rId2">
              <a:alphaModFix amt="12000"/>
              <a:extLst>
                <a:ext uri="{96DAC541-7B7A-43D3-8B79-37D633B846F1}">
                  <asvg:svgBlip xmlns:asvg="http://schemas.microsoft.com/office/drawing/2016/SVG/main" xmlns="" r:embed="rId3"/>
                </a:ext>
              </a:extLst>
            </a:blip>
            <a:stretch>
              <a:fillRect/>
            </a:stretch>
          </a:blipFill>
        </p:spPr>
        <p:txBody>
          <a:bodyPr/>
          <a:lstStyle/>
          <a:p>
            <a:endParaRPr lang="en-IN"/>
          </a:p>
        </p:txBody>
      </p:sp>
      <p:sp>
        <p:nvSpPr>
          <p:cNvPr id="4" name="Freeform 4"/>
          <p:cNvSpPr/>
          <p:nvPr/>
        </p:nvSpPr>
        <p:spPr>
          <a:xfrm rot="5400000">
            <a:off x="-1045496" y="-738099"/>
            <a:ext cx="2700592" cy="1077675"/>
          </a:xfrm>
          <a:custGeom>
            <a:avLst/>
            <a:gdLst/>
            <a:ahLst/>
            <a:cxnLst/>
            <a:rect l="l" t="t" r="r" b="b"/>
            <a:pathLst>
              <a:path w="2700592" h="1077675">
                <a:moveTo>
                  <a:pt x="0" y="0"/>
                </a:moveTo>
                <a:lnTo>
                  <a:pt x="2700592" y="0"/>
                </a:lnTo>
                <a:lnTo>
                  <a:pt x="2700592" y="1077674"/>
                </a:lnTo>
                <a:lnTo>
                  <a:pt x="0" y="1077674"/>
                </a:lnTo>
                <a:lnTo>
                  <a:pt x="0" y="0"/>
                </a:lnTo>
                <a:close/>
              </a:path>
            </a:pathLst>
          </a:custGeom>
          <a:blipFill>
            <a:blip r:embed="rId4">
              <a:extLst>
                <a:ext uri="{96DAC541-7B7A-43D3-8B79-37D633B846F1}">
                  <asvg:svgBlip xmlns:asvg="http://schemas.microsoft.com/office/drawing/2016/SVG/main" xmlns="" r:embed="rId5"/>
                </a:ext>
              </a:extLst>
            </a:blip>
            <a:stretch>
              <a:fillRect r="-33573"/>
            </a:stretch>
          </a:blipFill>
        </p:spPr>
        <p:txBody>
          <a:bodyPr/>
          <a:lstStyle/>
          <a:p>
            <a:endParaRPr lang="en-IN"/>
          </a:p>
        </p:txBody>
      </p:sp>
      <p:grpSp>
        <p:nvGrpSpPr>
          <p:cNvPr id="5" name="Group 5"/>
          <p:cNvGrpSpPr/>
          <p:nvPr/>
        </p:nvGrpSpPr>
        <p:grpSpPr>
          <a:xfrm>
            <a:off x="0" y="414953"/>
            <a:ext cx="14129657" cy="967740"/>
            <a:chOff x="0" y="0"/>
            <a:chExt cx="3721391" cy="254878"/>
          </a:xfrm>
        </p:grpSpPr>
        <p:sp>
          <p:nvSpPr>
            <p:cNvPr id="6" name="Freeform 6"/>
            <p:cNvSpPr/>
            <p:nvPr/>
          </p:nvSpPr>
          <p:spPr>
            <a:xfrm>
              <a:off x="0" y="0"/>
              <a:ext cx="3721391" cy="254878"/>
            </a:xfrm>
            <a:custGeom>
              <a:avLst/>
              <a:gdLst/>
              <a:ahLst/>
              <a:cxnLst/>
              <a:rect l="l" t="t" r="r" b="b"/>
              <a:pathLst>
                <a:path w="3721391" h="254878">
                  <a:moveTo>
                    <a:pt x="5479" y="0"/>
                  </a:moveTo>
                  <a:lnTo>
                    <a:pt x="3715912" y="0"/>
                  </a:lnTo>
                  <a:cubicBezTo>
                    <a:pt x="3717365" y="0"/>
                    <a:pt x="3718759" y="577"/>
                    <a:pt x="3719786" y="1605"/>
                  </a:cubicBezTo>
                  <a:cubicBezTo>
                    <a:pt x="3720814" y="2632"/>
                    <a:pt x="3721391" y="4026"/>
                    <a:pt x="3721391" y="5479"/>
                  </a:cubicBezTo>
                  <a:lnTo>
                    <a:pt x="3721391" y="249399"/>
                  </a:lnTo>
                  <a:cubicBezTo>
                    <a:pt x="3721391" y="250852"/>
                    <a:pt x="3720814" y="252246"/>
                    <a:pt x="3719786" y="253273"/>
                  </a:cubicBezTo>
                  <a:cubicBezTo>
                    <a:pt x="3718759" y="254301"/>
                    <a:pt x="3717365" y="254878"/>
                    <a:pt x="3715912" y="254878"/>
                  </a:cubicBezTo>
                  <a:lnTo>
                    <a:pt x="5479" y="254878"/>
                  </a:lnTo>
                  <a:cubicBezTo>
                    <a:pt x="4026" y="254878"/>
                    <a:pt x="2632" y="254301"/>
                    <a:pt x="1605" y="253273"/>
                  </a:cubicBezTo>
                  <a:cubicBezTo>
                    <a:pt x="577" y="252246"/>
                    <a:pt x="0" y="250852"/>
                    <a:pt x="0" y="249399"/>
                  </a:cubicBezTo>
                  <a:lnTo>
                    <a:pt x="0" y="5479"/>
                  </a:lnTo>
                  <a:cubicBezTo>
                    <a:pt x="0" y="4026"/>
                    <a:pt x="577" y="2632"/>
                    <a:pt x="1605" y="1605"/>
                  </a:cubicBezTo>
                  <a:cubicBezTo>
                    <a:pt x="2632" y="577"/>
                    <a:pt x="4026" y="0"/>
                    <a:pt x="5479" y="0"/>
                  </a:cubicBezTo>
                  <a:close/>
                </a:path>
              </a:pathLst>
            </a:custGeom>
            <a:solidFill>
              <a:srgbClr val="2C92D5"/>
            </a:solidFill>
          </p:spPr>
          <p:txBody>
            <a:bodyPr/>
            <a:lstStyle/>
            <a:p>
              <a:endParaRPr lang="en-IN"/>
            </a:p>
          </p:txBody>
        </p:sp>
        <p:sp>
          <p:nvSpPr>
            <p:cNvPr id="7" name="TextBox 7"/>
            <p:cNvSpPr txBox="1"/>
            <p:nvPr/>
          </p:nvSpPr>
          <p:spPr>
            <a:xfrm>
              <a:off x="0" y="-200025"/>
              <a:ext cx="3721391" cy="454903"/>
            </a:xfrm>
            <a:prstGeom prst="rect">
              <a:avLst/>
            </a:prstGeom>
          </p:spPr>
          <p:txBody>
            <a:bodyPr lIns="50800" tIns="50800" rIns="50800" bIns="50800" rtlCol="0" anchor="ctr"/>
            <a:lstStyle/>
            <a:p>
              <a:pPr algn="ctr">
                <a:lnSpc>
                  <a:spcPts val="5040"/>
                </a:lnSpc>
              </a:pPr>
              <a:endParaRPr/>
            </a:p>
          </p:txBody>
        </p:sp>
      </p:grpSp>
      <p:sp>
        <p:nvSpPr>
          <p:cNvPr id="8" name="Freeform 8"/>
          <p:cNvSpPr/>
          <p:nvPr/>
        </p:nvSpPr>
        <p:spPr>
          <a:xfrm>
            <a:off x="6909601" y="2316393"/>
            <a:ext cx="400118" cy="326096"/>
          </a:xfrm>
          <a:custGeom>
            <a:avLst/>
            <a:gdLst/>
            <a:ahLst/>
            <a:cxnLst/>
            <a:rect l="l" t="t" r="r" b="b"/>
            <a:pathLst>
              <a:path w="400118" h="326096">
                <a:moveTo>
                  <a:pt x="0" y="0"/>
                </a:moveTo>
                <a:lnTo>
                  <a:pt x="400118" y="0"/>
                </a:lnTo>
                <a:lnTo>
                  <a:pt x="400118" y="326097"/>
                </a:lnTo>
                <a:lnTo>
                  <a:pt x="0" y="326097"/>
                </a:lnTo>
                <a:lnTo>
                  <a:pt x="0" y="0"/>
                </a:lnTo>
                <a:close/>
              </a:path>
            </a:pathLst>
          </a:custGeom>
          <a:blipFill>
            <a:blip r:embed="rId6">
              <a:extLst>
                <a:ext uri="{96DAC541-7B7A-43D3-8B79-37D633B846F1}">
                  <asvg:svgBlip xmlns:asvg="http://schemas.microsoft.com/office/drawing/2016/SVG/main" xmlns="" r:embed="rId7"/>
                </a:ext>
              </a:extLst>
            </a:blip>
            <a:stretch>
              <a:fillRect/>
            </a:stretch>
          </a:blipFill>
        </p:spPr>
        <p:txBody>
          <a:bodyPr/>
          <a:lstStyle/>
          <a:p>
            <a:endParaRPr lang="en-IN"/>
          </a:p>
        </p:txBody>
      </p:sp>
      <p:sp>
        <p:nvSpPr>
          <p:cNvPr id="9" name="TextBox 9"/>
          <p:cNvSpPr txBox="1"/>
          <p:nvPr/>
        </p:nvSpPr>
        <p:spPr>
          <a:xfrm>
            <a:off x="304800" y="491153"/>
            <a:ext cx="13824857" cy="1590523"/>
          </a:xfrm>
          <a:prstGeom prst="rect">
            <a:avLst/>
          </a:prstGeom>
        </p:spPr>
        <p:txBody>
          <a:bodyPr lIns="0" tIns="0" rIns="0" bIns="0" rtlCol="0" anchor="t">
            <a:spAutoFit/>
          </a:bodyPr>
          <a:lstStyle/>
          <a:p>
            <a:pPr algn="l">
              <a:lnSpc>
                <a:spcPts val="6163"/>
              </a:lnSpc>
            </a:pPr>
            <a:r>
              <a:rPr lang="en-US" sz="5759" b="1" spc="57">
                <a:solidFill>
                  <a:srgbClr val="FFFFFF"/>
                </a:solidFill>
                <a:latin typeface="Aileron Heavy"/>
                <a:ea typeface="Aileron Heavy"/>
                <a:cs typeface="Aileron Heavy"/>
                <a:sym typeface="Aileron Heavy"/>
              </a:rPr>
              <a:t>NOTRE ÉQUIPE D'EXPERTS QUALIFIÉS</a:t>
            </a:r>
          </a:p>
          <a:p>
            <a:pPr algn="l">
              <a:lnSpc>
                <a:spcPts val="6163"/>
              </a:lnSpc>
            </a:pPr>
            <a:endParaRPr lang="en-US" sz="5759" b="1" spc="57">
              <a:solidFill>
                <a:srgbClr val="FFFFFF"/>
              </a:solidFill>
              <a:latin typeface="Aileron Heavy"/>
              <a:ea typeface="Aileron Heavy"/>
              <a:cs typeface="Aileron Heavy"/>
              <a:sym typeface="Aileron Heavy"/>
            </a:endParaRPr>
          </a:p>
        </p:txBody>
      </p:sp>
      <p:sp>
        <p:nvSpPr>
          <p:cNvPr id="11" name="Freeform 11"/>
          <p:cNvSpPr/>
          <p:nvPr/>
        </p:nvSpPr>
        <p:spPr>
          <a:xfrm>
            <a:off x="9144000" y="-370917"/>
            <a:ext cx="1699256" cy="1019554"/>
          </a:xfrm>
          <a:custGeom>
            <a:avLst/>
            <a:gdLst/>
            <a:ahLst/>
            <a:cxnLst/>
            <a:rect l="l" t="t" r="r" b="b"/>
            <a:pathLst>
              <a:path w="1699256" h="1019554">
                <a:moveTo>
                  <a:pt x="0" y="0"/>
                </a:moveTo>
                <a:lnTo>
                  <a:pt x="1699256" y="0"/>
                </a:lnTo>
                <a:lnTo>
                  <a:pt x="1699256" y="1019553"/>
                </a:lnTo>
                <a:lnTo>
                  <a:pt x="0" y="1019553"/>
                </a:lnTo>
                <a:lnTo>
                  <a:pt x="0" y="0"/>
                </a:lnTo>
                <a:close/>
              </a:path>
            </a:pathLst>
          </a:custGeom>
          <a:blipFill>
            <a:blip r:embed="rId8">
              <a:extLst>
                <a:ext uri="{96DAC541-7B7A-43D3-8B79-37D633B846F1}">
                  <asvg:svgBlip xmlns:asvg="http://schemas.microsoft.com/office/drawing/2016/SVG/main" xmlns="" r:embed="rId9"/>
                </a:ext>
              </a:extLst>
            </a:blip>
            <a:stretch>
              <a:fillRect/>
            </a:stretch>
          </a:blipFill>
        </p:spPr>
        <p:txBody>
          <a:bodyPr/>
          <a:lstStyle/>
          <a:p>
            <a:endParaRPr lang="en-IN"/>
          </a:p>
        </p:txBody>
      </p:sp>
      <p:sp>
        <p:nvSpPr>
          <p:cNvPr id="12" name="Freeform 12"/>
          <p:cNvSpPr/>
          <p:nvPr/>
        </p:nvSpPr>
        <p:spPr>
          <a:xfrm>
            <a:off x="17774614" y="-137234"/>
            <a:ext cx="677531" cy="552187"/>
          </a:xfrm>
          <a:custGeom>
            <a:avLst/>
            <a:gdLst/>
            <a:ahLst/>
            <a:cxnLst/>
            <a:rect l="l" t="t" r="r" b="b"/>
            <a:pathLst>
              <a:path w="677531" h="552187">
                <a:moveTo>
                  <a:pt x="0" y="0"/>
                </a:moveTo>
                <a:lnTo>
                  <a:pt x="677530" y="0"/>
                </a:lnTo>
                <a:lnTo>
                  <a:pt x="677530" y="552187"/>
                </a:lnTo>
                <a:lnTo>
                  <a:pt x="0" y="552187"/>
                </a:lnTo>
                <a:lnTo>
                  <a:pt x="0" y="0"/>
                </a:lnTo>
                <a:close/>
              </a:path>
            </a:pathLst>
          </a:custGeom>
          <a:blipFill>
            <a:blip r:embed="rId10">
              <a:extLst>
                <a:ext uri="{96DAC541-7B7A-43D3-8B79-37D633B846F1}">
                  <asvg:svgBlip xmlns:asvg="http://schemas.microsoft.com/office/drawing/2016/SVG/main" xmlns="" r:embed="rId11"/>
                </a:ext>
              </a:extLst>
            </a:blip>
            <a:stretch>
              <a:fillRect/>
            </a:stretch>
          </a:blipFill>
        </p:spPr>
        <p:txBody>
          <a:bodyPr/>
          <a:lstStyle/>
          <a:p>
            <a:endParaRPr lang="en-IN"/>
          </a:p>
        </p:txBody>
      </p:sp>
      <p:sp>
        <p:nvSpPr>
          <p:cNvPr id="13" name="TextBox 13"/>
          <p:cNvSpPr txBox="1"/>
          <p:nvPr/>
        </p:nvSpPr>
        <p:spPr>
          <a:xfrm>
            <a:off x="1779692" y="6955416"/>
            <a:ext cx="3754767" cy="390525"/>
          </a:xfrm>
          <a:prstGeom prst="rect">
            <a:avLst/>
          </a:prstGeom>
        </p:spPr>
        <p:txBody>
          <a:bodyPr lIns="0" tIns="0" rIns="0" bIns="0" rtlCol="0" anchor="t">
            <a:spAutoFit/>
          </a:bodyPr>
          <a:lstStyle/>
          <a:p>
            <a:pPr algn="l">
              <a:lnSpc>
                <a:spcPts val="3000"/>
              </a:lnSpc>
            </a:pPr>
            <a:r>
              <a:rPr lang="en-US" sz="2500" b="1" spc="25">
                <a:solidFill>
                  <a:srgbClr val="191919"/>
                </a:solidFill>
                <a:latin typeface="Aileron Heavy Bold"/>
                <a:ea typeface="Aileron Heavy Bold"/>
                <a:cs typeface="Aileron Heavy Bold"/>
                <a:sym typeface="Aileron Heavy Bold"/>
              </a:rPr>
              <a:t>AGENTS DE SÉCURITÉ</a:t>
            </a:r>
          </a:p>
        </p:txBody>
      </p:sp>
      <p:sp>
        <p:nvSpPr>
          <p:cNvPr id="14" name="TextBox 14"/>
          <p:cNvSpPr txBox="1"/>
          <p:nvPr/>
        </p:nvSpPr>
        <p:spPr>
          <a:xfrm>
            <a:off x="1660948" y="7556492"/>
            <a:ext cx="4106553" cy="2340005"/>
          </a:xfrm>
          <a:prstGeom prst="rect">
            <a:avLst/>
          </a:prstGeom>
        </p:spPr>
        <p:txBody>
          <a:bodyPr lIns="0" tIns="0" rIns="0" bIns="0" rtlCol="0" anchor="t">
            <a:spAutoFit/>
          </a:bodyPr>
          <a:lstStyle/>
          <a:p>
            <a:pPr algn="l">
              <a:lnSpc>
                <a:spcPts val="3108"/>
              </a:lnSpc>
            </a:pPr>
            <a:r>
              <a:rPr lang="en-US" sz="2319" spc="134">
                <a:solidFill>
                  <a:srgbClr val="191919"/>
                </a:solidFill>
                <a:latin typeface="Aileron Regular"/>
                <a:ea typeface="Aileron Regular"/>
                <a:cs typeface="Aileron Regular"/>
                <a:sym typeface="Aileron Regular"/>
              </a:rPr>
              <a:t>Nos agents de sécurité sont soigneusement sélectionnés et formés pour garantir qu'ils sont compétents et fiables.</a:t>
            </a:r>
          </a:p>
          <a:p>
            <a:pPr algn="l">
              <a:lnSpc>
                <a:spcPts val="3108"/>
              </a:lnSpc>
            </a:pPr>
            <a:endParaRPr lang="en-US" sz="2319" spc="134">
              <a:solidFill>
                <a:srgbClr val="191919"/>
              </a:solidFill>
              <a:latin typeface="Aileron Regular"/>
              <a:ea typeface="Aileron Regular"/>
              <a:cs typeface="Aileron Regular"/>
              <a:sym typeface="Aileron Regular"/>
            </a:endParaRPr>
          </a:p>
        </p:txBody>
      </p:sp>
      <p:grpSp>
        <p:nvGrpSpPr>
          <p:cNvPr id="15" name="Group 15"/>
          <p:cNvGrpSpPr>
            <a:grpSpLocks noChangeAspect="1"/>
          </p:cNvGrpSpPr>
          <p:nvPr/>
        </p:nvGrpSpPr>
        <p:grpSpPr>
          <a:xfrm>
            <a:off x="1264769" y="2199035"/>
            <a:ext cx="4445582" cy="4591397"/>
            <a:chOff x="0" y="0"/>
            <a:chExt cx="6350000" cy="6558280"/>
          </a:xfrm>
        </p:grpSpPr>
        <p:sp>
          <p:nvSpPr>
            <p:cNvPr id="16" name="Freeform 16"/>
            <p:cNvSpPr/>
            <p:nvPr/>
          </p:nvSpPr>
          <p:spPr>
            <a:xfrm>
              <a:off x="74930" y="74930"/>
              <a:ext cx="6200140" cy="6408420"/>
            </a:xfrm>
            <a:custGeom>
              <a:avLst/>
              <a:gdLst/>
              <a:ahLst/>
              <a:cxnLst/>
              <a:rect l="l" t="t" r="r" b="b"/>
              <a:pathLst>
                <a:path w="6200140" h="6408420">
                  <a:moveTo>
                    <a:pt x="6200140" y="5351780"/>
                  </a:moveTo>
                  <a:cubicBezTo>
                    <a:pt x="6200140" y="5935980"/>
                    <a:pt x="5726430" y="6408420"/>
                    <a:pt x="5143500" y="6408420"/>
                  </a:cubicBezTo>
                  <a:lnTo>
                    <a:pt x="1056640" y="6408420"/>
                  </a:lnTo>
                  <a:cubicBezTo>
                    <a:pt x="472440" y="6408420"/>
                    <a:pt x="0" y="5934710"/>
                    <a:pt x="0" y="5351780"/>
                  </a:cubicBezTo>
                  <a:lnTo>
                    <a:pt x="0" y="1056640"/>
                  </a:lnTo>
                  <a:cubicBezTo>
                    <a:pt x="0" y="472440"/>
                    <a:pt x="473710" y="0"/>
                    <a:pt x="1056640" y="0"/>
                  </a:cubicBezTo>
                  <a:lnTo>
                    <a:pt x="5143500" y="0"/>
                  </a:lnTo>
                  <a:cubicBezTo>
                    <a:pt x="5727700" y="0"/>
                    <a:pt x="6200140" y="473710"/>
                    <a:pt x="6200140" y="1056640"/>
                  </a:cubicBezTo>
                  <a:lnTo>
                    <a:pt x="6200140" y="5351780"/>
                  </a:lnTo>
                  <a:close/>
                </a:path>
              </a:pathLst>
            </a:custGeom>
            <a:blipFill>
              <a:blip r:embed="rId12"/>
              <a:stretch>
                <a:fillRect l="-27567" r="-27567"/>
              </a:stretch>
            </a:blipFill>
          </p:spPr>
          <p:txBody>
            <a:bodyPr/>
            <a:lstStyle/>
            <a:p>
              <a:endParaRPr lang="en-IN"/>
            </a:p>
          </p:txBody>
        </p:sp>
        <p:sp>
          <p:nvSpPr>
            <p:cNvPr id="17" name="Freeform 17"/>
            <p:cNvSpPr/>
            <p:nvPr/>
          </p:nvSpPr>
          <p:spPr>
            <a:xfrm>
              <a:off x="0" y="0"/>
              <a:ext cx="6350000" cy="6558280"/>
            </a:xfrm>
            <a:custGeom>
              <a:avLst/>
              <a:gdLst/>
              <a:ahLst/>
              <a:cxnLst/>
              <a:rect l="l" t="t" r="r" b="b"/>
              <a:pathLst>
                <a:path w="6350000" h="655828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2C92D5"/>
            </a:solidFill>
          </p:spPr>
          <p:txBody>
            <a:bodyPr/>
            <a:lstStyle/>
            <a:p>
              <a:endParaRPr lang="en-IN"/>
            </a:p>
          </p:txBody>
        </p:sp>
      </p:grpSp>
      <p:sp>
        <p:nvSpPr>
          <p:cNvPr id="18" name="Freeform 18"/>
          <p:cNvSpPr/>
          <p:nvPr/>
        </p:nvSpPr>
        <p:spPr>
          <a:xfrm>
            <a:off x="1264769" y="8718728"/>
            <a:ext cx="7256654" cy="5738804"/>
          </a:xfrm>
          <a:custGeom>
            <a:avLst/>
            <a:gdLst/>
            <a:ahLst/>
            <a:cxnLst/>
            <a:rect l="l" t="t" r="r" b="b"/>
            <a:pathLst>
              <a:path w="7256654" h="5738804">
                <a:moveTo>
                  <a:pt x="0" y="0"/>
                </a:moveTo>
                <a:lnTo>
                  <a:pt x="7256654" y="0"/>
                </a:lnTo>
                <a:lnTo>
                  <a:pt x="7256654" y="5738804"/>
                </a:lnTo>
                <a:lnTo>
                  <a:pt x="0" y="5738804"/>
                </a:lnTo>
                <a:lnTo>
                  <a:pt x="0" y="0"/>
                </a:lnTo>
                <a:close/>
              </a:path>
            </a:pathLst>
          </a:custGeom>
          <a:blipFill>
            <a:blip r:embed="rId2">
              <a:alphaModFix amt="12000"/>
              <a:extLst>
                <a:ext uri="{96DAC541-7B7A-43D3-8B79-37D633B846F1}">
                  <asvg:svgBlip xmlns:asvg="http://schemas.microsoft.com/office/drawing/2016/SVG/main" xmlns="" r:embed="rId3"/>
                </a:ext>
              </a:extLst>
            </a:blip>
            <a:stretch>
              <a:fillRect/>
            </a:stretch>
          </a:blipFill>
        </p:spPr>
        <p:txBody>
          <a:bodyPr/>
          <a:lstStyle/>
          <a:p>
            <a:endParaRPr lang="en-IN"/>
          </a:p>
        </p:txBody>
      </p:sp>
      <p:sp>
        <p:nvSpPr>
          <p:cNvPr id="19" name="TextBox 19"/>
          <p:cNvSpPr txBox="1"/>
          <p:nvPr/>
        </p:nvSpPr>
        <p:spPr>
          <a:xfrm>
            <a:off x="7319102" y="6926841"/>
            <a:ext cx="3754767" cy="771525"/>
          </a:xfrm>
          <a:prstGeom prst="rect">
            <a:avLst/>
          </a:prstGeom>
        </p:spPr>
        <p:txBody>
          <a:bodyPr lIns="0" tIns="0" rIns="0" bIns="0" rtlCol="0" anchor="t">
            <a:spAutoFit/>
          </a:bodyPr>
          <a:lstStyle/>
          <a:p>
            <a:pPr algn="l">
              <a:lnSpc>
                <a:spcPts val="3000"/>
              </a:lnSpc>
            </a:pPr>
            <a:r>
              <a:rPr lang="en-US" sz="2500" b="1" spc="25">
                <a:solidFill>
                  <a:srgbClr val="191919"/>
                </a:solidFill>
                <a:latin typeface="Aileron Heavy Bold"/>
                <a:ea typeface="Aileron Heavy Bold"/>
                <a:cs typeface="Aileron Heavy Bold"/>
                <a:sym typeface="Aileron Heavy Bold"/>
              </a:rPr>
              <a:t>CHIENS DE SÉCURITÉ</a:t>
            </a:r>
          </a:p>
          <a:p>
            <a:pPr algn="l">
              <a:lnSpc>
                <a:spcPts val="3000"/>
              </a:lnSpc>
            </a:pPr>
            <a:endParaRPr lang="en-US" sz="2500" b="1" spc="25">
              <a:solidFill>
                <a:srgbClr val="191919"/>
              </a:solidFill>
              <a:latin typeface="Aileron Heavy Bold"/>
              <a:ea typeface="Aileron Heavy Bold"/>
              <a:cs typeface="Aileron Heavy Bold"/>
              <a:sym typeface="Aileron Heavy Bold"/>
            </a:endParaRPr>
          </a:p>
        </p:txBody>
      </p:sp>
      <p:sp>
        <p:nvSpPr>
          <p:cNvPr id="20" name="TextBox 20"/>
          <p:cNvSpPr txBox="1"/>
          <p:nvPr/>
        </p:nvSpPr>
        <p:spPr>
          <a:xfrm>
            <a:off x="7200359" y="7527917"/>
            <a:ext cx="4106553" cy="1949480"/>
          </a:xfrm>
          <a:prstGeom prst="rect">
            <a:avLst/>
          </a:prstGeom>
        </p:spPr>
        <p:txBody>
          <a:bodyPr lIns="0" tIns="0" rIns="0" bIns="0" rtlCol="0" anchor="t">
            <a:spAutoFit/>
          </a:bodyPr>
          <a:lstStyle/>
          <a:p>
            <a:pPr algn="l">
              <a:lnSpc>
                <a:spcPts val="3108"/>
              </a:lnSpc>
            </a:pPr>
            <a:r>
              <a:rPr lang="en-US" sz="2319" spc="134">
                <a:solidFill>
                  <a:srgbClr val="191919"/>
                </a:solidFill>
                <a:latin typeface="Aileron Regular"/>
                <a:ea typeface="Aileron Regular"/>
                <a:cs typeface="Aileron Regular"/>
                <a:sym typeface="Aileron Regular"/>
              </a:rPr>
              <a:t>Nous offrons des services de sécurité canine pour renforcer la protection de nos clients.</a:t>
            </a:r>
          </a:p>
          <a:p>
            <a:pPr algn="l">
              <a:lnSpc>
                <a:spcPts val="3108"/>
              </a:lnSpc>
            </a:pPr>
            <a:endParaRPr lang="en-US" sz="2319" spc="134">
              <a:solidFill>
                <a:srgbClr val="191919"/>
              </a:solidFill>
              <a:latin typeface="Aileron Regular"/>
              <a:ea typeface="Aileron Regular"/>
              <a:cs typeface="Aileron Regular"/>
              <a:sym typeface="Aileron Regular"/>
            </a:endParaRPr>
          </a:p>
        </p:txBody>
      </p:sp>
      <p:grpSp>
        <p:nvGrpSpPr>
          <p:cNvPr id="21" name="Group 21"/>
          <p:cNvGrpSpPr>
            <a:grpSpLocks noChangeAspect="1"/>
          </p:cNvGrpSpPr>
          <p:nvPr/>
        </p:nvGrpSpPr>
        <p:grpSpPr>
          <a:xfrm>
            <a:off x="6804179" y="2170460"/>
            <a:ext cx="4445582" cy="4591397"/>
            <a:chOff x="0" y="0"/>
            <a:chExt cx="6350000" cy="6558280"/>
          </a:xfrm>
        </p:grpSpPr>
        <p:sp>
          <p:nvSpPr>
            <p:cNvPr id="22" name="Freeform 22"/>
            <p:cNvSpPr/>
            <p:nvPr/>
          </p:nvSpPr>
          <p:spPr>
            <a:xfrm>
              <a:off x="74930" y="74930"/>
              <a:ext cx="6200140" cy="6408420"/>
            </a:xfrm>
            <a:custGeom>
              <a:avLst/>
              <a:gdLst/>
              <a:ahLst/>
              <a:cxnLst/>
              <a:rect l="l" t="t" r="r" b="b"/>
              <a:pathLst>
                <a:path w="6200140" h="6408420">
                  <a:moveTo>
                    <a:pt x="6200140" y="5351780"/>
                  </a:moveTo>
                  <a:cubicBezTo>
                    <a:pt x="6200140" y="5935980"/>
                    <a:pt x="5726430" y="6408420"/>
                    <a:pt x="5143500" y="6408420"/>
                  </a:cubicBezTo>
                  <a:lnTo>
                    <a:pt x="1056640" y="6408420"/>
                  </a:lnTo>
                  <a:cubicBezTo>
                    <a:pt x="472440" y="6408420"/>
                    <a:pt x="0" y="5934710"/>
                    <a:pt x="0" y="5351780"/>
                  </a:cubicBezTo>
                  <a:lnTo>
                    <a:pt x="0" y="1056640"/>
                  </a:lnTo>
                  <a:cubicBezTo>
                    <a:pt x="0" y="472440"/>
                    <a:pt x="473710" y="0"/>
                    <a:pt x="1056640" y="0"/>
                  </a:cubicBezTo>
                  <a:lnTo>
                    <a:pt x="5143500" y="0"/>
                  </a:lnTo>
                  <a:cubicBezTo>
                    <a:pt x="5727700" y="0"/>
                    <a:pt x="6200140" y="473710"/>
                    <a:pt x="6200140" y="1056640"/>
                  </a:cubicBezTo>
                  <a:lnTo>
                    <a:pt x="6200140" y="5351780"/>
                  </a:lnTo>
                  <a:close/>
                </a:path>
              </a:pathLst>
            </a:custGeom>
            <a:blipFill>
              <a:blip r:embed="rId13"/>
              <a:stretch>
                <a:fillRect l="-27567" r="-27567"/>
              </a:stretch>
            </a:blipFill>
          </p:spPr>
          <p:txBody>
            <a:bodyPr/>
            <a:lstStyle/>
            <a:p>
              <a:endParaRPr lang="en-IN"/>
            </a:p>
          </p:txBody>
        </p:sp>
        <p:sp>
          <p:nvSpPr>
            <p:cNvPr id="23" name="Freeform 23"/>
            <p:cNvSpPr/>
            <p:nvPr/>
          </p:nvSpPr>
          <p:spPr>
            <a:xfrm>
              <a:off x="0" y="0"/>
              <a:ext cx="6350000" cy="6558280"/>
            </a:xfrm>
            <a:custGeom>
              <a:avLst/>
              <a:gdLst/>
              <a:ahLst/>
              <a:cxnLst/>
              <a:rect l="l" t="t" r="r" b="b"/>
              <a:pathLst>
                <a:path w="6350000" h="655828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2C92D5"/>
            </a:solidFill>
          </p:spPr>
          <p:txBody>
            <a:bodyPr/>
            <a:lstStyle/>
            <a:p>
              <a:endParaRPr lang="en-IN"/>
            </a:p>
          </p:txBody>
        </p:sp>
      </p:grpSp>
      <p:sp>
        <p:nvSpPr>
          <p:cNvPr id="24" name="Freeform 24"/>
          <p:cNvSpPr/>
          <p:nvPr/>
        </p:nvSpPr>
        <p:spPr>
          <a:xfrm>
            <a:off x="6804179" y="8601369"/>
            <a:ext cx="7256654" cy="5738804"/>
          </a:xfrm>
          <a:custGeom>
            <a:avLst/>
            <a:gdLst/>
            <a:ahLst/>
            <a:cxnLst/>
            <a:rect l="l" t="t" r="r" b="b"/>
            <a:pathLst>
              <a:path w="7256654" h="5738804">
                <a:moveTo>
                  <a:pt x="0" y="0"/>
                </a:moveTo>
                <a:lnTo>
                  <a:pt x="7256655" y="0"/>
                </a:lnTo>
                <a:lnTo>
                  <a:pt x="7256655" y="5738804"/>
                </a:lnTo>
                <a:lnTo>
                  <a:pt x="0" y="5738804"/>
                </a:lnTo>
                <a:lnTo>
                  <a:pt x="0" y="0"/>
                </a:lnTo>
                <a:close/>
              </a:path>
            </a:pathLst>
          </a:custGeom>
          <a:blipFill>
            <a:blip r:embed="rId2">
              <a:alphaModFix amt="12000"/>
              <a:extLst>
                <a:ext uri="{96DAC541-7B7A-43D3-8B79-37D633B846F1}">
                  <asvg:svgBlip xmlns:asvg="http://schemas.microsoft.com/office/drawing/2016/SVG/main" xmlns="" r:embed="rId3"/>
                </a:ext>
              </a:extLst>
            </a:blip>
            <a:stretch>
              <a:fillRect/>
            </a:stretch>
          </a:blipFill>
        </p:spPr>
        <p:txBody>
          <a:bodyPr/>
          <a:lstStyle/>
          <a:p>
            <a:endParaRPr lang="en-IN"/>
          </a:p>
        </p:txBody>
      </p:sp>
      <p:sp>
        <p:nvSpPr>
          <p:cNvPr id="25" name="TextBox 25"/>
          <p:cNvSpPr txBox="1"/>
          <p:nvPr/>
        </p:nvSpPr>
        <p:spPr>
          <a:xfrm>
            <a:off x="12858512" y="6809482"/>
            <a:ext cx="3754767" cy="771525"/>
          </a:xfrm>
          <a:prstGeom prst="rect">
            <a:avLst/>
          </a:prstGeom>
        </p:spPr>
        <p:txBody>
          <a:bodyPr lIns="0" tIns="0" rIns="0" bIns="0" rtlCol="0" anchor="t">
            <a:spAutoFit/>
          </a:bodyPr>
          <a:lstStyle/>
          <a:p>
            <a:pPr algn="l">
              <a:lnSpc>
                <a:spcPts val="3000"/>
              </a:lnSpc>
            </a:pPr>
            <a:r>
              <a:rPr lang="en-US" sz="2500" b="1" spc="25">
                <a:solidFill>
                  <a:srgbClr val="191919"/>
                </a:solidFill>
                <a:latin typeface="Aileron Heavy Bold"/>
                <a:ea typeface="Aileron Heavy Bold"/>
                <a:cs typeface="Aileron Heavy Bold"/>
                <a:sym typeface="Aileron Heavy Bold"/>
              </a:rPr>
              <a:t>SURVEILLANCE VIDÉO</a:t>
            </a:r>
          </a:p>
          <a:p>
            <a:pPr algn="l">
              <a:lnSpc>
                <a:spcPts val="3000"/>
              </a:lnSpc>
            </a:pPr>
            <a:endParaRPr lang="en-US" sz="2500" b="1" spc="25">
              <a:solidFill>
                <a:srgbClr val="191919"/>
              </a:solidFill>
              <a:latin typeface="Aileron Heavy Bold"/>
              <a:ea typeface="Aileron Heavy Bold"/>
              <a:cs typeface="Aileron Heavy Bold"/>
              <a:sym typeface="Aileron Heavy Bold"/>
            </a:endParaRPr>
          </a:p>
        </p:txBody>
      </p:sp>
      <p:sp>
        <p:nvSpPr>
          <p:cNvPr id="26" name="TextBox 26"/>
          <p:cNvSpPr txBox="1"/>
          <p:nvPr/>
        </p:nvSpPr>
        <p:spPr>
          <a:xfrm>
            <a:off x="12739769" y="7410558"/>
            <a:ext cx="4381252" cy="2730530"/>
          </a:xfrm>
          <a:prstGeom prst="rect">
            <a:avLst/>
          </a:prstGeom>
        </p:spPr>
        <p:txBody>
          <a:bodyPr lIns="0" tIns="0" rIns="0" bIns="0" rtlCol="0" anchor="t">
            <a:spAutoFit/>
          </a:bodyPr>
          <a:lstStyle/>
          <a:p>
            <a:pPr algn="l">
              <a:lnSpc>
                <a:spcPts val="3108"/>
              </a:lnSpc>
            </a:pPr>
            <a:r>
              <a:rPr lang="en-US" sz="2319" spc="134">
                <a:solidFill>
                  <a:srgbClr val="191919"/>
                </a:solidFill>
                <a:latin typeface="Aileron Regular"/>
                <a:ea typeface="Aileron Regular"/>
                <a:cs typeface="Aileron Regular"/>
                <a:sym typeface="Aileron Regular"/>
              </a:rPr>
              <a:t>Nos techniciens de surveillance vidéo sont formés pour surveiller les systèmes de sécurité et répondre rapidement aux situations d'urgence.</a:t>
            </a:r>
          </a:p>
          <a:p>
            <a:pPr algn="l">
              <a:lnSpc>
                <a:spcPts val="3108"/>
              </a:lnSpc>
            </a:pPr>
            <a:endParaRPr lang="en-US" sz="2319" spc="134">
              <a:solidFill>
                <a:srgbClr val="191919"/>
              </a:solidFill>
              <a:latin typeface="Aileron Regular"/>
              <a:ea typeface="Aileron Regular"/>
              <a:cs typeface="Aileron Regular"/>
              <a:sym typeface="Aileron Regular"/>
            </a:endParaRPr>
          </a:p>
        </p:txBody>
      </p:sp>
      <p:grpSp>
        <p:nvGrpSpPr>
          <p:cNvPr id="27" name="Group 27"/>
          <p:cNvGrpSpPr>
            <a:grpSpLocks noChangeAspect="1"/>
          </p:cNvGrpSpPr>
          <p:nvPr/>
        </p:nvGrpSpPr>
        <p:grpSpPr>
          <a:xfrm>
            <a:off x="12343590" y="2053101"/>
            <a:ext cx="4445582" cy="4591397"/>
            <a:chOff x="0" y="0"/>
            <a:chExt cx="6350000" cy="6558280"/>
          </a:xfrm>
        </p:grpSpPr>
        <p:sp>
          <p:nvSpPr>
            <p:cNvPr id="28" name="Freeform 28"/>
            <p:cNvSpPr/>
            <p:nvPr/>
          </p:nvSpPr>
          <p:spPr>
            <a:xfrm>
              <a:off x="74930" y="74930"/>
              <a:ext cx="6200140" cy="6408420"/>
            </a:xfrm>
            <a:custGeom>
              <a:avLst/>
              <a:gdLst/>
              <a:ahLst/>
              <a:cxnLst/>
              <a:rect l="l" t="t" r="r" b="b"/>
              <a:pathLst>
                <a:path w="6200140" h="6408420">
                  <a:moveTo>
                    <a:pt x="6200140" y="5351780"/>
                  </a:moveTo>
                  <a:cubicBezTo>
                    <a:pt x="6200140" y="5935980"/>
                    <a:pt x="5726430" y="6408420"/>
                    <a:pt x="5143500" y="6408420"/>
                  </a:cubicBezTo>
                  <a:lnTo>
                    <a:pt x="1056640" y="6408420"/>
                  </a:lnTo>
                  <a:cubicBezTo>
                    <a:pt x="472440" y="6408420"/>
                    <a:pt x="0" y="5934710"/>
                    <a:pt x="0" y="5351780"/>
                  </a:cubicBezTo>
                  <a:lnTo>
                    <a:pt x="0" y="1056640"/>
                  </a:lnTo>
                  <a:cubicBezTo>
                    <a:pt x="0" y="472440"/>
                    <a:pt x="473710" y="0"/>
                    <a:pt x="1056640" y="0"/>
                  </a:cubicBezTo>
                  <a:lnTo>
                    <a:pt x="5143500" y="0"/>
                  </a:lnTo>
                  <a:cubicBezTo>
                    <a:pt x="5727700" y="0"/>
                    <a:pt x="6200140" y="473710"/>
                    <a:pt x="6200140" y="1056640"/>
                  </a:cubicBezTo>
                  <a:lnTo>
                    <a:pt x="6200140" y="5351780"/>
                  </a:lnTo>
                  <a:close/>
                </a:path>
              </a:pathLst>
            </a:custGeom>
            <a:blipFill>
              <a:blip r:embed="rId14"/>
              <a:stretch>
                <a:fillRect l="-27567" r="-27567"/>
              </a:stretch>
            </a:blipFill>
          </p:spPr>
          <p:txBody>
            <a:bodyPr/>
            <a:lstStyle/>
            <a:p>
              <a:endParaRPr lang="en-IN"/>
            </a:p>
          </p:txBody>
        </p:sp>
        <p:sp>
          <p:nvSpPr>
            <p:cNvPr id="29" name="Freeform 29"/>
            <p:cNvSpPr/>
            <p:nvPr/>
          </p:nvSpPr>
          <p:spPr>
            <a:xfrm>
              <a:off x="0" y="0"/>
              <a:ext cx="6350000" cy="6558280"/>
            </a:xfrm>
            <a:custGeom>
              <a:avLst/>
              <a:gdLst/>
              <a:ahLst/>
              <a:cxnLst/>
              <a:rect l="l" t="t" r="r" b="b"/>
              <a:pathLst>
                <a:path w="6350000" h="655828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2C92D5"/>
            </a:solidFill>
          </p:spPr>
          <p:txBody>
            <a:bodyPr/>
            <a:lstStyle/>
            <a:p>
              <a:endParaRPr lang="en-IN"/>
            </a:p>
          </p:txBody>
        </p:sp>
      </p:grpSp>
      <p:sp>
        <p:nvSpPr>
          <p:cNvPr id="30" name="Freeform 30"/>
          <p:cNvSpPr/>
          <p:nvPr/>
        </p:nvSpPr>
        <p:spPr>
          <a:xfrm>
            <a:off x="16082068" y="414953"/>
            <a:ext cx="1177232" cy="1185701"/>
          </a:xfrm>
          <a:custGeom>
            <a:avLst/>
            <a:gdLst/>
            <a:ahLst/>
            <a:cxnLst/>
            <a:rect l="l" t="t" r="r" b="b"/>
            <a:pathLst>
              <a:path w="1177232" h="1185701">
                <a:moveTo>
                  <a:pt x="0" y="0"/>
                </a:moveTo>
                <a:lnTo>
                  <a:pt x="1177232" y="0"/>
                </a:lnTo>
                <a:lnTo>
                  <a:pt x="1177232" y="1185702"/>
                </a:lnTo>
                <a:lnTo>
                  <a:pt x="0" y="1185702"/>
                </a:lnTo>
                <a:lnTo>
                  <a:pt x="0" y="0"/>
                </a:lnTo>
                <a:close/>
              </a:path>
            </a:pathLst>
          </a:custGeom>
          <a:blipFill>
            <a:blip r:embed="rId15"/>
            <a:stretch>
              <a:fillRect/>
            </a:stretch>
          </a:blipFill>
        </p:spPr>
        <p:txBody>
          <a:bodyPr/>
          <a:lstStyle/>
          <a:p>
            <a:endParaRPr lang="en-IN"/>
          </a:p>
        </p:txBody>
      </p:sp>
      <p:pic>
        <p:nvPicPr>
          <p:cNvPr id="31" name="Image 30">
            <a:extLst>
              <a:ext uri="{FF2B5EF4-FFF2-40B4-BE49-F238E27FC236}">
                <a16:creationId xmlns:a16="http://schemas.microsoft.com/office/drawing/2014/main" id="{578D389A-F283-460A-A98C-DE2544DB06BD}"/>
              </a:ext>
            </a:extLst>
          </p:cNvPr>
          <p:cNvPicPr>
            <a:picLocks noChangeAspect="1"/>
          </p:cNvPicPr>
          <p:nvPr/>
        </p:nvPicPr>
        <p:blipFill rotWithShape="1">
          <a:blip r:embed="rId16" cstate="print">
            <a:extLst>
              <a:ext uri="{28A0092B-C50C-407E-A947-70E740481C1C}">
                <a14:useLocalDpi xmlns:a14="http://schemas.microsoft.com/office/drawing/2010/main" val="0"/>
              </a:ext>
            </a:extLst>
          </a:blip>
          <a:srcRect r="48180" b="50000"/>
          <a:stretch/>
        </p:blipFill>
        <p:spPr>
          <a:xfrm>
            <a:off x="17078959" y="9135676"/>
            <a:ext cx="1209041" cy="115132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2996" y="2782372"/>
            <a:ext cx="18288000" cy="5894830"/>
            <a:chOff x="0" y="0"/>
            <a:chExt cx="4816593" cy="1552548"/>
          </a:xfrm>
        </p:grpSpPr>
        <p:sp>
          <p:nvSpPr>
            <p:cNvPr id="3" name="Freeform 3"/>
            <p:cNvSpPr/>
            <p:nvPr/>
          </p:nvSpPr>
          <p:spPr>
            <a:xfrm>
              <a:off x="0" y="0"/>
              <a:ext cx="4816592" cy="1552548"/>
            </a:xfrm>
            <a:custGeom>
              <a:avLst/>
              <a:gdLst/>
              <a:ahLst/>
              <a:cxnLst/>
              <a:rect l="l" t="t" r="r" b="b"/>
              <a:pathLst>
                <a:path w="4816592" h="1552548">
                  <a:moveTo>
                    <a:pt x="0" y="0"/>
                  </a:moveTo>
                  <a:lnTo>
                    <a:pt x="4816592" y="0"/>
                  </a:lnTo>
                  <a:lnTo>
                    <a:pt x="4816592" y="1552548"/>
                  </a:lnTo>
                  <a:lnTo>
                    <a:pt x="0" y="1552548"/>
                  </a:lnTo>
                  <a:close/>
                </a:path>
              </a:pathLst>
            </a:custGeom>
            <a:solidFill>
              <a:srgbClr val="E1EDFC"/>
            </a:solidFill>
          </p:spPr>
          <p:txBody>
            <a:bodyPr/>
            <a:lstStyle/>
            <a:p>
              <a:endParaRPr lang="en-IN"/>
            </a:p>
          </p:txBody>
        </p:sp>
        <p:sp>
          <p:nvSpPr>
            <p:cNvPr id="4" name="TextBox 4"/>
            <p:cNvSpPr txBox="1"/>
            <p:nvPr/>
          </p:nvSpPr>
          <p:spPr>
            <a:xfrm>
              <a:off x="0" y="-47625"/>
              <a:ext cx="4816593" cy="1600173"/>
            </a:xfrm>
            <a:prstGeom prst="rect">
              <a:avLst/>
            </a:prstGeom>
          </p:spPr>
          <p:txBody>
            <a:bodyPr lIns="50800" tIns="50800" rIns="50800" bIns="50800" rtlCol="0" anchor="ctr"/>
            <a:lstStyle/>
            <a:p>
              <a:pPr algn="ctr">
                <a:lnSpc>
                  <a:spcPts val="2800"/>
                </a:lnSpc>
              </a:pPr>
              <a:endParaRPr/>
            </a:p>
          </p:txBody>
        </p:sp>
      </p:grpSp>
      <p:grpSp>
        <p:nvGrpSpPr>
          <p:cNvPr id="5" name="Group 5"/>
          <p:cNvGrpSpPr/>
          <p:nvPr/>
        </p:nvGrpSpPr>
        <p:grpSpPr>
          <a:xfrm>
            <a:off x="1028700" y="5172075"/>
            <a:ext cx="5060185" cy="665701"/>
            <a:chOff x="0" y="0"/>
            <a:chExt cx="1332724" cy="175329"/>
          </a:xfrm>
        </p:grpSpPr>
        <p:sp>
          <p:nvSpPr>
            <p:cNvPr id="6" name="Freeform 6"/>
            <p:cNvSpPr/>
            <p:nvPr/>
          </p:nvSpPr>
          <p:spPr>
            <a:xfrm>
              <a:off x="0" y="0"/>
              <a:ext cx="1332724" cy="175329"/>
            </a:xfrm>
            <a:custGeom>
              <a:avLst/>
              <a:gdLst/>
              <a:ahLst/>
              <a:cxnLst/>
              <a:rect l="l" t="t" r="r" b="b"/>
              <a:pathLst>
                <a:path w="1332724" h="175329">
                  <a:moveTo>
                    <a:pt x="78028" y="0"/>
                  </a:moveTo>
                  <a:lnTo>
                    <a:pt x="1254695" y="0"/>
                  </a:lnTo>
                  <a:cubicBezTo>
                    <a:pt x="1297789" y="0"/>
                    <a:pt x="1332724" y="34934"/>
                    <a:pt x="1332724" y="78028"/>
                  </a:cubicBezTo>
                  <a:lnTo>
                    <a:pt x="1332724" y="97300"/>
                  </a:lnTo>
                  <a:cubicBezTo>
                    <a:pt x="1332724" y="117995"/>
                    <a:pt x="1324503" y="137841"/>
                    <a:pt x="1309870" y="152475"/>
                  </a:cubicBezTo>
                  <a:cubicBezTo>
                    <a:pt x="1295236" y="167108"/>
                    <a:pt x="1275390" y="175329"/>
                    <a:pt x="1254695" y="175329"/>
                  </a:cubicBezTo>
                  <a:lnTo>
                    <a:pt x="78028" y="175329"/>
                  </a:lnTo>
                  <a:cubicBezTo>
                    <a:pt x="57334" y="175329"/>
                    <a:pt x="37487" y="167108"/>
                    <a:pt x="22854" y="152475"/>
                  </a:cubicBezTo>
                  <a:cubicBezTo>
                    <a:pt x="8221" y="137841"/>
                    <a:pt x="0" y="117995"/>
                    <a:pt x="0" y="97300"/>
                  </a:cubicBezTo>
                  <a:lnTo>
                    <a:pt x="0" y="78028"/>
                  </a:lnTo>
                  <a:cubicBezTo>
                    <a:pt x="0" y="57334"/>
                    <a:pt x="8221" y="37487"/>
                    <a:pt x="22854" y="22854"/>
                  </a:cubicBezTo>
                  <a:cubicBezTo>
                    <a:pt x="37487" y="8221"/>
                    <a:pt x="57334" y="0"/>
                    <a:pt x="78028" y="0"/>
                  </a:cubicBezTo>
                  <a:close/>
                </a:path>
              </a:pathLst>
            </a:custGeom>
            <a:solidFill>
              <a:srgbClr val="5188CC"/>
            </a:solidFill>
          </p:spPr>
          <p:txBody>
            <a:bodyPr/>
            <a:lstStyle/>
            <a:p>
              <a:endParaRPr lang="en-IN"/>
            </a:p>
          </p:txBody>
        </p:sp>
        <p:sp>
          <p:nvSpPr>
            <p:cNvPr id="7" name="TextBox 7"/>
            <p:cNvSpPr txBox="1"/>
            <p:nvPr/>
          </p:nvSpPr>
          <p:spPr>
            <a:xfrm>
              <a:off x="0" y="-47625"/>
              <a:ext cx="1332724" cy="222954"/>
            </a:xfrm>
            <a:prstGeom prst="rect">
              <a:avLst/>
            </a:prstGeom>
          </p:spPr>
          <p:txBody>
            <a:bodyPr lIns="50800" tIns="50800" rIns="50800" bIns="50800" rtlCol="0" anchor="ctr"/>
            <a:lstStyle/>
            <a:p>
              <a:pPr algn="ctr">
                <a:lnSpc>
                  <a:spcPts val="2800"/>
                </a:lnSpc>
              </a:pPr>
              <a:endParaRPr/>
            </a:p>
          </p:txBody>
        </p:sp>
      </p:grpSp>
      <p:grpSp>
        <p:nvGrpSpPr>
          <p:cNvPr id="8" name="Group 8"/>
          <p:cNvGrpSpPr/>
          <p:nvPr/>
        </p:nvGrpSpPr>
        <p:grpSpPr>
          <a:xfrm>
            <a:off x="6613908" y="3394570"/>
            <a:ext cx="5060185" cy="665701"/>
            <a:chOff x="0" y="0"/>
            <a:chExt cx="1332724" cy="175329"/>
          </a:xfrm>
        </p:grpSpPr>
        <p:sp>
          <p:nvSpPr>
            <p:cNvPr id="9" name="Freeform 9"/>
            <p:cNvSpPr/>
            <p:nvPr/>
          </p:nvSpPr>
          <p:spPr>
            <a:xfrm>
              <a:off x="0" y="0"/>
              <a:ext cx="1332724" cy="175329"/>
            </a:xfrm>
            <a:custGeom>
              <a:avLst/>
              <a:gdLst/>
              <a:ahLst/>
              <a:cxnLst/>
              <a:rect l="l" t="t" r="r" b="b"/>
              <a:pathLst>
                <a:path w="1332724" h="175329">
                  <a:moveTo>
                    <a:pt x="78028" y="0"/>
                  </a:moveTo>
                  <a:lnTo>
                    <a:pt x="1254695" y="0"/>
                  </a:lnTo>
                  <a:cubicBezTo>
                    <a:pt x="1297789" y="0"/>
                    <a:pt x="1332724" y="34934"/>
                    <a:pt x="1332724" y="78028"/>
                  </a:cubicBezTo>
                  <a:lnTo>
                    <a:pt x="1332724" y="97300"/>
                  </a:lnTo>
                  <a:cubicBezTo>
                    <a:pt x="1332724" y="117995"/>
                    <a:pt x="1324503" y="137841"/>
                    <a:pt x="1309870" y="152475"/>
                  </a:cubicBezTo>
                  <a:cubicBezTo>
                    <a:pt x="1295236" y="167108"/>
                    <a:pt x="1275390" y="175329"/>
                    <a:pt x="1254695" y="175329"/>
                  </a:cubicBezTo>
                  <a:lnTo>
                    <a:pt x="78028" y="175329"/>
                  </a:lnTo>
                  <a:cubicBezTo>
                    <a:pt x="57334" y="175329"/>
                    <a:pt x="37487" y="167108"/>
                    <a:pt x="22854" y="152475"/>
                  </a:cubicBezTo>
                  <a:cubicBezTo>
                    <a:pt x="8221" y="137841"/>
                    <a:pt x="0" y="117995"/>
                    <a:pt x="0" y="97300"/>
                  </a:cubicBezTo>
                  <a:lnTo>
                    <a:pt x="0" y="78028"/>
                  </a:lnTo>
                  <a:cubicBezTo>
                    <a:pt x="0" y="57334"/>
                    <a:pt x="8221" y="37487"/>
                    <a:pt x="22854" y="22854"/>
                  </a:cubicBezTo>
                  <a:cubicBezTo>
                    <a:pt x="37487" y="8221"/>
                    <a:pt x="57334" y="0"/>
                    <a:pt x="78028" y="0"/>
                  </a:cubicBezTo>
                  <a:close/>
                </a:path>
              </a:pathLst>
            </a:custGeom>
            <a:solidFill>
              <a:srgbClr val="5188CC"/>
            </a:solidFill>
          </p:spPr>
          <p:txBody>
            <a:bodyPr/>
            <a:lstStyle/>
            <a:p>
              <a:endParaRPr lang="en-IN"/>
            </a:p>
          </p:txBody>
        </p:sp>
        <p:sp>
          <p:nvSpPr>
            <p:cNvPr id="10" name="TextBox 10"/>
            <p:cNvSpPr txBox="1"/>
            <p:nvPr/>
          </p:nvSpPr>
          <p:spPr>
            <a:xfrm>
              <a:off x="0" y="-47625"/>
              <a:ext cx="1332724" cy="222954"/>
            </a:xfrm>
            <a:prstGeom prst="rect">
              <a:avLst/>
            </a:prstGeom>
          </p:spPr>
          <p:txBody>
            <a:bodyPr lIns="50800" tIns="50800" rIns="50800" bIns="50800" rtlCol="0" anchor="ctr"/>
            <a:lstStyle/>
            <a:p>
              <a:pPr algn="ctr">
                <a:lnSpc>
                  <a:spcPts val="2800"/>
                </a:lnSpc>
              </a:pPr>
              <a:endParaRPr/>
            </a:p>
          </p:txBody>
        </p:sp>
      </p:grpSp>
      <p:grpSp>
        <p:nvGrpSpPr>
          <p:cNvPr id="11" name="Group 11"/>
          <p:cNvGrpSpPr/>
          <p:nvPr/>
        </p:nvGrpSpPr>
        <p:grpSpPr>
          <a:xfrm>
            <a:off x="12199115" y="5172075"/>
            <a:ext cx="5060185" cy="665701"/>
            <a:chOff x="0" y="0"/>
            <a:chExt cx="1332724" cy="175329"/>
          </a:xfrm>
        </p:grpSpPr>
        <p:sp>
          <p:nvSpPr>
            <p:cNvPr id="12" name="Freeform 12"/>
            <p:cNvSpPr/>
            <p:nvPr/>
          </p:nvSpPr>
          <p:spPr>
            <a:xfrm>
              <a:off x="0" y="0"/>
              <a:ext cx="1332724" cy="175329"/>
            </a:xfrm>
            <a:custGeom>
              <a:avLst/>
              <a:gdLst/>
              <a:ahLst/>
              <a:cxnLst/>
              <a:rect l="l" t="t" r="r" b="b"/>
              <a:pathLst>
                <a:path w="1332724" h="175329">
                  <a:moveTo>
                    <a:pt x="78028" y="0"/>
                  </a:moveTo>
                  <a:lnTo>
                    <a:pt x="1254695" y="0"/>
                  </a:lnTo>
                  <a:cubicBezTo>
                    <a:pt x="1297789" y="0"/>
                    <a:pt x="1332724" y="34934"/>
                    <a:pt x="1332724" y="78028"/>
                  </a:cubicBezTo>
                  <a:lnTo>
                    <a:pt x="1332724" y="97300"/>
                  </a:lnTo>
                  <a:cubicBezTo>
                    <a:pt x="1332724" y="117995"/>
                    <a:pt x="1324503" y="137841"/>
                    <a:pt x="1309870" y="152475"/>
                  </a:cubicBezTo>
                  <a:cubicBezTo>
                    <a:pt x="1295236" y="167108"/>
                    <a:pt x="1275390" y="175329"/>
                    <a:pt x="1254695" y="175329"/>
                  </a:cubicBezTo>
                  <a:lnTo>
                    <a:pt x="78028" y="175329"/>
                  </a:lnTo>
                  <a:cubicBezTo>
                    <a:pt x="57334" y="175329"/>
                    <a:pt x="37487" y="167108"/>
                    <a:pt x="22854" y="152475"/>
                  </a:cubicBezTo>
                  <a:cubicBezTo>
                    <a:pt x="8221" y="137841"/>
                    <a:pt x="0" y="117995"/>
                    <a:pt x="0" y="97300"/>
                  </a:cubicBezTo>
                  <a:lnTo>
                    <a:pt x="0" y="78028"/>
                  </a:lnTo>
                  <a:cubicBezTo>
                    <a:pt x="0" y="57334"/>
                    <a:pt x="8221" y="37487"/>
                    <a:pt x="22854" y="22854"/>
                  </a:cubicBezTo>
                  <a:cubicBezTo>
                    <a:pt x="37487" y="8221"/>
                    <a:pt x="57334" y="0"/>
                    <a:pt x="78028" y="0"/>
                  </a:cubicBezTo>
                  <a:close/>
                </a:path>
              </a:pathLst>
            </a:custGeom>
            <a:solidFill>
              <a:srgbClr val="5188CC"/>
            </a:solidFill>
          </p:spPr>
          <p:txBody>
            <a:bodyPr/>
            <a:lstStyle/>
            <a:p>
              <a:endParaRPr lang="en-IN"/>
            </a:p>
          </p:txBody>
        </p:sp>
        <p:sp>
          <p:nvSpPr>
            <p:cNvPr id="13" name="TextBox 13"/>
            <p:cNvSpPr txBox="1"/>
            <p:nvPr/>
          </p:nvSpPr>
          <p:spPr>
            <a:xfrm>
              <a:off x="0" y="-47625"/>
              <a:ext cx="1332724" cy="222954"/>
            </a:xfrm>
            <a:prstGeom prst="rect">
              <a:avLst/>
            </a:prstGeom>
          </p:spPr>
          <p:txBody>
            <a:bodyPr lIns="50800" tIns="50800" rIns="50800" bIns="50800" rtlCol="0" anchor="ctr"/>
            <a:lstStyle/>
            <a:p>
              <a:pPr algn="ctr">
                <a:lnSpc>
                  <a:spcPts val="2800"/>
                </a:lnSpc>
              </a:pPr>
              <a:endParaRPr/>
            </a:p>
          </p:txBody>
        </p:sp>
      </p:grpSp>
      <p:grpSp>
        <p:nvGrpSpPr>
          <p:cNvPr id="14" name="Group 14"/>
          <p:cNvGrpSpPr/>
          <p:nvPr/>
        </p:nvGrpSpPr>
        <p:grpSpPr>
          <a:xfrm>
            <a:off x="1028700" y="6005026"/>
            <a:ext cx="5060185" cy="1998158"/>
            <a:chOff x="0" y="0"/>
            <a:chExt cx="1332724" cy="526264"/>
          </a:xfrm>
        </p:grpSpPr>
        <p:sp>
          <p:nvSpPr>
            <p:cNvPr id="15" name="Freeform 15"/>
            <p:cNvSpPr/>
            <p:nvPr/>
          </p:nvSpPr>
          <p:spPr>
            <a:xfrm>
              <a:off x="0" y="0"/>
              <a:ext cx="1332724" cy="526264"/>
            </a:xfrm>
            <a:custGeom>
              <a:avLst/>
              <a:gdLst/>
              <a:ahLst/>
              <a:cxnLst/>
              <a:rect l="l" t="t" r="r" b="b"/>
              <a:pathLst>
                <a:path w="1332724" h="526264">
                  <a:moveTo>
                    <a:pt x="29069" y="0"/>
                  </a:moveTo>
                  <a:lnTo>
                    <a:pt x="1303654" y="0"/>
                  </a:lnTo>
                  <a:cubicBezTo>
                    <a:pt x="1319709" y="0"/>
                    <a:pt x="1332724" y="13015"/>
                    <a:pt x="1332724" y="29069"/>
                  </a:cubicBezTo>
                  <a:lnTo>
                    <a:pt x="1332724" y="497195"/>
                  </a:lnTo>
                  <a:cubicBezTo>
                    <a:pt x="1332724" y="504904"/>
                    <a:pt x="1329661" y="512298"/>
                    <a:pt x="1324209" y="517750"/>
                  </a:cubicBezTo>
                  <a:cubicBezTo>
                    <a:pt x="1318758" y="523201"/>
                    <a:pt x="1311364" y="526264"/>
                    <a:pt x="1303654" y="526264"/>
                  </a:cubicBezTo>
                  <a:lnTo>
                    <a:pt x="29069" y="526264"/>
                  </a:lnTo>
                  <a:cubicBezTo>
                    <a:pt x="13015" y="526264"/>
                    <a:pt x="0" y="513249"/>
                    <a:pt x="0" y="497195"/>
                  </a:cubicBezTo>
                  <a:lnTo>
                    <a:pt x="0" y="29069"/>
                  </a:lnTo>
                  <a:cubicBezTo>
                    <a:pt x="0" y="13015"/>
                    <a:pt x="13015" y="0"/>
                    <a:pt x="29069" y="0"/>
                  </a:cubicBezTo>
                  <a:close/>
                </a:path>
              </a:pathLst>
            </a:custGeom>
            <a:solidFill>
              <a:srgbClr val="3A577B"/>
            </a:solidFill>
          </p:spPr>
          <p:txBody>
            <a:bodyPr/>
            <a:lstStyle/>
            <a:p>
              <a:endParaRPr lang="en-IN"/>
            </a:p>
          </p:txBody>
        </p:sp>
        <p:sp>
          <p:nvSpPr>
            <p:cNvPr id="16" name="TextBox 16"/>
            <p:cNvSpPr txBox="1"/>
            <p:nvPr/>
          </p:nvSpPr>
          <p:spPr>
            <a:xfrm>
              <a:off x="0" y="-47625"/>
              <a:ext cx="1332724" cy="573889"/>
            </a:xfrm>
            <a:prstGeom prst="rect">
              <a:avLst/>
            </a:prstGeom>
          </p:spPr>
          <p:txBody>
            <a:bodyPr lIns="50800" tIns="50800" rIns="50800" bIns="50800" rtlCol="0" anchor="ctr"/>
            <a:lstStyle/>
            <a:p>
              <a:pPr algn="ctr">
                <a:lnSpc>
                  <a:spcPts val="2800"/>
                </a:lnSpc>
              </a:pPr>
              <a:endParaRPr/>
            </a:p>
          </p:txBody>
        </p:sp>
      </p:grpSp>
      <p:grpSp>
        <p:nvGrpSpPr>
          <p:cNvPr id="17" name="Group 17"/>
          <p:cNvGrpSpPr/>
          <p:nvPr/>
        </p:nvGrpSpPr>
        <p:grpSpPr>
          <a:xfrm>
            <a:off x="6613908" y="4227521"/>
            <a:ext cx="5060185" cy="1998158"/>
            <a:chOff x="0" y="0"/>
            <a:chExt cx="1332724" cy="526264"/>
          </a:xfrm>
        </p:grpSpPr>
        <p:sp>
          <p:nvSpPr>
            <p:cNvPr id="18" name="Freeform 18"/>
            <p:cNvSpPr/>
            <p:nvPr/>
          </p:nvSpPr>
          <p:spPr>
            <a:xfrm>
              <a:off x="0" y="0"/>
              <a:ext cx="1332724" cy="526264"/>
            </a:xfrm>
            <a:custGeom>
              <a:avLst/>
              <a:gdLst/>
              <a:ahLst/>
              <a:cxnLst/>
              <a:rect l="l" t="t" r="r" b="b"/>
              <a:pathLst>
                <a:path w="1332724" h="526264">
                  <a:moveTo>
                    <a:pt x="29069" y="0"/>
                  </a:moveTo>
                  <a:lnTo>
                    <a:pt x="1303654" y="0"/>
                  </a:lnTo>
                  <a:cubicBezTo>
                    <a:pt x="1319709" y="0"/>
                    <a:pt x="1332724" y="13015"/>
                    <a:pt x="1332724" y="29069"/>
                  </a:cubicBezTo>
                  <a:lnTo>
                    <a:pt x="1332724" y="497195"/>
                  </a:lnTo>
                  <a:cubicBezTo>
                    <a:pt x="1332724" y="504904"/>
                    <a:pt x="1329661" y="512298"/>
                    <a:pt x="1324209" y="517750"/>
                  </a:cubicBezTo>
                  <a:cubicBezTo>
                    <a:pt x="1318758" y="523201"/>
                    <a:pt x="1311364" y="526264"/>
                    <a:pt x="1303654" y="526264"/>
                  </a:cubicBezTo>
                  <a:lnTo>
                    <a:pt x="29069" y="526264"/>
                  </a:lnTo>
                  <a:cubicBezTo>
                    <a:pt x="13015" y="526264"/>
                    <a:pt x="0" y="513249"/>
                    <a:pt x="0" y="497195"/>
                  </a:cubicBezTo>
                  <a:lnTo>
                    <a:pt x="0" y="29069"/>
                  </a:lnTo>
                  <a:cubicBezTo>
                    <a:pt x="0" y="13015"/>
                    <a:pt x="13015" y="0"/>
                    <a:pt x="29069" y="0"/>
                  </a:cubicBezTo>
                  <a:close/>
                </a:path>
              </a:pathLst>
            </a:custGeom>
            <a:solidFill>
              <a:srgbClr val="3A577B"/>
            </a:solidFill>
          </p:spPr>
          <p:txBody>
            <a:bodyPr/>
            <a:lstStyle/>
            <a:p>
              <a:endParaRPr lang="en-IN"/>
            </a:p>
          </p:txBody>
        </p:sp>
        <p:sp>
          <p:nvSpPr>
            <p:cNvPr id="19" name="TextBox 19"/>
            <p:cNvSpPr txBox="1"/>
            <p:nvPr/>
          </p:nvSpPr>
          <p:spPr>
            <a:xfrm>
              <a:off x="0" y="-47625"/>
              <a:ext cx="1332724" cy="573889"/>
            </a:xfrm>
            <a:prstGeom prst="rect">
              <a:avLst/>
            </a:prstGeom>
          </p:spPr>
          <p:txBody>
            <a:bodyPr lIns="50800" tIns="50800" rIns="50800" bIns="50800" rtlCol="0" anchor="ctr"/>
            <a:lstStyle/>
            <a:p>
              <a:pPr algn="ctr">
                <a:lnSpc>
                  <a:spcPts val="2800"/>
                </a:lnSpc>
              </a:pPr>
              <a:endParaRPr/>
            </a:p>
          </p:txBody>
        </p:sp>
      </p:grpSp>
      <p:grpSp>
        <p:nvGrpSpPr>
          <p:cNvPr id="20" name="Group 20"/>
          <p:cNvGrpSpPr/>
          <p:nvPr/>
        </p:nvGrpSpPr>
        <p:grpSpPr>
          <a:xfrm>
            <a:off x="12199115" y="6005026"/>
            <a:ext cx="5060185" cy="1998158"/>
            <a:chOff x="0" y="0"/>
            <a:chExt cx="1332724" cy="526264"/>
          </a:xfrm>
        </p:grpSpPr>
        <p:sp>
          <p:nvSpPr>
            <p:cNvPr id="21" name="Freeform 21"/>
            <p:cNvSpPr/>
            <p:nvPr/>
          </p:nvSpPr>
          <p:spPr>
            <a:xfrm>
              <a:off x="0" y="0"/>
              <a:ext cx="1332724" cy="526264"/>
            </a:xfrm>
            <a:custGeom>
              <a:avLst/>
              <a:gdLst/>
              <a:ahLst/>
              <a:cxnLst/>
              <a:rect l="l" t="t" r="r" b="b"/>
              <a:pathLst>
                <a:path w="1332724" h="526264">
                  <a:moveTo>
                    <a:pt x="29069" y="0"/>
                  </a:moveTo>
                  <a:lnTo>
                    <a:pt x="1303654" y="0"/>
                  </a:lnTo>
                  <a:cubicBezTo>
                    <a:pt x="1319709" y="0"/>
                    <a:pt x="1332724" y="13015"/>
                    <a:pt x="1332724" y="29069"/>
                  </a:cubicBezTo>
                  <a:lnTo>
                    <a:pt x="1332724" y="497195"/>
                  </a:lnTo>
                  <a:cubicBezTo>
                    <a:pt x="1332724" y="504904"/>
                    <a:pt x="1329661" y="512298"/>
                    <a:pt x="1324209" y="517750"/>
                  </a:cubicBezTo>
                  <a:cubicBezTo>
                    <a:pt x="1318758" y="523201"/>
                    <a:pt x="1311364" y="526264"/>
                    <a:pt x="1303654" y="526264"/>
                  </a:cubicBezTo>
                  <a:lnTo>
                    <a:pt x="29069" y="526264"/>
                  </a:lnTo>
                  <a:cubicBezTo>
                    <a:pt x="13015" y="526264"/>
                    <a:pt x="0" y="513249"/>
                    <a:pt x="0" y="497195"/>
                  </a:cubicBezTo>
                  <a:lnTo>
                    <a:pt x="0" y="29069"/>
                  </a:lnTo>
                  <a:cubicBezTo>
                    <a:pt x="0" y="13015"/>
                    <a:pt x="13015" y="0"/>
                    <a:pt x="29069" y="0"/>
                  </a:cubicBezTo>
                  <a:close/>
                </a:path>
              </a:pathLst>
            </a:custGeom>
            <a:solidFill>
              <a:srgbClr val="3A577B"/>
            </a:solidFill>
          </p:spPr>
          <p:txBody>
            <a:bodyPr/>
            <a:lstStyle/>
            <a:p>
              <a:endParaRPr lang="en-IN"/>
            </a:p>
          </p:txBody>
        </p:sp>
        <p:sp>
          <p:nvSpPr>
            <p:cNvPr id="22" name="TextBox 22"/>
            <p:cNvSpPr txBox="1"/>
            <p:nvPr/>
          </p:nvSpPr>
          <p:spPr>
            <a:xfrm>
              <a:off x="0" y="-47625"/>
              <a:ext cx="1332724" cy="573889"/>
            </a:xfrm>
            <a:prstGeom prst="rect">
              <a:avLst/>
            </a:prstGeom>
          </p:spPr>
          <p:txBody>
            <a:bodyPr lIns="50800" tIns="50800" rIns="50800" bIns="50800" rtlCol="0" anchor="ctr"/>
            <a:lstStyle/>
            <a:p>
              <a:pPr algn="ctr">
                <a:lnSpc>
                  <a:spcPts val="2800"/>
                </a:lnSpc>
              </a:pPr>
              <a:endParaRPr/>
            </a:p>
          </p:txBody>
        </p:sp>
      </p:grpSp>
      <p:grpSp>
        <p:nvGrpSpPr>
          <p:cNvPr id="23" name="Group 23"/>
          <p:cNvGrpSpPr/>
          <p:nvPr/>
        </p:nvGrpSpPr>
        <p:grpSpPr>
          <a:xfrm>
            <a:off x="7850742" y="6671785"/>
            <a:ext cx="2586515" cy="2586515"/>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16666" r="-16666"/>
              </a:stretch>
            </a:blipFill>
          </p:spPr>
          <p:txBody>
            <a:bodyPr/>
            <a:lstStyle/>
            <a:p>
              <a:endParaRPr lang="en-IN"/>
            </a:p>
          </p:txBody>
        </p:sp>
      </p:grpSp>
      <p:sp>
        <p:nvSpPr>
          <p:cNvPr id="25" name="TextBox 25"/>
          <p:cNvSpPr txBox="1"/>
          <p:nvPr/>
        </p:nvSpPr>
        <p:spPr>
          <a:xfrm>
            <a:off x="5203111" y="588580"/>
            <a:ext cx="7881777" cy="2638933"/>
          </a:xfrm>
          <a:prstGeom prst="rect">
            <a:avLst/>
          </a:prstGeom>
        </p:spPr>
        <p:txBody>
          <a:bodyPr lIns="0" tIns="0" rIns="0" bIns="0" rtlCol="0" anchor="t">
            <a:spAutoFit/>
          </a:bodyPr>
          <a:lstStyle/>
          <a:p>
            <a:pPr algn="ctr">
              <a:lnSpc>
                <a:spcPts val="6730"/>
              </a:lnSpc>
            </a:pPr>
            <a:r>
              <a:rPr lang="en-US" sz="5299" b="1">
                <a:solidFill>
                  <a:srgbClr val="0E2F5F"/>
                </a:solidFill>
                <a:latin typeface="Akzidenz-Grotesk Heavy"/>
                <a:ea typeface="Akzidenz-Grotesk Heavy"/>
                <a:cs typeface="Akzidenz-Grotesk Heavy"/>
                <a:sym typeface="Akzidenz-Grotesk Heavy"/>
              </a:rPr>
              <a:t>Nos principaux clients et références</a:t>
            </a:r>
          </a:p>
          <a:p>
            <a:pPr marL="0" lvl="0" indent="0" algn="ctr">
              <a:lnSpc>
                <a:spcPts val="6730"/>
              </a:lnSpc>
              <a:spcBef>
                <a:spcPct val="0"/>
              </a:spcBef>
            </a:pPr>
            <a:endParaRPr lang="en-US" sz="5299" b="1">
              <a:solidFill>
                <a:srgbClr val="0E2F5F"/>
              </a:solidFill>
              <a:latin typeface="Akzidenz-Grotesk Heavy"/>
              <a:ea typeface="Akzidenz-Grotesk Heavy"/>
              <a:cs typeface="Akzidenz-Grotesk Heavy"/>
              <a:sym typeface="Akzidenz-Grotesk Heavy"/>
            </a:endParaRPr>
          </a:p>
        </p:txBody>
      </p:sp>
      <p:sp>
        <p:nvSpPr>
          <p:cNvPr id="26" name="TextBox 26"/>
          <p:cNvSpPr txBox="1"/>
          <p:nvPr/>
        </p:nvSpPr>
        <p:spPr>
          <a:xfrm>
            <a:off x="7853931" y="3508998"/>
            <a:ext cx="2580138" cy="1189353"/>
          </a:xfrm>
          <a:prstGeom prst="rect">
            <a:avLst/>
          </a:prstGeom>
        </p:spPr>
        <p:txBody>
          <a:bodyPr lIns="0" tIns="0" rIns="0" bIns="0" rtlCol="0" anchor="t">
            <a:spAutoFit/>
          </a:bodyPr>
          <a:lstStyle/>
          <a:p>
            <a:pPr algn="ctr">
              <a:lnSpc>
                <a:spcPts val="3220"/>
              </a:lnSpc>
            </a:pPr>
            <a:r>
              <a:rPr lang="en-US" sz="2300" b="1">
                <a:solidFill>
                  <a:srgbClr val="FFFFFF"/>
                </a:solidFill>
                <a:latin typeface="Aileron Heavy"/>
                <a:ea typeface="Aileron Heavy"/>
                <a:cs typeface="Aileron Heavy"/>
                <a:sym typeface="Aileron Heavy"/>
              </a:rPr>
              <a:t>Entreprises</a:t>
            </a:r>
          </a:p>
          <a:p>
            <a:pPr algn="ctr">
              <a:lnSpc>
                <a:spcPts val="3220"/>
              </a:lnSpc>
            </a:pPr>
            <a:endParaRPr lang="en-US" sz="2300" b="1">
              <a:solidFill>
                <a:srgbClr val="FFFFFF"/>
              </a:solidFill>
              <a:latin typeface="Aileron Heavy"/>
              <a:ea typeface="Aileron Heavy"/>
              <a:cs typeface="Aileron Heavy"/>
              <a:sym typeface="Aileron Heavy"/>
            </a:endParaRPr>
          </a:p>
          <a:p>
            <a:pPr algn="ctr">
              <a:lnSpc>
                <a:spcPts val="3220"/>
              </a:lnSpc>
            </a:pPr>
            <a:endParaRPr lang="en-US" sz="2300" b="1">
              <a:solidFill>
                <a:srgbClr val="FFFFFF"/>
              </a:solidFill>
              <a:latin typeface="Aileron Heavy"/>
              <a:ea typeface="Aileron Heavy"/>
              <a:cs typeface="Aileron Heavy"/>
              <a:sym typeface="Aileron Heavy"/>
            </a:endParaRPr>
          </a:p>
        </p:txBody>
      </p:sp>
      <p:sp>
        <p:nvSpPr>
          <p:cNvPr id="27" name="TextBox 27"/>
          <p:cNvSpPr txBox="1"/>
          <p:nvPr/>
        </p:nvSpPr>
        <p:spPr>
          <a:xfrm>
            <a:off x="12289020" y="5286503"/>
            <a:ext cx="4880376" cy="789303"/>
          </a:xfrm>
          <a:prstGeom prst="rect">
            <a:avLst/>
          </a:prstGeom>
        </p:spPr>
        <p:txBody>
          <a:bodyPr lIns="0" tIns="0" rIns="0" bIns="0" rtlCol="0" anchor="t">
            <a:spAutoFit/>
          </a:bodyPr>
          <a:lstStyle/>
          <a:p>
            <a:pPr algn="ctr">
              <a:lnSpc>
                <a:spcPts val="3220"/>
              </a:lnSpc>
            </a:pPr>
            <a:r>
              <a:rPr lang="en-US" sz="2300" b="1">
                <a:solidFill>
                  <a:srgbClr val="FFFFFF"/>
                </a:solidFill>
                <a:latin typeface="Aileron Heavy"/>
                <a:ea typeface="Aileron Heavy"/>
                <a:cs typeface="Aileron Heavy"/>
                <a:sym typeface="Aileron Heavy"/>
              </a:rPr>
              <a:t>Résidences privées</a:t>
            </a:r>
          </a:p>
          <a:p>
            <a:pPr algn="ctr">
              <a:lnSpc>
                <a:spcPts val="3220"/>
              </a:lnSpc>
            </a:pPr>
            <a:endParaRPr lang="en-US" sz="2300" b="1">
              <a:solidFill>
                <a:srgbClr val="FFFFFF"/>
              </a:solidFill>
              <a:latin typeface="Aileron Heavy"/>
              <a:ea typeface="Aileron Heavy"/>
              <a:cs typeface="Aileron Heavy"/>
              <a:sym typeface="Aileron Heavy"/>
            </a:endParaRPr>
          </a:p>
        </p:txBody>
      </p:sp>
      <p:sp>
        <p:nvSpPr>
          <p:cNvPr id="28" name="TextBox 28"/>
          <p:cNvSpPr txBox="1"/>
          <p:nvPr/>
        </p:nvSpPr>
        <p:spPr>
          <a:xfrm>
            <a:off x="1393259" y="5286503"/>
            <a:ext cx="4331066" cy="789303"/>
          </a:xfrm>
          <a:prstGeom prst="rect">
            <a:avLst/>
          </a:prstGeom>
        </p:spPr>
        <p:txBody>
          <a:bodyPr lIns="0" tIns="0" rIns="0" bIns="0" rtlCol="0" anchor="t">
            <a:spAutoFit/>
          </a:bodyPr>
          <a:lstStyle/>
          <a:p>
            <a:pPr algn="ctr">
              <a:lnSpc>
                <a:spcPts val="3220"/>
              </a:lnSpc>
            </a:pPr>
            <a:r>
              <a:rPr lang="en-US" sz="2300" b="1">
                <a:solidFill>
                  <a:srgbClr val="FFFFFF"/>
                </a:solidFill>
                <a:latin typeface="Aileron Heavy"/>
                <a:ea typeface="Aileron Heavy"/>
                <a:cs typeface="Aileron Heavy"/>
                <a:sym typeface="Aileron Heavy"/>
              </a:rPr>
              <a:t>Mines</a:t>
            </a:r>
          </a:p>
          <a:p>
            <a:pPr algn="ctr">
              <a:lnSpc>
                <a:spcPts val="3220"/>
              </a:lnSpc>
            </a:pPr>
            <a:endParaRPr lang="en-US" sz="2300" b="1">
              <a:solidFill>
                <a:srgbClr val="FFFFFF"/>
              </a:solidFill>
              <a:latin typeface="Aileron Heavy"/>
              <a:ea typeface="Aileron Heavy"/>
              <a:cs typeface="Aileron Heavy"/>
              <a:sym typeface="Aileron Heavy"/>
            </a:endParaRPr>
          </a:p>
        </p:txBody>
      </p:sp>
      <p:sp>
        <p:nvSpPr>
          <p:cNvPr id="29" name="TextBox 29"/>
          <p:cNvSpPr txBox="1"/>
          <p:nvPr/>
        </p:nvSpPr>
        <p:spPr>
          <a:xfrm>
            <a:off x="6794570" y="4430841"/>
            <a:ext cx="4698860" cy="2111373"/>
          </a:xfrm>
          <a:prstGeom prst="rect">
            <a:avLst/>
          </a:prstGeom>
        </p:spPr>
        <p:txBody>
          <a:bodyPr lIns="0" tIns="0" rIns="0" bIns="0" rtlCol="0" anchor="t">
            <a:spAutoFit/>
          </a:bodyPr>
          <a:lstStyle/>
          <a:p>
            <a:pPr algn="ctr">
              <a:lnSpc>
                <a:spcPts val="2800"/>
              </a:lnSpc>
            </a:pPr>
            <a:r>
              <a:rPr lang="en-US" sz="2000" b="1">
                <a:solidFill>
                  <a:srgbClr val="E1EDFC"/>
                </a:solidFill>
                <a:latin typeface="Aileron Bold"/>
                <a:ea typeface="Aileron Bold"/>
                <a:cs typeface="Aileron Bold"/>
                <a:sym typeface="Aileron Bold"/>
              </a:rPr>
              <a:t>Nous fournissons des services de sécurité à des entreprises de différents secteurs, y compris le commerce, la finance et l'industrie.</a:t>
            </a:r>
          </a:p>
          <a:p>
            <a:pPr algn="ctr">
              <a:lnSpc>
                <a:spcPts val="2800"/>
              </a:lnSpc>
            </a:pPr>
            <a:endParaRPr lang="en-US" sz="2000" b="1">
              <a:solidFill>
                <a:srgbClr val="E1EDFC"/>
              </a:solidFill>
              <a:latin typeface="Aileron Bold"/>
              <a:ea typeface="Aileron Bold"/>
              <a:cs typeface="Aileron Bold"/>
              <a:sym typeface="Aileron Bold"/>
            </a:endParaRPr>
          </a:p>
          <a:p>
            <a:pPr algn="ctr">
              <a:lnSpc>
                <a:spcPts val="2800"/>
              </a:lnSpc>
            </a:pPr>
            <a:endParaRPr lang="en-US" sz="2000" b="1">
              <a:solidFill>
                <a:srgbClr val="E1EDFC"/>
              </a:solidFill>
              <a:latin typeface="Aileron Bold"/>
              <a:ea typeface="Aileron Bold"/>
              <a:cs typeface="Aileron Bold"/>
              <a:sym typeface="Aileron Bold"/>
            </a:endParaRPr>
          </a:p>
        </p:txBody>
      </p:sp>
      <p:sp>
        <p:nvSpPr>
          <p:cNvPr id="30" name="TextBox 30"/>
          <p:cNvSpPr txBox="1"/>
          <p:nvPr/>
        </p:nvSpPr>
        <p:spPr>
          <a:xfrm>
            <a:off x="12197967" y="6247351"/>
            <a:ext cx="4971428" cy="1758948"/>
          </a:xfrm>
          <a:prstGeom prst="rect">
            <a:avLst/>
          </a:prstGeom>
        </p:spPr>
        <p:txBody>
          <a:bodyPr lIns="0" tIns="0" rIns="0" bIns="0" rtlCol="0" anchor="t">
            <a:spAutoFit/>
          </a:bodyPr>
          <a:lstStyle/>
          <a:p>
            <a:pPr algn="ctr">
              <a:lnSpc>
                <a:spcPts val="2800"/>
              </a:lnSpc>
            </a:pPr>
            <a:r>
              <a:rPr lang="en-US" sz="2000" b="1">
                <a:solidFill>
                  <a:srgbClr val="E1EDFC"/>
                </a:solidFill>
                <a:latin typeface="Aileron Bold"/>
                <a:ea typeface="Aileron Bold"/>
                <a:cs typeface="Aileron Bold"/>
                <a:sym typeface="Aileron Bold"/>
              </a:rPr>
              <a:t>Nous offrons des services de sécurité et de surveillance pour les résidences privées, y compris des patrouilles de sécurité et des systèmes d'alarme.</a:t>
            </a:r>
          </a:p>
          <a:p>
            <a:pPr algn="ctr">
              <a:lnSpc>
                <a:spcPts val="2800"/>
              </a:lnSpc>
            </a:pPr>
            <a:endParaRPr lang="en-US" sz="2000" b="1">
              <a:solidFill>
                <a:srgbClr val="E1EDFC"/>
              </a:solidFill>
              <a:latin typeface="Aileron Bold"/>
              <a:ea typeface="Aileron Bold"/>
              <a:cs typeface="Aileron Bold"/>
              <a:sym typeface="Aileron Bold"/>
            </a:endParaRPr>
          </a:p>
        </p:txBody>
      </p:sp>
      <p:sp>
        <p:nvSpPr>
          <p:cNvPr id="31" name="Freeform 31"/>
          <p:cNvSpPr/>
          <p:nvPr/>
        </p:nvSpPr>
        <p:spPr>
          <a:xfrm>
            <a:off x="4505581" y="3685992"/>
            <a:ext cx="1583878" cy="1108714"/>
          </a:xfrm>
          <a:custGeom>
            <a:avLst/>
            <a:gdLst/>
            <a:ahLst/>
            <a:cxnLst/>
            <a:rect l="l" t="t" r="r" b="b"/>
            <a:pathLst>
              <a:path w="1583878" h="1108714">
                <a:moveTo>
                  <a:pt x="0" y="0"/>
                </a:moveTo>
                <a:lnTo>
                  <a:pt x="1583878" y="0"/>
                </a:lnTo>
                <a:lnTo>
                  <a:pt x="1583878" y="1108714"/>
                </a:lnTo>
                <a:lnTo>
                  <a:pt x="0" y="1108714"/>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txBody>
          <a:bodyPr/>
          <a:lstStyle/>
          <a:p>
            <a:endParaRPr lang="en-IN"/>
          </a:p>
        </p:txBody>
      </p:sp>
      <p:sp>
        <p:nvSpPr>
          <p:cNvPr id="32" name="Freeform 32"/>
          <p:cNvSpPr/>
          <p:nvPr/>
        </p:nvSpPr>
        <p:spPr>
          <a:xfrm>
            <a:off x="12198541" y="3660336"/>
            <a:ext cx="1583878" cy="1108714"/>
          </a:xfrm>
          <a:custGeom>
            <a:avLst/>
            <a:gdLst/>
            <a:ahLst/>
            <a:cxnLst/>
            <a:rect l="l" t="t" r="r" b="b"/>
            <a:pathLst>
              <a:path w="1583878" h="1108714">
                <a:moveTo>
                  <a:pt x="0" y="0"/>
                </a:moveTo>
                <a:lnTo>
                  <a:pt x="1583878" y="0"/>
                </a:lnTo>
                <a:lnTo>
                  <a:pt x="1583878" y="1108715"/>
                </a:lnTo>
                <a:lnTo>
                  <a:pt x="0" y="1108715"/>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txBody>
          <a:bodyPr/>
          <a:lstStyle/>
          <a:p>
            <a:endParaRPr lang="en-IN"/>
          </a:p>
        </p:txBody>
      </p:sp>
      <p:sp>
        <p:nvSpPr>
          <p:cNvPr id="33" name="TextBox 33"/>
          <p:cNvSpPr txBox="1"/>
          <p:nvPr/>
        </p:nvSpPr>
        <p:spPr>
          <a:xfrm>
            <a:off x="1209362" y="6247351"/>
            <a:ext cx="4698860" cy="2111373"/>
          </a:xfrm>
          <a:prstGeom prst="rect">
            <a:avLst/>
          </a:prstGeom>
        </p:spPr>
        <p:txBody>
          <a:bodyPr lIns="0" tIns="0" rIns="0" bIns="0" rtlCol="0" anchor="t">
            <a:spAutoFit/>
          </a:bodyPr>
          <a:lstStyle/>
          <a:p>
            <a:pPr algn="ctr">
              <a:lnSpc>
                <a:spcPts val="2800"/>
              </a:lnSpc>
            </a:pPr>
            <a:r>
              <a:rPr lang="en-US" sz="2000" b="1">
                <a:solidFill>
                  <a:srgbClr val="E1EDFC"/>
                </a:solidFill>
                <a:latin typeface="Aileron Bold"/>
                <a:ea typeface="Aileron Bold"/>
                <a:cs typeface="Aileron Bold"/>
                <a:sym typeface="Aileron Bold"/>
              </a:rPr>
              <a:t>Nous travaillons avec plusieurs grandes sociétés minières en Guinée, fournissant des services de sécurité pour leurs sites.</a:t>
            </a:r>
          </a:p>
          <a:p>
            <a:pPr algn="ctr">
              <a:lnSpc>
                <a:spcPts val="2800"/>
              </a:lnSpc>
            </a:pPr>
            <a:endParaRPr lang="en-US" sz="2000" b="1">
              <a:solidFill>
                <a:srgbClr val="E1EDFC"/>
              </a:solidFill>
              <a:latin typeface="Aileron Bold"/>
              <a:ea typeface="Aileron Bold"/>
              <a:cs typeface="Aileron Bold"/>
              <a:sym typeface="Aileron Bold"/>
            </a:endParaRPr>
          </a:p>
          <a:p>
            <a:pPr algn="ctr">
              <a:lnSpc>
                <a:spcPts val="2800"/>
              </a:lnSpc>
            </a:pPr>
            <a:endParaRPr lang="en-US" sz="2000" b="1">
              <a:solidFill>
                <a:srgbClr val="E1EDFC"/>
              </a:solidFill>
              <a:latin typeface="Aileron Bold"/>
              <a:ea typeface="Aileron Bold"/>
              <a:cs typeface="Aileron Bold"/>
              <a:sym typeface="Aileron Bold"/>
            </a:endParaRPr>
          </a:p>
        </p:txBody>
      </p:sp>
      <p:sp>
        <p:nvSpPr>
          <p:cNvPr id="34" name="Freeform 34"/>
          <p:cNvSpPr/>
          <p:nvPr/>
        </p:nvSpPr>
        <p:spPr>
          <a:xfrm>
            <a:off x="16082068" y="414953"/>
            <a:ext cx="1177232" cy="1185701"/>
          </a:xfrm>
          <a:custGeom>
            <a:avLst/>
            <a:gdLst/>
            <a:ahLst/>
            <a:cxnLst/>
            <a:rect l="l" t="t" r="r" b="b"/>
            <a:pathLst>
              <a:path w="1177232" h="1185701">
                <a:moveTo>
                  <a:pt x="0" y="0"/>
                </a:moveTo>
                <a:lnTo>
                  <a:pt x="1177232" y="0"/>
                </a:lnTo>
                <a:lnTo>
                  <a:pt x="1177232" y="1185702"/>
                </a:lnTo>
                <a:lnTo>
                  <a:pt x="0" y="1185702"/>
                </a:lnTo>
                <a:lnTo>
                  <a:pt x="0" y="0"/>
                </a:lnTo>
                <a:close/>
              </a:path>
            </a:pathLst>
          </a:custGeom>
          <a:blipFill>
            <a:blip r:embed="rId5"/>
            <a:stretch>
              <a:fillRect/>
            </a:stretch>
          </a:blipFill>
        </p:spPr>
        <p:txBody>
          <a:bodyPr/>
          <a:lstStyle/>
          <a:p>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9775" y="1450848"/>
            <a:ext cx="7838517" cy="944372"/>
          </a:xfrm>
          <a:prstGeom prst="rect">
            <a:avLst/>
          </a:prstGeom>
        </p:spPr>
        <p:txBody>
          <a:bodyPr lIns="0" tIns="0" rIns="0" bIns="0" rtlCol="0" anchor="t">
            <a:spAutoFit/>
          </a:bodyPr>
          <a:lstStyle/>
          <a:p>
            <a:pPr marL="0" lvl="0" indent="0" algn="r">
              <a:lnSpc>
                <a:spcPts val="6603"/>
              </a:lnSpc>
              <a:spcBef>
                <a:spcPct val="0"/>
              </a:spcBef>
            </a:pPr>
            <a:r>
              <a:rPr lang="en-US" sz="5199" b="1">
                <a:solidFill>
                  <a:srgbClr val="0E2F5F"/>
                </a:solidFill>
                <a:latin typeface="Akzidenz-Grotesk Heavy"/>
                <a:ea typeface="Akzidenz-Grotesk Heavy"/>
                <a:cs typeface="Akzidenz-Grotesk Heavy"/>
                <a:sym typeface="Akzidenz-Grotesk Heavy"/>
              </a:rPr>
              <a:t>Notre Engagement</a:t>
            </a:r>
          </a:p>
        </p:txBody>
      </p:sp>
      <p:grpSp>
        <p:nvGrpSpPr>
          <p:cNvPr id="3" name="Group 3"/>
          <p:cNvGrpSpPr/>
          <p:nvPr/>
        </p:nvGrpSpPr>
        <p:grpSpPr>
          <a:xfrm>
            <a:off x="3623562" y="3245102"/>
            <a:ext cx="15118920" cy="3184276"/>
            <a:chOff x="0" y="0"/>
            <a:chExt cx="3829591" cy="806571"/>
          </a:xfrm>
        </p:grpSpPr>
        <p:sp>
          <p:nvSpPr>
            <p:cNvPr id="4" name="Freeform 4"/>
            <p:cNvSpPr/>
            <p:nvPr/>
          </p:nvSpPr>
          <p:spPr>
            <a:xfrm>
              <a:off x="0" y="0"/>
              <a:ext cx="3829591" cy="806571"/>
            </a:xfrm>
            <a:custGeom>
              <a:avLst/>
              <a:gdLst/>
              <a:ahLst/>
              <a:cxnLst/>
              <a:rect l="l" t="t" r="r" b="b"/>
              <a:pathLst>
                <a:path w="3829591" h="806571">
                  <a:moveTo>
                    <a:pt x="7681" y="0"/>
                  </a:moveTo>
                  <a:lnTo>
                    <a:pt x="3821910" y="0"/>
                  </a:lnTo>
                  <a:cubicBezTo>
                    <a:pt x="3823947" y="0"/>
                    <a:pt x="3825901" y="809"/>
                    <a:pt x="3827341" y="2250"/>
                  </a:cubicBezTo>
                  <a:cubicBezTo>
                    <a:pt x="3828782" y="3690"/>
                    <a:pt x="3829591" y="5644"/>
                    <a:pt x="3829591" y="7681"/>
                  </a:cubicBezTo>
                  <a:lnTo>
                    <a:pt x="3829591" y="798890"/>
                  </a:lnTo>
                  <a:cubicBezTo>
                    <a:pt x="3829591" y="800927"/>
                    <a:pt x="3828782" y="802880"/>
                    <a:pt x="3827341" y="804321"/>
                  </a:cubicBezTo>
                  <a:cubicBezTo>
                    <a:pt x="3825901" y="805761"/>
                    <a:pt x="3823947" y="806571"/>
                    <a:pt x="3821910" y="806571"/>
                  </a:cubicBezTo>
                  <a:lnTo>
                    <a:pt x="7681" y="806571"/>
                  </a:lnTo>
                  <a:cubicBezTo>
                    <a:pt x="5644" y="806571"/>
                    <a:pt x="3690" y="805761"/>
                    <a:pt x="2250" y="804321"/>
                  </a:cubicBezTo>
                  <a:cubicBezTo>
                    <a:pt x="809" y="802880"/>
                    <a:pt x="0" y="800927"/>
                    <a:pt x="0" y="798890"/>
                  </a:cubicBezTo>
                  <a:lnTo>
                    <a:pt x="0" y="7681"/>
                  </a:lnTo>
                  <a:cubicBezTo>
                    <a:pt x="0" y="5644"/>
                    <a:pt x="809" y="3690"/>
                    <a:pt x="2250" y="2250"/>
                  </a:cubicBezTo>
                  <a:cubicBezTo>
                    <a:pt x="3690" y="809"/>
                    <a:pt x="5644" y="0"/>
                    <a:pt x="7681" y="0"/>
                  </a:cubicBezTo>
                  <a:close/>
                </a:path>
              </a:pathLst>
            </a:custGeom>
            <a:solidFill>
              <a:srgbClr val="E1EDFC"/>
            </a:solidFill>
            <a:ln cap="sq">
              <a:noFill/>
              <a:prstDash val="solid"/>
              <a:miter/>
            </a:ln>
          </p:spPr>
          <p:txBody>
            <a:bodyPr/>
            <a:lstStyle/>
            <a:p>
              <a:endParaRPr lang="en-IN"/>
            </a:p>
          </p:txBody>
        </p:sp>
        <p:sp>
          <p:nvSpPr>
            <p:cNvPr id="5" name="TextBox 5"/>
            <p:cNvSpPr txBox="1"/>
            <p:nvPr/>
          </p:nvSpPr>
          <p:spPr>
            <a:xfrm>
              <a:off x="0" y="-47625"/>
              <a:ext cx="3829591" cy="854196"/>
            </a:xfrm>
            <a:prstGeom prst="rect">
              <a:avLst/>
            </a:prstGeom>
          </p:spPr>
          <p:txBody>
            <a:bodyPr lIns="50800" tIns="50800" rIns="50800" bIns="50800" rtlCol="0" anchor="ctr"/>
            <a:lstStyle/>
            <a:p>
              <a:pPr algn="ctr">
                <a:lnSpc>
                  <a:spcPts val="2800"/>
                </a:lnSpc>
              </a:pPr>
              <a:endParaRPr/>
            </a:p>
          </p:txBody>
        </p:sp>
      </p:grpSp>
      <p:grpSp>
        <p:nvGrpSpPr>
          <p:cNvPr id="6" name="Group 6"/>
          <p:cNvGrpSpPr/>
          <p:nvPr/>
        </p:nvGrpSpPr>
        <p:grpSpPr>
          <a:xfrm>
            <a:off x="8534546" y="4004153"/>
            <a:ext cx="4209873" cy="692183"/>
            <a:chOff x="0" y="0"/>
            <a:chExt cx="1066352" cy="175329"/>
          </a:xfrm>
        </p:grpSpPr>
        <p:sp>
          <p:nvSpPr>
            <p:cNvPr id="7" name="Freeform 7"/>
            <p:cNvSpPr/>
            <p:nvPr/>
          </p:nvSpPr>
          <p:spPr>
            <a:xfrm>
              <a:off x="0" y="0"/>
              <a:ext cx="1066352" cy="175329"/>
            </a:xfrm>
            <a:custGeom>
              <a:avLst/>
              <a:gdLst/>
              <a:ahLst/>
              <a:cxnLst/>
              <a:rect l="l" t="t" r="r" b="b"/>
              <a:pathLst>
                <a:path w="1066352" h="175329">
                  <a:moveTo>
                    <a:pt x="87664" y="0"/>
                  </a:moveTo>
                  <a:lnTo>
                    <a:pt x="978688" y="0"/>
                  </a:lnTo>
                  <a:cubicBezTo>
                    <a:pt x="1001938" y="0"/>
                    <a:pt x="1024236" y="9236"/>
                    <a:pt x="1040676" y="25676"/>
                  </a:cubicBezTo>
                  <a:cubicBezTo>
                    <a:pt x="1057116" y="42117"/>
                    <a:pt x="1066352" y="64414"/>
                    <a:pt x="1066352" y="87664"/>
                  </a:cubicBezTo>
                  <a:lnTo>
                    <a:pt x="1066352" y="87664"/>
                  </a:lnTo>
                  <a:cubicBezTo>
                    <a:pt x="1066352" y="136080"/>
                    <a:pt x="1027103" y="175329"/>
                    <a:pt x="978688" y="175329"/>
                  </a:cubicBezTo>
                  <a:lnTo>
                    <a:pt x="87664" y="175329"/>
                  </a:lnTo>
                  <a:cubicBezTo>
                    <a:pt x="64414" y="175329"/>
                    <a:pt x="42117" y="166093"/>
                    <a:pt x="25676" y="149652"/>
                  </a:cubicBezTo>
                  <a:cubicBezTo>
                    <a:pt x="9236" y="133212"/>
                    <a:pt x="0" y="110914"/>
                    <a:pt x="0" y="87664"/>
                  </a:cubicBezTo>
                  <a:lnTo>
                    <a:pt x="0" y="87664"/>
                  </a:lnTo>
                  <a:cubicBezTo>
                    <a:pt x="0" y="64414"/>
                    <a:pt x="9236" y="42117"/>
                    <a:pt x="25676" y="25676"/>
                  </a:cubicBezTo>
                  <a:cubicBezTo>
                    <a:pt x="42117" y="9236"/>
                    <a:pt x="64414" y="0"/>
                    <a:pt x="87664" y="0"/>
                  </a:cubicBezTo>
                  <a:close/>
                </a:path>
              </a:pathLst>
            </a:custGeom>
            <a:solidFill>
              <a:srgbClr val="5188CC"/>
            </a:solidFill>
          </p:spPr>
          <p:txBody>
            <a:bodyPr/>
            <a:lstStyle/>
            <a:p>
              <a:endParaRPr lang="en-IN"/>
            </a:p>
          </p:txBody>
        </p:sp>
        <p:sp>
          <p:nvSpPr>
            <p:cNvPr id="8" name="TextBox 8"/>
            <p:cNvSpPr txBox="1"/>
            <p:nvPr/>
          </p:nvSpPr>
          <p:spPr>
            <a:xfrm>
              <a:off x="0" y="-47625"/>
              <a:ext cx="1066352" cy="222954"/>
            </a:xfrm>
            <a:prstGeom prst="rect">
              <a:avLst/>
            </a:prstGeom>
          </p:spPr>
          <p:txBody>
            <a:bodyPr lIns="50800" tIns="50800" rIns="50800" bIns="50800" rtlCol="0" anchor="ctr"/>
            <a:lstStyle/>
            <a:p>
              <a:pPr algn="ctr">
                <a:lnSpc>
                  <a:spcPts val="2800"/>
                </a:lnSpc>
              </a:pPr>
              <a:endParaRPr/>
            </a:p>
          </p:txBody>
        </p:sp>
      </p:grpSp>
      <p:sp>
        <p:nvSpPr>
          <p:cNvPr id="9" name="TextBox 9"/>
          <p:cNvSpPr txBox="1"/>
          <p:nvPr/>
        </p:nvSpPr>
        <p:spPr>
          <a:xfrm>
            <a:off x="8611130" y="4142263"/>
            <a:ext cx="4076512" cy="801641"/>
          </a:xfrm>
          <a:prstGeom prst="rect">
            <a:avLst/>
          </a:prstGeom>
        </p:spPr>
        <p:txBody>
          <a:bodyPr lIns="0" tIns="0" rIns="0" bIns="0" rtlCol="0" anchor="t">
            <a:spAutoFit/>
          </a:bodyPr>
          <a:lstStyle/>
          <a:p>
            <a:pPr algn="ctr">
              <a:lnSpc>
                <a:spcPts val="3202"/>
              </a:lnSpc>
            </a:pPr>
            <a:r>
              <a:rPr lang="en-US" sz="2287" b="1">
                <a:solidFill>
                  <a:srgbClr val="FFFFFF"/>
                </a:solidFill>
                <a:latin typeface="Aileron Heavy"/>
                <a:ea typeface="Aileron Heavy"/>
                <a:cs typeface="Aileron Heavy"/>
                <a:sym typeface="Aileron Heavy"/>
              </a:rPr>
              <a:t>Sécurité</a:t>
            </a:r>
          </a:p>
          <a:p>
            <a:pPr algn="ctr">
              <a:lnSpc>
                <a:spcPts val="3202"/>
              </a:lnSpc>
            </a:pPr>
            <a:endParaRPr lang="en-US" sz="2287" b="1">
              <a:solidFill>
                <a:srgbClr val="FFFFFF"/>
              </a:solidFill>
              <a:latin typeface="Aileron Heavy"/>
              <a:ea typeface="Aileron Heavy"/>
              <a:cs typeface="Aileron Heavy"/>
              <a:sym typeface="Aileron Heavy"/>
            </a:endParaRPr>
          </a:p>
        </p:txBody>
      </p:sp>
      <p:grpSp>
        <p:nvGrpSpPr>
          <p:cNvPr id="10" name="Group 10"/>
          <p:cNvGrpSpPr/>
          <p:nvPr/>
        </p:nvGrpSpPr>
        <p:grpSpPr>
          <a:xfrm>
            <a:off x="4121545" y="4000487"/>
            <a:ext cx="4209873" cy="692183"/>
            <a:chOff x="0" y="0"/>
            <a:chExt cx="1066352" cy="175329"/>
          </a:xfrm>
        </p:grpSpPr>
        <p:sp>
          <p:nvSpPr>
            <p:cNvPr id="11" name="Freeform 11"/>
            <p:cNvSpPr/>
            <p:nvPr/>
          </p:nvSpPr>
          <p:spPr>
            <a:xfrm>
              <a:off x="0" y="0"/>
              <a:ext cx="1066352" cy="175329"/>
            </a:xfrm>
            <a:custGeom>
              <a:avLst/>
              <a:gdLst/>
              <a:ahLst/>
              <a:cxnLst/>
              <a:rect l="l" t="t" r="r" b="b"/>
              <a:pathLst>
                <a:path w="1066352" h="175329">
                  <a:moveTo>
                    <a:pt x="87664" y="0"/>
                  </a:moveTo>
                  <a:lnTo>
                    <a:pt x="978688" y="0"/>
                  </a:lnTo>
                  <a:cubicBezTo>
                    <a:pt x="1001938" y="0"/>
                    <a:pt x="1024236" y="9236"/>
                    <a:pt x="1040676" y="25676"/>
                  </a:cubicBezTo>
                  <a:cubicBezTo>
                    <a:pt x="1057116" y="42117"/>
                    <a:pt x="1066352" y="64414"/>
                    <a:pt x="1066352" y="87664"/>
                  </a:cubicBezTo>
                  <a:lnTo>
                    <a:pt x="1066352" y="87664"/>
                  </a:lnTo>
                  <a:cubicBezTo>
                    <a:pt x="1066352" y="136080"/>
                    <a:pt x="1027103" y="175329"/>
                    <a:pt x="978688" y="175329"/>
                  </a:cubicBezTo>
                  <a:lnTo>
                    <a:pt x="87664" y="175329"/>
                  </a:lnTo>
                  <a:cubicBezTo>
                    <a:pt x="64414" y="175329"/>
                    <a:pt x="42117" y="166093"/>
                    <a:pt x="25676" y="149652"/>
                  </a:cubicBezTo>
                  <a:cubicBezTo>
                    <a:pt x="9236" y="133212"/>
                    <a:pt x="0" y="110914"/>
                    <a:pt x="0" y="87664"/>
                  </a:cubicBezTo>
                  <a:lnTo>
                    <a:pt x="0" y="87664"/>
                  </a:lnTo>
                  <a:cubicBezTo>
                    <a:pt x="0" y="64414"/>
                    <a:pt x="9236" y="42117"/>
                    <a:pt x="25676" y="25676"/>
                  </a:cubicBezTo>
                  <a:cubicBezTo>
                    <a:pt x="42117" y="9236"/>
                    <a:pt x="64414" y="0"/>
                    <a:pt x="87664" y="0"/>
                  </a:cubicBezTo>
                  <a:close/>
                </a:path>
              </a:pathLst>
            </a:custGeom>
            <a:solidFill>
              <a:srgbClr val="5188CC"/>
            </a:solidFill>
          </p:spPr>
          <p:txBody>
            <a:bodyPr/>
            <a:lstStyle/>
            <a:p>
              <a:endParaRPr lang="en-IN"/>
            </a:p>
          </p:txBody>
        </p:sp>
        <p:sp>
          <p:nvSpPr>
            <p:cNvPr id="12" name="TextBox 12"/>
            <p:cNvSpPr txBox="1"/>
            <p:nvPr/>
          </p:nvSpPr>
          <p:spPr>
            <a:xfrm>
              <a:off x="0" y="-47625"/>
              <a:ext cx="1066352" cy="222954"/>
            </a:xfrm>
            <a:prstGeom prst="rect">
              <a:avLst/>
            </a:prstGeom>
          </p:spPr>
          <p:txBody>
            <a:bodyPr lIns="50800" tIns="50800" rIns="50800" bIns="50800" rtlCol="0" anchor="ctr"/>
            <a:lstStyle/>
            <a:p>
              <a:pPr algn="ctr">
                <a:lnSpc>
                  <a:spcPts val="2800"/>
                </a:lnSpc>
              </a:pPr>
              <a:endParaRPr/>
            </a:p>
          </p:txBody>
        </p:sp>
      </p:grpSp>
      <p:sp>
        <p:nvSpPr>
          <p:cNvPr id="13" name="TextBox 13"/>
          <p:cNvSpPr txBox="1"/>
          <p:nvPr/>
        </p:nvSpPr>
        <p:spPr>
          <a:xfrm>
            <a:off x="4577125" y="4138597"/>
            <a:ext cx="3318521" cy="801641"/>
          </a:xfrm>
          <a:prstGeom prst="rect">
            <a:avLst/>
          </a:prstGeom>
        </p:spPr>
        <p:txBody>
          <a:bodyPr lIns="0" tIns="0" rIns="0" bIns="0" rtlCol="0" anchor="t">
            <a:spAutoFit/>
          </a:bodyPr>
          <a:lstStyle/>
          <a:p>
            <a:pPr algn="ctr">
              <a:lnSpc>
                <a:spcPts val="3202"/>
              </a:lnSpc>
            </a:pPr>
            <a:r>
              <a:rPr lang="en-US" sz="2287" b="1">
                <a:solidFill>
                  <a:srgbClr val="FFFFFF"/>
                </a:solidFill>
                <a:latin typeface="Aileron Heavy"/>
                <a:ea typeface="Aileron Heavy"/>
                <a:cs typeface="Aileron Heavy"/>
                <a:sym typeface="Aileron Heavy"/>
              </a:rPr>
              <a:t>Prévention</a:t>
            </a:r>
          </a:p>
          <a:p>
            <a:pPr algn="ctr">
              <a:lnSpc>
                <a:spcPts val="3202"/>
              </a:lnSpc>
            </a:pPr>
            <a:endParaRPr lang="en-US" sz="2287" b="1">
              <a:solidFill>
                <a:srgbClr val="FFFFFF"/>
              </a:solidFill>
              <a:latin typeface="Aileron Heavy"/>
              <a:ea typeface="Aileron Heavy"/>
              <a:cs typeface="Aileron Heavy"/>
              <a:sym typeface="Aileron Heavy"/>
            </a:endParaRPr>
          </a:p>
        </p:txBody>
      </p:sp>
      <p:grpSp>
        <p:nvGrpSpPr>
          <p:cNvPr id="14" name="Group 14"/>
          <p:cNvGrpSpPr/>
          <p:nvPr/>
        </p:nvGrpSpPr>
        <p:grpSpPr>
          <a:xfrm>
            <a:off x="12947546" y="3994249"/>
            <a:ext cx="4209873" cy="692183"/>
            <a:chOff x="0" y="0"/>
            <a:chExt cx="1066352" cy="175329"/>
          </a:xfrm>
        </p:grpSpPr>
        <p:sp>
          <p:nvSpPr>
            <p:cNvPr id="15" name="Freeform 15"/>
            <p:cNvSpPr/>
            <p:nvPr/>
          </p:nvSpPr>
          <p:spPr>
            <a:xfrm>
              <a:off x="0" y="0"/>
              <a:ext cx="1066352" cy="175329"/>
            </a:xfrm>
            <a:custGeom>
              <a:avLst/>
              <a:gdLst/>
              <a:ahLst/>
              <a:cxnLst/>
              <a:rect l="l" t="t" r="r" b="b"/>
              <a:pathLst>
                <a:path w="1066352" h="175329">
                  <a:moveTo>
                    <a:pt x="87664" y="0"/>
                  </a:moveTo>
                  <a:lnTo>
                    <a:pt x="978688" y="0"/>
                  </a:lnTo>
                  <a:cubicBezTo>
                    <a:pt x="1001938" y="0"/>
                    <a:pt x="1024236" y="9236"/>
                    <a:pt x="1040676" y="25676"/>
                  </a:cubicBezTo>
                  <a:cubicBezTo>
                    <a:pt x="1057116" y="42117"/>
                    <a:pt x="1066352" y="64414"/>
                    <a:pt x="1066352" y="87664"/>
                  </a:cubicBezTo>
                  <a:lnTo>
                    <a:pt x="1066352" y="87664"/>
                  </a:lnTo>
                  <a:cubicBezTo>
                    <a:pt x="1066352" y="136080"/>
                    <a:pt x="1027103" y="175329"/>
                    <a:pt x="978688" y="175329"/>
                  </a:cubicBezTo>
                  <a:lnTo>
                    <a:pt x="87664" y="175329"/>
                  </a:lnTo>
                  <a:cubicBezTo>
                    <a:pt x="64414" y="175329"/>
                    <a:pt x="42117" y="166093"/>
                    <a:pt x="25676" y="149652"/>
                  </a:cubicBezTo>
                  <a:cubicBezTo>
                    <a:pt x="9236" y="133212"/>
                    <a:pt x="0" y="110914"/>
                    <a:pt x="0" y="87664"/>
                  </a:cubicBezTo>
                  <a:lnTo>
                    <a:pt x="0" y="87664"/>
                  </a:lnTo>
                  <a:cubicBezTo>
                    <a:pt x="0" y="64414"/>
                    <a:pt x="9236" y="42117"/>
                    <a:pt x="25676" y="25676"/>
                  </a:cubicBezTo>
                  <a:cubicBezTo>
                    <a:pt x="42117" y="9236"/>
                    <a:pt x="64414" y="0"/>
                    <a:pt x="87664" y="0"/>
                  </a:cubicBezTo>
                  <a:close/>
                </a:path>
              </a:pathLst>
            </a:custGeom>
            <a:solidFill>
              <a:srgbClr val="5188CC"/>
            </a:solidFill>
          </p:spPr>
          <p:txBody>
            <a:bodyPr/>
            <a:lstStyle/>
            <a:p>
              <a:endParaRPr lang="en-IN"/>
            </a:p>
          </p:txBody>
        </p:sp>
        <p:sp>
          <p:nvSpPr>
            <p:cNvPr id="16" name="TextBox 16"/>
            <p:cNvSpPr txBox="1"/>
            <p:nvPr/>
          </p:nvSpPr>
          <p:spPr>
            <a:xfrm>
              <a:off x="0" y="-47625"/>
              <a:ext cx="1066352" cy="222954"/>
            </a:xfrm>
            <a:prstGeom prst="rect">
              <a:avLst/>
            </a:prstGeom>
          </p:spPr>
          <p:txBody>
            <a:bodyPr lIns="50800" tIns="50800" rIns="50800" bIns="50800" rtlCol="0" anchor="ctr"/>
            <a:lstStyle/>
            <a:p>
              <a:pPr algn="ctr">
                <a:lnSpc>
                  <a:spcPts val="2800"/>
                </a:lnSpc>
              </a:pPr>
              <a:endParaRPr/>
            </a:p>
          </p:txBody>
        </p:sp>
      </p:grpSp>
      <p:sp>
        <p:nvSpPr>
          <p:cNvPr id="17" name="TextBox 17"/>
          <p:cNvSpPr txBox="1"/>
          <p:nvPr/>
        </p:nvSpPr>
        <p:spPr>
          <a:xfrm>
            <a:off x="13383785" y="4115124"/>
            <a:ext cx="3337396" cy="801641"/>
          </a:xfrm>
          <a:prstGeom prst="rect">
            <a:avLst/>
          </a:prstGeom>
        </p:spPr>
        <p:txBody>
          <a:bodyPr lIns="0" tIns="0" rIns="0" bIns="0" rtlCol="0" anchor="t">
            <a:spAutoFit/>
          </a:bodyPr>
          <a:lstStyle/>
          <a:p>
            <a:pPr algn="ctr">
              <a:lnSpc>
                <a:spcPts val="3202"/>
              </a:lnSpc>
            </a:pPr>
            <a:r>
              <a:rPr lang="en-US" sz="2287" b="1">
                <a:solidFill>
                  <a:srgbClr val="FFFFFF"/>
                </a:solidFill>
                <a:latin typeface="Aileron Heavy"/>
                <a:ea typeface="Aileron Heavy"/>
                <a:cs typeface="Aileron Heavy"/>
                <a:sym typeface="Aileron Heavy"/>
              </a:rPr>
              <a:t>Protection</a:t>
            </a:r>
          </a:p>
          <a:p>
            <a:pPr marL="0" lvl="0" indent="0" algn="ctr">
              <a:lnSpc>
                <a:spcPts val="3202"/>
              </a:lnSpc>
              <a:spcBef>
                <a:spcPct val="0"/>
              </a:spcBef>
            </a:pPr>
            <a:endParaRPr lang="en-US" sz="2287" b="1">
              <a:solidFill>
                <a:srgbClr val="FFFFFF"/>
              </a:solidFill>
              <a:latin typeface="Aileron Heavy"/>
              <a:ea typeface="Aileron Heavy"/>
              <a:cs typeface="Aileron Heavy"/>
              <a:sym typeface="Aileron Heavy"/>
            </a:endParaRPr>
          </a:p>
        </p:txBody>
      </p:sp>
      <p:sp>
        <p:nvSpPr>
          <p:cNvPr id="18" name="TextBox 18"/>
          <p:cNvSpPr txBox="1"/>
          <p:nvPr/>
        </p:nvSpPr>
        <p:spPr>
          <a:xfrm>
            <a:off x="4551184" y="4789615"/>
            <a:ext cx="3344462" cy="1827027"/>
          </a:xfrm>
          <a:prstGeom prst="rect">
            <a:avLst/>
          </a:prstGeom>
        </p:spPr>
        <p:txBody>
          <a:bodyPr lIns="0" tIns="0" rIns="0" bIns="0" rtlCol="0" anchor="t">
            <a:spAutoFit/>
          </a:bodyPr>
          <a:lstStyle/>
          <a:p>
            <a:pPr marL="0" lvl="0" indent="0" algn="ctr">
              <a:lnSpc>
                <a:spcPts val="2911"/>
              </a:lnSpc>
              <a:spcBef>
                <a:spcPct val="0"/>
              </a:spcBef>
            </a:pPr>
            <a:r>
              <a:rPr lang="en-US" sz="2079" b="1" u="none" strike="noStrike">
                <a:solidFill>
                  <a:srgbClr val="0E2F5F"/>
                </a:solidFill>
                <a:latin typeface="Aileron Bold"/>
                <a:ea typeface="Aileron Bold"/>
                <a:cs typeface="Aileron Bold"/>
                <a:sym typeface="Aileron Bold"/>
              </a:rPr>
              <a:t>Nous mettons tout en œuvre pour anticiper et prévenir les risques avant qu'ils ne se produisent.</a:t>
            </a:r>
          </a:p>
          <a:p>
            <a:pPr marL="0" lvl="0" indent="0" algn="ctr">
              <a:lnSpc>
                <a:spcPts val="2911"/>
              </a:lnSpc>
              <a:spcBef>
                <a:spcPct val="0"/>
              </a:spcBef>
            </a:pPr>
            <a:endParaRPr lang="en-US" sz="2079" b="1" u="none" strike="noStrike">
              <a:solidFill>
                <a:srgbClr val="0E2F5F"/>
              </a:solidFill>
              <a:latin typeface="Aileron Bold"/>
              <a:ea typeface="Aileron Bold"/>
              <a:cs typeface="Aileron Bold"/>
              <a:sym typeface="Aileron Bold"/>
            </a:endParaRPr>
          </a:p>
        </p:txBody>
      </p:sp>
      <p:sp>
        <p:nvSpPr>
          <p:cNvPr id="19" name="TextBox 19"/>
          <p:cNvSpPr txBox="1"/>
          <p:nvPr/>
        </p:nvSpPr>
        <p:spPr>
          <a:xfrm>
            <a:off x="8975429" y="4789615"/>
            <a:ext cx="3614553" cy="1827027"/>
          </a:xfrm>
          <a:prstGeom prst="rect">
            <a:avLst/>
          </a:prstGeom>
        </p:spPr>
        <p:txBody>
          <a:bodyPr lIns="0" tIns="0" rIns="0" bIns="0" rtlCol="0" anchor="t">
            <a:spAutoFit/>
          </a:bodyPr>
          <a:lstStyle/>
          <a:p>
            <a:pPr algn="ctr">
              <a:lnSpc>
                <a:spcPts val="2911"/>
              </a:lnSpc>
            </a:pPr>
            <a:r>
              <a:rPr lang="en-US" sz="2079" b="1">
                <a:solidFill>
                  <a:srgbClr val="0E2F5F"/>
                </a:solidFill>
                <a:latin typeface="Aileron Bold"/>
                <a:ea typeface="Aileron Bold"/>
                <a:cs typeface="Aileron Bold"/>
                <a:sym typeface="Aileron Bold"/>
              </a:rPr>
              <a:t>Nos équipes déploient tous les moyens nécessaires pour assurer la sécurité de vos biens et de vos personnes.</a:t>
            </a:r>
          </a:p>
          <a:p>
            <a:pPr algn="ctr">
              <a:lnSpc>
                <a:spcPts val="2911"/>
              </a:lnSpc>
            </a:pPr>
            <a:endParaRPr lang="en-US" sz="2079" b="1">
              <a:solidFill>
                <a:srgbClr val="0E2F5F"/>
              </a:solidFill>
              <a:latin typeface="Aileron Bold"/>
              <a:ea typeface="Aileron Bold"/>
              <a:cs typeface="Aileron Bold"/>
              <a:sym typeface="Aileron Bold"/>
            </a:endParaRPr>
          </a:p>
        </p:txBody>
      </p:sp>
      <p:sp>
        <p:nvSpPr>
          <p:cNvPr id="20" name="TextBox 20"/>
          <p:cNvSpPr txBox="1"/>
          <p:nvPr/>
        </p:nvSpPr>
        <p:spPr>
          <a:xfrm>
            <a:off x="13105733" y="4844150"/>
            <a:ext cx="3933115" cy="1460582"/>
          </a:xfrm>
          <a:prstGeom prst="rect">
            <a:avLst/>
          </a:prstGeom>
        </p:spPr>
        <p:txBody>
          <a:bodyPr lIns="0" tIns="0" rIns="0" bIns="0" rtlCol="0" anchor="t">
            <a:spAutoFit/>
          </a:bodyPr>
          <a:lstStyle/>
          <a:p>
            <a:pPr algn="ctr">
              <a:lnSpc>
                <a:spcPts val="2911"/>
              </a:lnSpc>
            </a:pPr>
            <a:r>
              <a:rPr lang="en-US" sz="2079" b="1">
                <a:solidFill>
                  <a:srgbClr val="0E2F5F"/>
                </a:solidFill>
                <a:latin typeface="Aileron Bold"/>
                <a:ea typeface="Aileron Bold"/>
                <a:cs typeface="Aileron Bold"/>
                <a:sym typeface="Aileron Bold"/>
              </a:rPr>
              <a:t>Nous garantissons une protection fiable et rassurante, en toute circonstance.</a:t>
            </a:r>
          </a:p>
          <a:p>
            <a:pPr algn="ctr">
              <a:lnSpc>
                <a:spcPts val="2911"/>
              </a:lnSpc>
            </a:pPr>
            <a:endParaRPr lang="en-US" sz="2079" b="1">
              <a:solidFill>
                <a:srgbClr val="0E2F5F"/>
              </a:solidFill>
              <a:latin typeface="Aileron Bold"/>
              <a:ea typeface="Aileron Bold"/>
              <a:cs typeface="Aileron Bold"/>
              <a:sym typeface="Aileron Bold"/>
            </a:endParaRPr>
          </a:p>
        </p:txBody>
      </p:sp>
      <p:sp>
        <p:nvSpPr>
          <p:cNvPr id="21" name="AutoShape 21"/>
          <p:cNvSpPr/>
          <p:nvPr/>
        </p:nvSpPr>
        <p:spPr>
          <a:xfrm>
            <a:off x="6344186" y="3042455"/>
            <a:ext cx="13476123" cy="0"/>
          </a:xfrm>
          <a:prstGeom prst="line">
            <a:avLst/>
          </a:prstGeom>
          <a:ln w="38100" cap="flat">
            <a:solidFill>
              <a:srgbClr val="5188CC"/>
            </a:solidFill>
            <a:prstDash val="solid"/>
            <a:headEnd type="none" w="sm" len="sm"/>
            <a:tailEnd type="none" w="sm" len="sm"/>
          </a:ln>
        </p:spPr>
        <p:txBody>
          <a:bodyPr/>
          <a:lstStyle/>
          <a:p>
            <a:endParaRPr lang="en-IN"/>
          </a:p>
        </p:txBody>
      </p:sp>
      <p:grpSp>
        <p:nvGrpSpPr>
          <p:cNvPr id="22" name="Group 22"/>
          <p:cNvGrpSpPr/>
          <p:nvPr/>
        </p:nvGrpSpPr>
        <p:grpSpPr>
          <a:xfrm>
            <a:off x="5763284" y="2826495"/>
            <a:ext cx="926395" cy="926395"/>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p:spPr>
          <p:txBody>
            <a:bodyPr/>
            <a:lstStyle/>
            <a:p>
              <a:endParaRPr lang="en-IN"/>
            </a:p>
          </p:txBody>
        </p:sp>
        <p:sp>
          <p:nvSpPr>
            <p:cNvPr id="24" name="TextBox 24"/>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grpSp>
        <p:nvGrpSpPr>
          <p:cNvPr id="25" name="Group 25"/>
          <p:cNvGrpSpPr/>
          <p:nvPr/>
        </p:nvGrpSpPr>
        <p:grpSpPr>
          <a:xfrm>
            <a:off x="10186189" y="2781905"/>
            <a:ext cx="926395" cy="926395"/>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p:spPr>
          <p:txBody>
            <a:bodyPr/>
            <a:lstStyle/>
            <a:p>
              <a:endParaRPr lang="en-IN"/>
            </a:p>
          </p:txBody>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grpSp>
        <p:nvGrpSpPr>
          <p:cNvPr id="28" name="Group 28"/>
          <p:cNvGrpSpPr/>
          <p:nvPr/>
        </p:nvGrpSpPr>
        <p:grpSpPr>
          <a:xfrm>
            <a:off x="14609093" y="2737315"/>
            <a:ext cx="926395" cy="926395"/>
            <a:chOff x="0" y="0"/>
            <a:chExt cx="812800" cy="812800"/>
          </a:xfrm>
        </p:grpSpPr>
        <p:sp>
          <p:nvSpPr>
            <p:cNvPr id="29" name="Freeform 2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E2F5F"/>
            </a:solidFill>
          </p:spPr>
          <p:txBody>
            <a:bodyPr/>
            <a:lstStyle/>
            <a:p>
              <a:endParaRPr lang="en-IN"/>
            </a:p>
          </p:txBody>
        </p:sp>
        <p:sp>
          <p:nvSpPr>
            <p:cNvPr id="30" name="TextBox 30"/>
            <p:cNvSpPr txBox="1"/>
            <p:nvPr/>
          </p:nvSpPr>
          <p:spPr>
            <a:xfrm>
              <a:off x="76200" y="28575"/>
              <a:ext cx="660400" cy="708025"/>
            </a:xfrm>
            <a:prstGeom prst="rect">
              <a:avLst/>
            </a:prstGeom>
          </p:spPr>
          <p:txBody>
            <a:bodyPr lIns="50800" tIns="50800" rIns="50800" bIns="50800" rtlCol="0" anchor="ctr"/>
            <a:lstStyle/>
            <a:p>
              <a:pPr algn="ctr">
                <a:lnSpc>
                  <a:spcPts val="2800"/>
                </a:lnSpc>
              </a:pPr>
              <a:endParaRPr/>
            </a:p>
          </p:txBody>
        </p:sp>
      </p:grpSp>
      <p:sp>
        <p:nvSpPr>
          <p:cNvPr id="31" name="Freeform 31"/>
          <p:cNvSpPr/>
          <p:nvPr/>
        </p:nvSpPr>
        <p:spPr>
          <a:xfrm rot="5400000">
            <a:off x="6033739" y="3087045"/>
            <a:ext cx="405294" cy="405294"/>
          </a:xfrm>
          <a:custGeom>
            <a:avLst/>
            <a:gdLst/>
            <a:ahLst/>
            <a:cxnLst/>
            <a:rect l="l" t="t" r="r" b="b"/>
            <a:pathLst>
              <a:path w="405294" h="405294">
                <a:moveTo>
                  <a:pt x="0" y="0"/>
                </a:moveTo>
                <a:lnTo>
                  <a:pt x="405294" y="0"/>
                </a:lnTo>
                <a:lnTo>
                  <a:pt x="405294" y="405294"/>
                </a:lnTo>
                <a:lnTo>
                  <a:pt x="0" y="40529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IN"/>
          </a:p>
        </p:txBody>
      </p:sp>
      <p:sp>
        <p:nvSpPr>
          <p:cNvPr id="32" name="Freeform 32"/>
          <p:cNvSpPr/>
          <p:nvPr/>
        </p:nvSpPr>
        <p:spPr>
          <a:xfrm rot="5400000">
            <a:off x="10446739" y="3042455"/>
            <a:ext cx="405294" cy="405294"/>
          </a:xfrm>
          <a:custGeom>
            <a:avLst/>
            <a:gdLst/>
            <a:ahLst/>
            <a:cxnLst/>
            <a:rect l="l" t="t" r="r" b="b"/>
            <a:pathLst>
              <a:path w="405294" h="405294">
                <a:moveTo>
                  <a:pt x="0" y="0"/>
                </a:moveTo>
                <a:lnTo>
                  <a:pt x="405294" y="0"/>
                </a:lnTo>
                <a:lnTo>
                  <a:pt x="405294" y="405294"/>
                </a:lnTo>
                <a:lnTo>
                  <a:pt x="0" y="405294"/>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IN"/>
          </a:p>
        </p:txBody>
      </p:sp>
      <p:sp>
        <p:nvSpPr>
          <p:cNvPr id="33" name="Freeform 33"/>
          <p:cNvSpPr/>
          <p:nvPr/>
        </p:nvSpPr>
        <p:spPr>
          <a:xfrm rot="5400000">
            <a:off x="14859739" y="2997865"/>
            <a:ext cx="405294" cy="405294"/>
          </a:xfrm>
          <a:custGeom>
            <a:avLst/>
            <a:gdLst/>
            <a:ahLst/>
            <a:cxnLst/>
            <a:rect l="l" t="t" r="r" b="b"/>
            <a:pathLst>
              <a:path w="405294" h="405294">
                <a:moveTo>
                  <a:pt x="0" y="0"/>
                </a:moveTo>
                <a:lnTo>
                  <a:pt x="405295" y="0"/>
                </a:lnTo>
                <a:lnTo>
                  <a:pt x="405295" y="405295"/>
                </a:lnTo>
                <a:lnTo>
                  <a:pt x="0" y="405295"/>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IN"/>
          </a:p>
        </p:txBody>
      </p:sp>
      <p:grpSp>
        <p:nvGrpSpPr>
          <p:cNvPr id="34" name="Group 34"/>
          <p:cNvGrpSpPr/>
          <p:nvPr/>
        </p:nvGrpSpPr>
        <p:grpSpPr>
          <a:xfrm>
            <a:off x="0" y="-27349"/>
            <a:ext cx="3176441" cy="10287000"/>
            <a:chOff x="0" y="0"/>
            <a:chExt cx="492114" cy="1593725"/>
          </a:xfrm>
        </p:grpSpPr>
        <p:sp>
          <p:nvSpPr>
            <p:cNvPr id="35" name="Freeform 35"/>
            <p:cNvSpPr/>
            <p:nvPr/>
          </p:nvSpPr>
          <p:spPr>
            <a:xfrm>
              <a:off x="0" y="0"/>
              <a:ext cx="492114" cy="1593725"/>
            </a:xfrm>
            <a:custGeom>
              <a:avLst/>
              <a:gdLst/>
              <a:ahLst/>
              <a:cxnLst/>
              <a:rect l="l" t="t" r="r" b="b"/>
              <a:pathLst>
                <a:path w="492114" h="1593725">
                  <a:moveTo>
                    <a:pt x="0" y="0"/>
                  </a:moveTo>
                  <a:lnTo>
                    <a:pt x="492114" y="0"/>
                  </a:lnTo>
                  <a:lnTo>
                    <a:pt x="492114" y="1593725"/>
                  </a:lnTo>
                  <a:lnTo>
                    <a:pt x="0" y="1593725"/>
                  </a:lnTo>
                  <a:close/>
                </a:path>
              </a:pathLst>
            </a:custGeom>
            <a:blipFill>
              <a:blip r:embed="rId4"/>
              <a:stretch>
                <a:fillRect l="-5997" t="-13419" r="-139768"/>
              </a:stretch>
            </a:blipFill>
          </p:spPr>
          <p:txBody>
            <a:bodyPr/>
            <a:lstStyle/>
            <a:p>
              <a:endParaRPr lang="en-IN"/>
            </a:p>
          </p:txBody>
        </p:sp>
      </p:grpSp>
      <p:sp>
        <p:nvSpPr>
          <p:cNvPr id="36" name="Freeform 36"/>
          <p:cNvSpPr/>
          <p:nvPr/>
        </p:nvSpPr>
        <p:spPr>
          <a:xfrm>
            <a:off x="4243241" y="-1845934"/>
            <a:ext cx="3691868" cy="3691868"/>
          </a:xfrm>
          <a:custGeom>
            <a:avLst/>
            <a:gdLst/>
            <a:ahLst/>
            <a:cxnLst/>
            <a:rect l="l" t="t" r="r" b="b"/>
            <a:pathLst>
              <a:path w="3691868" h="3691868">
                <a:moveTo>
                  <a:pt x="0" y="0"/>
                </a:moveTo>
                <a:lnTo>
                  <a:pt x="3691868" y="0"/>
                </a:lnTo>
                <a:lnTo>
                  <a:pt x="3691868" y="3691868"/>
                </a:lnTo>
                <a:lnTo>
                  <a:pt x="0" y="3691868"/>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txBody>
          <a:bodyPr/>
          <a:lstStyle/>
          <a:p>
            <a:endParaRPr lang="en-IN"/>
          </a:p>
        </p:txBody>
      </p:sp>
      <p:sp>
        <p:nvSpPr>
          <p:cNvPr id="37" name="Freeform 37"/>
          <p:cNvSpPr/>
          <p:nvPr/>
        </p:nvSpPr>
        <p:spPr>
          <a:xfrm>
            <a:off x="16032840" y="8879212"/>
            <a:ext cx="1226460" cy="379088"/>
          </a:xfrm>
          <a:custGeom>
            <a:avLst/>
            <a:gdLst/>
            <a:ahLst/>
            <a:cxnLst/>
            <a:rect l="l" t="t" r="r" b="b"/>
            <a:pathLst>
              <a:path w="1226460" h="379088">
                <a:moveTo>
                  <a:pt x="0" y="0"/>
                </a:moveTo>
                <a:lnTo>
                  <a:pt x="1226460" y="0"/>
                </a:lnTo>
                <a:lnTo>
                  <a:pt x="1226460" y="379088"/>
                </a:lnTo>
                <a:lnTo>
                  <a:pt x="0" y="379088"/>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txBody>
          <a:bodyPr/>
          <a:lstStyle/>
          <a:p>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028700" cy="1771441"/>
            <a:chOff x="0" y="0"/>
            <a:chExt cx="270933" cy="466552"/>
          </a:xfrm>
        </p:grpSpPr>
        <p:sp>
          <p:nvSpPr>
            <p:cNvPr id="3" name="Freeform 3"/>
            <p:cNvSpPr/>
            <p:nvPr/>
          </p:nvSpPr>
          <p:spPr>
            <a:xfrm>
              <a:off x="0" y="0"/>
              <a:ext cx="270933" cy="466552"/>
            </a:xfrm>
            <a:custGeom>
              <a:avLst/>
              <a:gdLst/>
              <a:ahLst/>
              <a:cxnLst/>
              <a:rect l="l" t="t" r="r" b="b"/>
              <a:pathLst>
                <a:path w="270933" h="466552">
                  <a:moveTo>
                    <a:pt x="0" y="0"/>
                  </a:moveTo>
                  <a:lnTo>
                    <a:pt x="270933" y="0"/>
                  </a:lnTo>
                  <a:lnTo>
                    <a:pt x="270933" y="466552"/>
                  </a:lnTo>
                  <a:lnTo>
                    <a:pt x="0" y="466552"/>
                  </a:lnTo>
                  <a:close/>
                </a:path>
              </a:pathLst>
            </a:custGeom>
            <a:solidFill>
              <a:srgbClr val="2C92D5"/>
            </a:solidFill>
          </p:spPr>
          <p:txBody>
            <a:bodyPr/>
            <a:lstStyle/>
            <a:p>
              <a:endParaRPr lang="en-IN"/>
            </a:p>
          </p:txBody>
        </p:sp>
        <p:sp>
          <p:nvSpPr>
            <p:cNvPr id="4" name="TextBox 4"/>
            <p:cNvSpPr txBox="1"/>
            <p:nvPr/>
          </p:nvSpPr>
          <p:spPr>
            <a:xfrm>
              <a:off x="0" y="-38100"/>
              <a:ext cx="270933" cy="504652"/>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0" y="8088569"/>
            <a:ext cx="1028700" cy="1169731"/>
            <a:chOff x="0" y="0"/>
            <a:chExt cx="270933" cy="308077"/>
          </a:xfrm>
        </p:grpSpPr>
        <p:sp>
          <p:nvSpPr>
            <p:cNvPr id="6" name="Freeform 6"/>
            <p:cNvSpPr/>
            <p:nvPr/>
          </p:nvSpPr>
          <p:spPr>
            <a:xfrm>
              <a:off x="0" y="0"/>
              <a:ext cx="270933" cy="308077"/>
            </a:xfrm>
            <a:custGeom>
              <a:avLst/>
              <a:gdLst/>
              <a:ahLst/>
              <a:cxnLst/>
              <a:rect l="l" t="t" r="r" b="b"/>
              <a:pathLst>
                <a:path w="270933" h="308077">
                  <a:moveTo>
                    <a:pt x="0" y="0"/>
                  </a:moveTo>
                  <a:lnTo>
                    <a:pt x="270933" y="0"/>
                  </a:lnTo>
                  <a:lnTo>
                    <a:pt x="270933" y="308077"/>
                  </a:lnTo>
                  <a:lnTo>
                    <a:pt x="0" y="308077"/>
                  </a:lnTo>
                  <a:close/>
                </a:path>
              </a:pathLst>
            </a:custGeom>
            <a:solidFill>
              <a:srgbClr val="37C9EF"/>
            </a:solidFill>
          </p:spPr>
          <p:txBody>
            <a:bodyPr/>
            <a:lstStyle/>
            <a:p>
              <a:endParaRPr lang="en-IN"/>
            </a:p>
          </p:txBody>
        </p:sp>
        <p:sp>
          <p:nvSpPr>
            <p:cNvPr id="7" name="TextBox 7"/>
            <p:cNvSpPr txBox="1"/>
            <p:nvPr/>
          </p:nvSpPr>
          <p:spPr>
            <a:xfrm>
              <a:off x="0" y="-38100"/>
              <a:ext cx="270933" cy="346177"/>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16780649" y="8885345"/>
            <a:ext cx="919202" cy="745910"/>
          </a:xfrm>
          <a:custGeom>
            <a:avLst/>
            <a:gdLst/>
            <a:ahLst/>
            <a:cxnLst/>
            <a:rect l="l" t="t" r="r" b="b"/>
            <a:pathLst>
              <a:path w="919202" h="745910">
                <a:moveTo>
                  <a:pt x="0" y="0"/>
                </a:moveTo>
                <a:lnTo>
                  <a:pt x="919202" y="0"/>
                </a:lnTo>
                <a:lnTo>
                  <a:pt x="919202" y="745910"/>
                </a:lnTo>
                <a:lnTo>
                  <a:pt x="0" y="74591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IN"/>
          </a:p>
        </p:txBody>
      </p:sp>
      <p:sp>
        <p:nvSpPr>
          <p:cNvPr id="9" name="TextBox 9"/>
          <p:cNvSpPr txBox="1"/>
          <p:nvPr/>
        </p:nvSpPr>
        <p:spPr>
          <a:xfrm>
            <a:off x="1118197" y="2757388"/>
            <a:ext cx="14479624" cy="5524416"/>
          </a:xfrm>
          <a:prstGeom prst="rect">
            <a:avLst/>
          </a:prstGeom>
        </p:spPr>
        <p:txBody>
          <a:bodyPr lIns="0" tIns="0" rIns="0" bIns="0" rtlCol="0" anchor="t">
            <a:spAutoFit/>
          </a:bodyPr>
          <a:lstStyle/>
          <a:p>
            <a:pPr marL="0" lvl="0" indent="0" algn="just">
              <a:lnSpc>
                <a:spcPts val="6341"/>
              </a:lnSpc>
            </a:pPr>
            <a:r>
              <a:rPr lang="en-US" sz="3034" u="none" strike="noStrike" spc="175">
                <a:solidFill>
                  <a:srgbClr val="191919"/>
                </a:solidFill>
                <a:latin typeface="Aileron Regular"/>
                <a:ea typeface="Aileron Regular"/>
                <a:cs typeface="Aileron Regular"/>
                <a:sym typeface="Aileron Regular"/>
              </a:rPr>
              <a:t>G.I.P.S est une entreprise de sécurité guinéenne engagée à fournir des services de haute qualité pour répondre aux besoins de ses clients. Notre équipe d'experts qualifiés, nos solutions personnalisées et notre utilisation de la technologie de pointe nous permettent de garantir la sécurité et la tranquillité d’esprit de nos clients. Nous vous remercions de votre attention.</a:t>
            </a:r>
          </a:p>
          <a:p>
            <a:pPr marL="0" lvl="0" indent="0" algn="just">
              <a:lnSpc>
                <a:spcPts val="6341"/>
              </a:lnSpc>
            </a:pPr>
            <a:endParaRPr lang="en-US" sz="3034" u="none" strike="noStrike" spc="175">
              <a:solidFill>
                <a:srgbClr val="191919"/>
              </a:solidFill>
              <a:latin typeface="Aileron Regular"/>
              <a:ea typeface="Aileron Regular"/>
              <a:cs typeface="Aileron Regular"/>
              <a:sym typeface="Aileron Regular"/>
            </a:endParaRPr>
          </a:p>
        </p:txBody>
      </p:sp>
      <p:grpSp>
        <p:nvGrpSpPr>
          <p:cNvPr id="10" name="Group 10"/>
          <p:cNvGrpSpPr/>
          <p:nvPr/>
        </p:nvGrpSpPr>
        <p:grpSpPr>
          <a:xfrm>
            <a:off x="0" y="9258300"/>
            <a:ext cx="1028700" cy="1028700"/>
            <a:chOff x="0" y="0"/>
            <a:chExt cx="270933" cy="270933"/>
          </a:xfrm>
        </p:grpSpPr>
        <p:sp>
          <p:nvSpPr>
            <p:cNvPr id="11" name="Freeform 11"/>
            <p:cNvSpPr/>
            <p:nvPr/>
          </p:nvSpPr>
          <p:spPr>
            <a:xfrm>
              <a:off x="0" y="0"/>
              <a:ext cx="270933" cy="270933"/>
            </a:xfrm>
            <a:custGeom>
              <a:avLst/>
              <a:gdLst/>
              <a:ahLst/>
              <a:cxnLst/>
              <a:rect l="l" t="t" r="r" b="b"/>
              <a:pathLst>
                <a:path w="270933" h="270933">
                  <a:moveTo>
                    <a:pt x="0" y="0"/>
                  </a:moveTo>
                  <a:lnTo>
                    <a:pt x="270933" y="0"/>
                  </a:lnTo>
                  <a:lnTo>
                    <a:pt x="270933" y="270933"/>
                  </a:lnTo>
                  <a:lnTo>
                    <a:pt x="0" y="270933"/>
                  </a:lnTo>
                  <a:close/>
                </a:path>
              </a:pathLst>
            </a:custGeom>
            <a:solidFill>
              <a:srgbClr val="2C92D5"/>
            </a:solidFill>
            <a:ln cap="sq">
              <a:noFill/>
              <a:prstDash val="solid"/>
              <a:miter/>
            </a:ln>
          </p:spPr>
          <p:txBody>
            <a:bodyPr/>
            <a:lstStyle/>
            <a:p>
              <a:endParaRPr lang="en-IN"/>
            </a:p>
          </p:txBody>
        </p:sp>
        <p:sp>
          <p:nvSpPr>
            <p:cNvPr id="12" name="TextBox 12"/>
            <p:cNvSpPr txBox="1"/>
            <p:nvPr/>
          </p:nvSpPr>
          <p:spPr>
            <a:xfrm>
              <a:off x="0" y="-38100"/>
              <a:ext cx="270933" cy="309033"/>
            </a:xfrm>
            <a:prstGeom prst="rect">
              <a:avLst/>
            </a:prstGeom>
          </p:spPr>
          <p:txBody>
            <a:bodyPr lIns="50800" tIns="50800" rIns="50800" bIns="50800" rtlCol="0" anchor="ctr"/>
            <a:lstStyle/>
            <a:p>
              <a:pPr algn="ctr">
                <a:lnSpc>
                  <a:spcPts val="2659"/>
                </a:lnSpc>
              </a:pPr>
              <a:endParaRPr/>
            </a:p>
          </p:txBody>
        </p:sp>
      </p:grpSp>
      <p:sp>
        <p:nvSpPr>
          <p:cNvPr id="13" name="AutoShape 13"/>
          <p:cNvSpPr/>
          <p:nvPr/>
        </p:nvSpPr>
        <p:spPr>
          <a:xfrm>
            <a:off x="1723107" y="9277350"/>
            <a:ext cx="14479624" cy="0"/>
          </a:xfrm>
          <a:prstGeom prst="line">
            <a:avLst/>
          </a:prstGeom>
          <a:ln w="38100" cap="flat">
            <a:solidFill>
              <a:srgbClr val="2C92D5"/>
            </a:solidFill>
            <a:prstDash val="solid"/>
            <a:headEnd type="none" w="sm" len="sm"/>
            <a:tailEnd type="none" w="sm" len="sm"/>
          </a:ln>
        </p:spPr>
        <p:txBody>
          <a:bodyPr/>
          <a:lstStyle/>
          <a:p>
            <a:endParaRPr lang="en-IN"/>
          </a:p>
        </p:txBody>
      </p:sp>
      <p:sp>
        <p:nvSpPr>
          <p:cNvPr id="14" name="AutoShape 14"/>
          <p:cNvSpPr/>
          <p:nvPr/>
        </p:nvSpPr>
        <p:spPr>
          <a:xfrm flipH="1">
            <a:off x="17240250" y="3024088"/>
            <a:ext cx="0" cy="5293724"/>
          </a:xfrm>
          <a:prstGeom prst="line">
            <a:avLst/>
          </a:prstGeom>
          <a:ln w="38100" cap="flat">
            <a:solidFill>
              <a:srgbClr val="2C92D5"/>
            </a:solidFill>
            <a:prstDash val="solid"/>
            <a:headEnd type="none" w="sm" len="sm"/>
            <a:tailEnd type="none" w="sm" len="sm"/>
          </a:ln>
        </p:spPr>
        <p:txBody>
          <a:bodyPr/>
          <a:lstStyle/>
          <a:p>
            <a:endParaRPr lang="en-IN"/>
          </a:p>
        </p:txBody>
      </p:sp>
      <p:sp>
        <p:nvSpPr>
          <p:cNvPr id="15" name="AutoShape 15"/>
          <p:cNvSpPr/>
          <p:nvPr/>
        </p:nvSpPr>
        <p:spPr>
          <a:xfrm>
            <a:off x="1723107" y="2460438"/>
            <a:ext cx="903745" cy="0"/>
          </a:xfrm>
          <a:prstGeom prst="line">
            <a:avLst/>
          </a:prstGeom>
          <a:ln w="238125" cap="flat">
            <a:solidFill>
              <a:srgbClr val="2C92D5"/>
            </a:solidFill>
            <a:prstDash val="solid"/>
            <a:headEnd type="none" w="sm" len="sm"/>
            <a:tailEnd type="none" w="sm" len="sm"/>
          </a:ln>
        </p:spPr>
        <p:txBody>
          <a:bodyPr/>
          <a:lstStyle/>
          <a:p>
            <a:endParaRPr lang="en-IN"/>
          </a:p>
        </p:txBody>
      </p:sp>
      <p:sp>
        <p:nvSpPr>
          <p:cNvPr id="16" name="TextBox 16"/>
          <p:cNvSpPr txBox="1"/>
          <p:nvPr/>
        </p:nvSpPr>
        <p:spPr>
          <a:xfrm>
            <a:off x="1723107" y="957592"/>
            <a:ext cx="6634902" cy="977158"/>
          </a:xfrm>
          <a:prstGeom prst="rect">
            <a:avLst/>
          </a:prstGeom>
        </p:spPr>
        <p:txBody>
          <a:bodyPr lIns="0" tIns="0" rIns="0" bIns="0" rtlCol="0" anchor="t">
            <a:spAutoFit/>
          </a:bodyPr>
          <a:lstStyle/>
          <a:p>
            <a:pPr algn="l">
              <a:lnSpc>
                <a:spcPts val="8090"/>
              </a:lnSpc>
              <a:spcBef>
                <a:spcPct val="0"/>
              </a:spcBef>
            </a:pPr>
            <a:r>
              <a:rPr lang="en-US" sz="5779" b="1" spc="57">
                <a:solidFill>
                  <a:srgbClr val="191919"/>
                </a:solidFill>
                <a:latin typeface="Aileron Heavy Bold"/>
                <a:ea typeface="Aileron Heavy Bold"/>
                <a:cs typeface="Aileron Heavy Bold"/>
                <a:sym typeface="Aileron Heavy Bold"/>
              </a:rPr>
              <a:t>REMERCIEMENTS</a:t>
            </a:r>
          </a:p>
        </p:txBody>
      </p:sp>
      <p:sp>
        <p:nvSpPr>
          <p:cNvPr id="17" name="Freeform 17"/>
          <p:cNvSpPr/>
          <p:nvPr/>
        </p:nvSpPr>
        <p:spPr>
          <a:xfrm>
            <a:off x="16522619" y="905708"/>
            <a:ext cx="1177232" cy="1185701"/>
          </a:xfrm>
          <a:custGeom>
            <a:avLst/>
            <a:gdLst/>
            <a:ahLst/>
            <a:cxnLst/>
            <a:rect l="l" t="t" r="r" b="b"/>
            <a:pathLst>
              <a:path w="1177232" h="1185701">
                <a:moveTo>
                  <a:pt x="0" y="0"/>
                </a:moveTo>
                <a:lnTo>
                  <a:pt x="1177232" y="0"/>
                </a:lnTo>
                <a:lnTo>
                  <a:pt x="1177232" y="1185702"/>
                </a:lnTo>
                <a:lnTo>
                  <a:pt x="0" y="1185702"/>
                </a:lnTo>
                <a:lnTo>
                  <a:pt x="0" y="0"/>
                </a:lnTo>
                <a:close/>
              </a:path>
            </a:pathLst>
          </a:custGeom>
          <a:blipFill>
            <a:blip r:embed="rId4"/>
            <a:stretch>
              <a:fillRect/>
            </a:stretch>
          </a:blipFill>
        </p:spPr>
        <p:txBody>
          <a:bodyPr/>
          <a:lstStyle/>
          <a:p>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028700" cy="1771441"/>
            <a:chOff x="0" y="0"/>
            <a:chExt cx="270933" cy="466552"/>
          </a:xfrm>
        </p:grpSpPr>
        <p:sp>
          <p:nvSpPr>
            <p:cNvPr id="3" name="Freeform 3"/>
            <p:cNvSpPr/>
            <p:nvPr/>
          </p:nvSpPr>
          <p:spPr>
            <a:xfrm>
              <a:off x="0" y="0"/>
              <a:ext cx="270933" cy="466552"/>
            </a:xfrm>
            <a:custGeom>
              <a:avLst/>
              <a:gdLst/>
              <a:ahLst/>
              <a:cxnLst/>
              <a:rect l="l" t="t" r="r" b="b"/>
              <a:pathLst>
                <a:path w="270933" h="466552">
                  <a:moveTo>
                    <a:pt x="0" y="0"/>
                  </a:moveTo>
                  <a:lnTo>
                    <a:pt x="270933" y="0"/>
                  </a:lnTo>
                  <a:lnTo>
                    <a:pt x="270933" y="466552"/>
                  </a:lnTo>
                  <a:lnTo>
                    <a:pt x="0" y="466552"/>
                  </a:lnTo>
                  <a:close/>
                </a:path>
              </a:pathLst>
            </a:custGeom>
            <a:solidFill>
              <a:srgbClr val="2C92D5"/>
            </a:solidFill>
          </p:spPr>
          <p:txBody>
            <a:bodyPr/>
            <a:lstStyle/>
            <a:p>
              <a:endParaRPr lang="en-IN"/>
            </a:p>
          </p:txBody>
        </p:sp>
        <p:sp>
          <p:nvSpPr>
            <p:cNvPr id="4" name="TextBox 4"/>
            <p:cNvSpPr txBox="1"/>
            <p:nvPr/>
          </p:nvSpPr>
          <p:spPr>
            <a:xfrm>
              <a:off x="0" y="-38100"/>
              <a:ext cx="270933" cy="504652"/>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0" y="8088569"/>
            <a:ext cx="1028700" cy="1169731"/>
            <a:chOff x="0" y="0"/>
            <a:chExt cx="270933" cy="308077"/>
          </a:xfrm>
        </p:grpSpPr>
        <p:sp>
          <p:nvSpPr>
            <p:cNvPr id="6" name="Freeform 6"/>
            <p:cNvSpPr/>
            <p:nvPr/>
          </p:nvSpPr>
          <p:spPr>
            <a:xfrm>
              <a:off x="0" y="0"/>
              <a:ext cx="270933" cy="308077"/>
            </a:xfrm>
            <a:custGeom>
              <a:avLst/>
              <a:gdLst/>
              <a:ahLst/>
              <a:cxnLst/>
              <a:rect l="l" t="t" r="r" b="b"/>
              <a:pathLst>
                <a:path w="270933" h="308077">
                  <a:moveTo>
                    <a:pt x="0" y="0"/>
                  </a:moveTo>
                  <a:lnTo>
                    <a:pt x="270933" y="0"/>
                  </a:lnTo>
                  <a:lnTo>
                    <a:pt x="270933" y="308077"/>
                  </a:lnTo>
                  <a:lnTo>
                    <a:pt x="0" y="308077"/>
                  </a:lnTo>
                  <a:close/>
                </a:path>
              </a:pathLst>
            </a:custGeom>
            <a:solidFill>
              <a:srgbClr val="37C9EF"/>
            </a:solidFill>
          </p:spPr>
          <p:txBody>
            <a:bodyPr/>
            <a:lstStyle/>
            <a:p>
              <a:endParaRPr lang="en-IN"/>
            </a:p>
          </p:txBody>
        </p:sp>
        <p:sp>
          <p:nvSpPr>
            <p:cNvPr id="7" name="TextBox 7"/>
            <p:cNvSpPr txBox="1"/>
            <p:nvPr/>
          </p:nvSpPr>
          <p:spPr>
            <a:xfrm>
              <a:off x="0" y="-38100"/>
              <a:ext cx="270933" cy="346177"/>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16780649" y="8885345"/>
            <a:ext cx="919202" cy="745910"/>
          </a:xfrm>
          <a:custGeom>
            <a:avLst/>
            <a:gdLst/>
            <a:ahLst/>
            <a:cxnLst/>
            <a:rect l="l" t="t" r="r" b="b"/>
            <a:pathLst>
              <a:path w="919202" h="745910">
                <a:moveTo>
                  <a:pt x="0" y="0"/>
                </a:moveTo>
                <a:lnTo>
                  <a:pt x="919202" y="0"/>
                </a:lnTo>
                <a:lnTo>
                  <a:pt x="919202" y="745910"/>
                </a:lnTo>
                <a:lnTo>
                  <a:pt x="0" y="745910"/>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txBody>
          <a:bodyPr/>
          <a:lstStyle/>
          <a:p>
            <a:endParaRPr lang="en-IN"/>
          </a:p>
        </p:txBody>
      </p:sp>
      <p:grpSp>
        <p:nvGrpSpPr>
          <p:cNvPr id="9" name="Group 9"/>
          <p:cNvGrpSpPr/>
          <p:nvPr/>
        </p:nvGrpSpPr>
        <p:grpSpPr>
          <a:xfrm>
            <a:off x="0" y="9258300"/>
            <a:ext cx="1028700" cy="1028700"/>
            <a:chOff x="0" y="0"/>
            <a:chExt cx="270933" cy="270933"/>
          </a:xfrm>
        </p:grpSpPr>
        <p:sp>
          <p:nvSpPr>
            <p:cNvPr id="10" name="Freeform 10"/>
            <p:cNvSpPr/>
            <p:nvPr/>
          </p:nvSpPr>
          <p:spPr>
            <a:xfrm>
              <a:off x="0" y="0"/>
              <a:ext cx="270933" cy="270933"/>
            </a:xfrm>
            <a:custGeom>
              <a:avLst/>
              <a:gdLst/>
              <a:ahLst/>
              <a:cxnLst/>
              <a:rect l="l" t="t" r="r" b="b"/>
              <a:pathLst>
                <a:path w="270933" h="270933">
                  <a:moveTo>
                    <a:pt x="0" y="0"/>
                  </a:moveTo>
                  <a:lnTo>
                    <a:pt x="270933" y="0"/>
                  </a:lnTo>
                  <a:lnTo>
                    <a:pt x="270933" y="270933"/>
                  </a:lnTo>
                  <a:lnTo>
                    <a:pt x="0" y="270933"/>
                  </a:lnTo>
                  <a:close/>
                </a:path>
              </a:pathLst>
            </a:custGeom>
            <a:solidFill>
              <a:srgbClr val="2C92D5"/>
            </a:solidFill>
            <a:ln cap="sq">
              <a:noFill/>
              <a:prstDash val="solid"/>
              <a:miter/>
            </a:ln>
          </p:spPr>
          <p:txBody>
            <a:bodyPr/>
            <a:lstStyle/>
            <a:p>
              <a:endParaRPr lang="en-IN"/>
            </a:p>
          </p:txBody>
        </p:sp>
        <p:sp>
          <p:nvSpPr>
            <p:cNvPr id="11" name="TextBox 11"/>
            <p:cNvSpPr txBox="1"/>
            <p:nvPr/>
          </p:nvSpPr>
          <p:spPr>
            <a:xfrm>
              <a:off x="0" y="-38100"/>
              <a:ext cx="270933" cy="309033"/>
            </a:xfrm>
            <a:prstGeom prst="rect">
              <a:avLst/>
            </a:prstGeom>
          </p:spPr>
          <p:txBody>
            <a:bodyPr lIns="50800" tIns="50800" rIns="50800" bIns="50800" rtlCol="0" anchor="ctr"/>
            <a:lstStyle/>
            <a:p>
              <a:pPr algn="ctr">
                <a:lnSpc>
                  <a:spcPts val="2659"/>
                </a:lnSpc>
              </a:pPr>
              <a:endParaRPr/>
            </a:p>
          </p:txBody>
        </p:sp>
      </p:grpSp>
      <p:sp>
        <p:nvSpPr>
          <p:cNvPr id="12" name="AutoShape 12"/>
          <p:cNvSpPr/>
          <p:nvPr/>
        </p:nvSpPr>
        <p:spPr>
          <a:xfrm>
            <a:off x="1723107" y="9277350"/>
            <a:ext cx="14479624" cy="0"/>
          </a:xfrm>
          <a:prstGeom prst="line">
            <a:avLst/>
          </a:prstGeom>
          <a:ln w="38100" cap="flat">
            <a:solidFill>
              <a:srgbClr val="2C92D5"/>
            </a:solidFill>
            <a:prstDash val="solid"/>
            <a:headEnd type="none" w="sm" len="sm"/>
            <a:tailEnd type="none" w="sm" len="sm"/>
          </a:ln>
        </p:spPr>
        <p:txBody>
          <a:bodyPr/>
          <a:lstStyle/>
          <a:p>
            <a:endParaRPr lang="en-IN"/>
          </a:p>
        </p:txBody>
      </p:sp>
      <p:sp>
        <p:nvSpPr>
          <p:cNvPr id="13" name="AutoShape 13"/>
          <p:cNvSpPr/>
          <p:nvPr/>
        </p:nvSpPr>
        <p:spPr>
          <a:xfrm flipH="1">
            <a:off x="17240250" y="3024088"/>
            <a:ext cx="0" cy="5293724"/>
          </a:xfrm>
          <a:prstGeom prst="line">
            <a:avLst/>
          </a:prstGeom>
          <a:ln w="38100" cap="flat">
            <a:solidFill>
              <a:srgbClr val="2C92D5"/>
            </a:solidFill>
            <a:prstDash val="solid"/>
            <a:headEnd type="none" w="sm" len="sm"/>
            <a:tailEnd type="none" w="sm" len="sm"/>
          </a:ln>
        </p:spPr>
        <p:txBody>
          <a:bodyPr/>
          <a:lstStyle/>
          <a:p>
            <a:endParaRPr lang="en-IN"/>
          </a:p>
        </p:txBody>
      </p:sp>
      <p:sp>
        <p:nvSpPr>
          <p:cNvPr id="14" name="AutoShape 14"/>
          <p:cNvSpPr/>
          <p:nvPr/>
        </p:nvSpPr>
        <p:spPr>
          <a:xfrm>
            <a:off x="1723107" y="2460438"/>
            <a:ext cx="903745" cy="0"/>
          </a:xfrm>
          <a:prstGeom prst="line">
            <a:avLst/>
          </a:prstGeom>
          <a:ln w="238125" cap="flat">
            <a:solidFill>
              <a:srgbClr val="2C92D5"/>
            </a:solidFill>
            <a:prstDash val="solid"/>
            <a:headEnd type="none" w="sm" len="sm"/>
            <a:tailEnd type="none" w="sm" len="sm"/>
          </a:ln>
        </p:spPr>
        <p:txBody>
          <a:bodyPr/>
          <a:lstStyle/>
          <a:p>
            <a:endParaRPr lang="en-IN"/>
          </a:p>
        </p:txBody>
      </p:sp>
      <p:sp>
        <p:nvSpPr>
          <p:cNvPr id="15" name="Freeform 15"/>
          <p:cNvSpPr/>
          <p:nvPr/>
        </p:nvSpPr>
        <p:spPr>
          <a:xfrm>
            <a:off x="1028700" y="3151000"/>
            <a:ext cx="5993476" cy="1605395"/>
          </a:xfrm>
          <a:custGeom>
            <a:avLst/>
            <a:gdLst/>
            <a:ahLst/>
            <a:cxnLst/>
            <a:rect l="l" t="t" r="r" b="b"/>
            <a:pathLst>
              <a:path w="5993476" h="1605395">
                <a:moveTo>
                  <a:pt x="0" y="0"/>
                </a:moveTo>
                <a:lnTo>
                  <a:pt x="5993476" y="0"/>
                </a:lnTo>
                <a:lnTo>
                  <a:pt x="5993476" y="1605396"/>
                </a:lnTo>
                <a:lnTo>
                  <a:pt x="0" y="1605396"/>
                </a:lnTo>
                <a:lnTo>
                  <a:pt x="0" y="0"/>
                </a:lnTo>
                <a:close/>
              </a:path>
            </a:pathLst>
          </a:custGeom>
          <a:blipFill>
            <a:blip r:embed="rId4"/>
            <a:stretch>
              <a:fillRect/>
            </a:stretch>
          </a:blipFill>
        </p:spPr>
        <p:txBody>
          <a:bodyPr/>
          <a:lstStyle/>
          <a:p>
            <a:endParaRPr lang="en-IN"/>
          </a:p>
        </p:txBody>
      </p:sp>
      <p:sp>
        <p:nvSpPr>
          <p:cNvPr id="16" name="Freeform 16"/>
          <p:cNvSpPr/>
          <p:nvPr/>
        </p:nvSpPr>
        <p:spPr>
          <a:xfrm>
            <a:off x="7553615" y="3072055"/>
            <a:ext cx="4723546" cy="1763286"/>
          </a:xfrm>
          <a:custGeom>
            <a:avLst/>
            <a:gdLst/>
            <a:ahLst/>
            <a:cxnLst/>
            <a:rect l="l" t="t" r="r" b="b"/>
            <a:pathLst>
              <a:path w="4723546" h="1763286">
                <a:moveTo>
                  <a:pt x="0" y="0"/>
                </a:moveTo>
                <a:lnTo>
                  <a:pt x="4723547" y="0"/>
                </a:lnTo>
                <a:lnTo>
                  <a:pt x="4723547" y="1763286"/>
                </a:lnTo>
                <a:lnTo>
                  <a:pt x="0" y="1763286"/>
                </a:lnTo>
                <a:lnTo>
                  <a:pt x="0" y="0"/>
                </a:lnTo>
                <a:close/>
              </a:path>
            </a:pathLst>
          </a:custGeom>
          <a:blipFill>
            <a:blip r:embed="rId5"/>
            <a:stretch>
              <a:fillRect/>
            </a:stretch>
          </a:blipFill>
        </p:spPr>
        <p:txBody>
          <a:bodyPr/>
          <a:lstStyle/>
          <a:p>
            <a:endParaRPr lang="en-IN"/>
          </a:p>
        </p:txBody>
      </p:sp>
      <p:sp>
        <p:nvSpPr>
          <p:cNvPr id="17" name="Freeform 17"/>
          <p:cNvSpPr/>
          <p:nvPr/>
        </p:nvSpPr>
        <p:spPr>
          <a:xfrm>
            <a:off x="1028700" y="5327896"/>
            <a:ext cx="4229100" cy="2171700"/>
          </a:xfrm>
          <a:custGeom>
            <a:avLst/>
            <a:gdLst/>
            <a:ahLst/>
            <a:cxnLst/>
            <a:rect l="l" t="t" r="r" b="b"/>
            <a:pathLst>
              <a:path w="4229100" h="2171700">
                <a:moveTo>
                  <a:pt x="0" y="0"/>
                </a:moveTo>
                <a:lnTo>
                  <a:pt x="4229100" y="0"/>
                </a:lnTo>
                <a:lnTo>
                  <a:pt x="4229100" y="2171700"/>
                </a:lnTo>
                <a:lnTo>
                  <a:pt x="0" y="2171700"/>
                </a:lnTo>
                <a:lnTo>
                  <a:pt x="0" y="0"/>
                </a:lnTo>
                <a:close/>
              </a:path>
            </a:pathLst>
          </a:custGeom>
          <a:blipFill>
            <a:blip r:embed="rId6"/>
            <a:stretch>
              <a:fillRect l="-15479" t="-18060" r="-4607" b="-22251"/>
            </a:stretch>
          </a:blipFill>
        </p:spPr>
        <p:txBody>
          <a:bodyPr/>
          <a:lstStyle/>
          <a:p>
            <a:endParaRPr lang="en-IN"/>
          </a:p>
        </p:txBody>
      </p:sp>
      <p:sp>
        <p:nvSpPr>
          <p:cNvPr id="18" name="Freeform 18"/>
          <p:cNvSpPr/>
          <p:nvPr/>
        </p:nvSpPr>
        <p:spPr>
          <a:xfrm>
            <a:off x="12808600" y="2770591"/>
            <a:ext cx="2418618" cy="2418618"/>
          </a:xfrm>
          <a:custGeom>
            <a:avLst/>
            <a:gdLst/>
            <a:ahLst/>
            <a:cxnLst/>
            <a:rect l="l" t="t" r="r" b="b"/>
            <a:pathLst>
              <a:path w="2418618" h="2418618">
                <a:moveTo>
                  <a:pt x="0" y="0"/>
                </a:moveTo>
                <a:lnTo>
                  <a:pt x="2418619" y="0"/>
                </a:lnTo>
                <a:lnTo>
                  <a:pt x="2418619" y="2418618"/>
                </a:lnTo>
                <a:lnTo>
                  <a:pt x="0" y="2418618"/>
                </a:lnTo>
                <a:lnTo>
                  <a:pt x="0" y="0"/>
                </a:lnTo>
                <a:close/>
              </a:path>
            </a:pathLst>
          </a:custGeom>
          <a:blipFill>
            <a:blip r:embed="rId7"/>
            <a:stretch>
              <a:fillRect/>
            </a:stretch>
          </a:blipFill>
        </p:spPr>
        <p:txBody>
          <a:bodyPr/>
          <a:lstStyle/>
          <a:p>
            <a:endParaRPr lang="en-IN"/>
          </a:p>
        </p:txBody>
      </p:sp>
      <p:sp>
        <p:nvSpPr>
          <p:cNvPr id="19" name="TextBox 19"/>
          <p:cNvSpPr txBox="1"/>
          <p:nvPr/>
        </p:nvSpPr>
        <p:spPr>
          <a:xfrm>
            <a:off x="1723107" y="957592"/>
            <a:ext cx="7701702" cy="977158"/>
          </a:xfrm>
          <a:prstGeom prst="rect">
            <a:avLst/>
          </a:prstGeom>
        </p:spPr>
        <p:txBody>
          <a:bodyPr lIns="0" tIns="0" rIns="0" bIns="0" rtlCol="0" anchor="t">
            <a:spAutoFit/>
          </a:bodyPr>
          <a:lstStyle/>
          <a:p>
            <a:pPr algn="l">
              <a:lnSpc>
                <a:spcPts val="8090"/>
              </a:lnSpc>
              <a:spcBef>
                <a:spcPct val="0"/>
              </a:spcBef>
            </a:pPr>
            <a:r>
              <a:rPr lang="en-US" sz="5779" b="1" spc="57" dirty="0">
                <a:solidFill>
                  <a:srgbClr val="191919"/>
                </a:solidFill>
                <a:latin typeface="Aileron Heavy Bold"/>
                <a:ea typeface="Aileron Heavy Bold"/>
                <a:cs typeface="Aileron Heavy Bold"/>
                <a:sym typeface="Aileron Heavy Bold"/>
              </a:rPr>
              <a:t>NOS PARTENAIRES</a:t>
            </a:r>
          </a:p>
        </p:txBody>
      </p:sp>
      <p:sp>
        <p:nvSpPr>
          <p:cNvPr id="20" name="Freeform 20"/>
          <p:cNvSpPr/>
          <p:nvPr/>
        </p:nvSpPr>
        <p:spPr>
          <a:xfrm>
            <a:off x="16522619" y="292870"/>
            <a:ext cx="1177232" cy="1185701"/>
          </a:xfrm>
          <a:custGeom>
            <a:avLst/>
            <a:gdLst/>
            <a:ahLst/>
            <a:cxnLst/>
            <a:rect l="l" t="t" r="r" b="b"/>
            <a:pathLst>
              <a:path w="1177232" h="1185701">
                <a:moveTo>
                  <a:pt x="0" y="0"/>
                </a:moveTo>
                <a:lnTo>
                  <a:pt x="1177232" y="0"/>
                </a:lnTo>
                <a:lnTo>
                  <a:pt x="1177232" y="1185701"/>
                </a:lnTo>
                <a:lnTo>
                  <a:pt x="0" y="1185701"/>
                </a:lnTo>
                <a:lnTo>
                  <a:pt x="0" y="0"/>
                </a:lnTo>
                <a:close/>
              </a:path>
            </a:pathLst>
          </a:custGeom>
          <a:blipFill>
            <a:blip r:embed="rId8"/>
            <a:stretch>
              <a:fillRect/>
            </a:stretch>
          </a:blipFill>
        </p:spPr>
        <p:txBody>
          <a:bodyPr/>
          <a:lstStyle/>
          <a:p>
            <a:endParaRPr lang="en-IN"/>
          </a:p>
        </p:txBody>
      </p:sp>
      <p:pic>
        <p:nvPicPr>
          <p:cNvPr id="21" name="Picture 20">
            <a:extLst>
              <a:ext uri="{FF2B5EF4-FFF2-40B4-BE49-F238E27FC236}">
                <a16:creationId xmlns:a16="http://schemas.microsoft.com/office/drawing/2014/main" id="{FE129A77-9F62-83AE-B3D8-0B63E8D47573}"/>
              </a:ext>
            </a:extLst>
          </p:cNvPr>
          <p:cNvPicPr>
            <a:picLocks noChangeAspect="1"/>
          </p:cNvPicPr>
          <p:nvPr/>
        </p:nvPicPr>
        <p:blipFill>
          <a:blip r:embed="rId9"/>
          <a:stretch>
            <a:fillRect/>
          </a:stretch>
        </p:blipFill>
        <p:spPr>
          <a:xfrm>
            <a:off x="5542673" y="5311349"/>
            <a:ext cx="2991727" cy="2114406"/>
          </a:xfrm>
          <a:prstGeom prst="rect">
            <a:avLst/>
          </a:prstGeom>
        </p:spPr>
      </p:pic>
      <p:pic>
        <p:nvPicPr>
          <p:cNvPr id="22" name="Picture 2" descr="Ecobank| Du mouvement au Nigéria">
            <a:extLst>
              <a:ext uri="{FF2B5EF4-FFF2-40B4-BE49-F238E27FC236}">
                <a16:creationId xmlns:a16="http://schemas.microsoft.com/office/drawing/2014/main" id="{22AE4143-0B9B-08FA-4FB9-4C158788D9F1}"/>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0141600" y="5311349"/>
            <a:ext cx="2667000" cy="18440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4775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9259" b="-9259"/>
            </a:stretch>
          </a:blipFill>
        </p:spPr>
        <p:txBody>
          <a:bodyPr/>
          <a:lstStyle/>
          <a:p>
            <a:endParaRPr lang="en-IN"/>
          </a:p>
        </p:txBody>
      </p:sp>
      <p:grpSp>
        <p:nvGrpSpPr>
          <p:cNvPr id="3" name="Group 3"/>
          <p:cNvGrpSpPr/>
          <p:nvPr/>
        </p:nvGrpSpPr>
        <p:grpSpPr>
          <a:xfrm>
            <a:off x="-698500" y="3563072"/>
            <a:ext cx="5245100" cy="1332778"/>
            <a:chOff x="0" y="0"/>
            <a:chExt cx="1381426" cy="351020"/>
          </a:xfrm>
        </p:grpSpPr>
        <p:sp>
          <p:nvSpPr>
            <p:cNvPr id="4" name="Freeform 4"/>
            <p:cNvSpPr/>
            <p:nvPr/>
          </p:nvSpPr>
          <p:spPr>
            <a:xfrm>
              <a:off x="0" y="0"/>
              <a:ext cx="1381426" cy="351020"/>
            </a:xfrm>
            <a:custGeom>
              <a:avLst/>
              <a:gdLst/>
              <a:ahLst/>
              <a:cxnLst/>
              <a:rect l="l" t="t" r="r" b="b"/>
              <a:pathLst>
                <a:path w="1381426" h="351020">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2C92D5"/>
            </a:solidFill>
            <a:ln cap="rnd">
              <a:noFill/>
              <a:prstDash val="solid"/>
              <a:round/>
            </a:ln>
          </p:spPr>
          <p:txBody>
            <a:bodyPr/>
            <a:lstStyle/>
            <a:p>
              <a:endParaRPr lang="en-IN"/>
            </a:p>
          </p:txBody>
        </p:sp>
        <p:sp>
          <p:nvSpPr>
            <p:cNvPr id="5" name="TextBox 5"/>
            <p:cNvSpPr txBox="1"/>
            <p:nvPr/>
          </p:nvSpPr>
          <p:spPr>
            <a:xfrm>
              <a:off x="0" y="-47625"/>
              <a:ext cx="1381426" cy="398645"/>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6" name="Group 6"/>
          <p:cNvGrpSpPr/>
          <p:nvPr/>
        </p:nvGrpSpPr>
        <p:grpSpPr>
          <a:xfrm>
            <a:off x="13745228" y="3563072"/>
            <a:ext cx="5118100" cy="1332778"/>
            <a:chOff x="0" y="0"/>
            <a:chExt cx="1347977" cy="351020"/>
          </a:xfrm>
        </p:grpSpPr>
        <p:sp>
          <p:nvSpPr>
            <p:cNvPr id="7" name="Freeform 7"/>
            <p:cNvSpPr/>
            <p:nvPr/>
          </p:nvSpPr>
          <p:spPr>
            <a:xfrm>
              <a:off x="0" y="0"/>
              <a:ext cx="1347977" cy="351020"/>
            </a:xfrm>
            <a:custGeom>
              <a:avLst/>
              <a:gdLst/>
              <a:ahLst/>
              <a:cxnLst/>
              <a:rect l="l" t="t" r="r" b="b"/>
              <a:pathLst>
                <a:path w="1347977" h="351020">
                  <a:moveTo>
                    <a:pt x="77145" y="0"/>
                  </a:moveTo>
                  <a:lnTo>
                    <a:pt x="1270832" y="0"/>
                  </a:lnTo>
                  <a:cubicBezTo>
                    <a:pt x="1291292" y="0"/>
                    <a:pt x="1310914" y="8128"/>
                    <a:pt x="1325382" y="22595"/>
                  </a:cubicBezTo>
                  <a:cubicBezTo>
                    <a:pt x="1339849" y="37063"/>
                    <a:pt x="1347977" y="56685"/>
                    <a:pt x="1347977" y="77145"/>
                  </a:cubicBezTo>
                  <a:lnTo>
                    <a:pt x="1347977" y="273874"/>
                  </a:lnTo>
                  <a:cubicBezTo>
                    <a:pt x="1347977" y="316480"/>
                    <a:pt x="1313438" y="351020"/>
                    <a:pt x="1270832" y="351020"/>
                  </a:cubicBezTo>
                  <a:lnTo>
                    <a:pt x="77145" y="351020"/>
                  </a:lnTo>
                  <a:cubicBezTo>
                    <a:pt x="34539" y="351020"/>
                    <a:pt x="0" y="316480"/>
                    <a:pt x="0" y="273874"/>
                  </a:cubicBezTo>
                  <a:lnTo>
                    <a:pt x="0" y="77145"/>
                  </a:lnTo>
                  <a:cubicBezTo>
                    <a:pt x="0" y="34539"/>
                    <a:pt x="34539" y="0"/>
                    <a:pt x="77145" y="0"/>
                  </a:cubicBezTo>
                  <a:close/>
                </a:path>
              </a:pathLst>
            </a:custGeom>
            <a:solidFill>
              <a:srgbClr val="2C92D5"/>
            </a:solidFill>
          </p:spPr>
          <p:txBody>
            <a:bodyPr/>
            <a:lstStyle/>
            <a:p>
              <a:endParaRPr lang="en-IN"/>
            </a:p>
          </p:txBody>
        </p:sp>
        <p:sp>
          <p:nvSpPr>
            <p:cNvPr id="8" name="TextBox 8"/>
            <p:cNvSpPr txBox="1"/>
            <p:nvPr/>
          </p:nvSpPr>
          <p:spPr>
            <a:xfrm>
              <a:off x="0" y="-47625"/>
              <a:ext cx="1347977" cy="398645"/>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5004494" y="3648699"/>
            <a:ext cx="8421405" cy="1265381"/>
          </a:xfrm>
          <a:prstGeom prst="rect">
            <a:avLst/>
          </a:prstGeom>
        </p:spPr>
        <p:txBody>
          <a:bodyPr lIns="0" tIns="0" rIns="0" bIns="0" rtlCol="0" anchor="t">
            <a:spAutoFit/>
          </a:bodyPr>
          <a:lstStyle/>
          <a:p>
            <a:pPr algn="ctr">
              <a:lnSpc>
                <a:spcPts val="10334"/>
              </a:lnSpc>
            </a:pPr>
            <a:r>
              <a:rPr lang="en-US" sz="7382" b="1" dirty="0">
                <a:solidFill>
                  <a:srgbClr val="004AAD"/>
                </a:solidFill>
                <a:latin typeface="League Spartan"/>
                <a:ea typeface="League Spartan"/>
                <a:cs typeface="League Spartan"/>
                <a:sym typeface="League Spartan"/>
              </a:rPr>
              <a:t>MERCI</a:t>
            </a:r>
          </a:p>
        </p:txBody>
      </p:sp>
      <p:grpSp>
        <p:nvGrpSpPr>
          <p:cNvPr id="10" name="Group 10"/>
          <p:cNvGrpSpPr/>
          <p:nvPr/>
        </p:nvGrpSpPr>
        <p:grpSpPr>
          <a:xfrm>
            <a:off x="7031690" y="5275044"/>
            <a:ext cx="4363385" cy="761278"/>
            <a:chOff x="0" y="0"/>
            <a:chExt cx="1149204" cy="200501"/>
          </a:xfrm>
        </p:grpSpPr>
        <p:sp>
          <p:nvSpPr>
            <p:cNvPr id="11" name="Freeform 11"/>
            <p:cNvSpPr/>
            <p:nvPr/>
          </p:nvSpPr>
          <p:spPr>
            <a:xfrm>
              <a:off x="0" y="0"/>
              <a:ext cx="1149204" cy="200501"/>
            </a:xfrm>
            <a:custGeom>
              <a:avLst/>
              <a:gdLst/>
              <a:ahLst/>
              <a:cxnLst/>
              <a:rect l="l" t="t" r="r" b="b"/>
              <a:pathLst>
                <a:path w="1149204" h="200501">
                  <a:moveTo>
                    <a:pt x="90489" y="0"/>
                  </a:moveTo>
                  <a:lnTo>
                    <a:pt x="1058716" y="0"/>
                  </a:lnTo>
                  <a:cubicBezTo>
                    <a:pt x="1108691" y="0"/>
                    <a:pt x="1149204" y="40513"/>
                    <a:pt x="1149204" y="90489"/>
                  </a:cubicBezTo>
                  <a:lnTo>
                    <a:pt x="1149204" y="110012"/>
                  </a:lnTo>
                  <a:cubicBezTo>
                    <a:pt x="1149204" y="159988"/>
                    <a:pt x="1108691" y="200501"/>
                    <a:pt x="1058716" y="200501"/>
                  </a:cubicBezTo>
                  <a:lnTo>
                    <a:pt x="90489" y="200501"/>
                  </a:lnTo>
                  <a:cubicBezTo>
                    <a:pt x="40513" y="200501"/>
                    <a:pt x="0" y="159988"/>
                    <a:pt x="0" y="110012"/>
                  </a:cubicBezTo>
                  <a:lnTo>
                    <a:pt x="0" y="90489"/>
                  </a:lnTo>
                  <a:cubicBezTo>
                    <a:pt x="0" y="40513"/>
                    <a:pt x="40513" y="0"/>
                    <a:pt x="90489" y="0"/>
                  </a:cubicBezTo>
                  <a:close/>
                </a:path>
              </a:pathLst>
            </a:custGeom>
            <a:solidFill>
              <a:srgbClr val="2C92D5"/>
            </a:solidFill>
            <a:ln cap="rnd">
              <a:noFill/>
              <a:prstDash val="solid"/>
              <a:round/>
            </a:ln>
          </p:spPr>
          <p:txBody>
            <a:bodyPr/>
            <a:lstStyle/>
            <a:p>
              <a:endParaRPr lang="en-IN"/>
            </a:p>
          </p:txBody>
        </p:sp>
        <p:sp>
          <p:nvSpPr>
            <p:cNvPr id="12" name="TextBox 12"/>
            <p:cNvSpPr txBox="1"/>
            <p:nvPr/>
          </p:nvSpPr>
          <p:spPr>
            <a:xfrm>
              <a:off x="0" y="-47625"/>
              <a:ext cx="1149204" cy="248126"/>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13" name="TextBox 13"/>
          <p:cNvSpPr txBox="1"/>
          <p:nvPr/>
        </p:nvSpPr>
        <p:spPr>
          <a:xfrm>
            <a:off x="5883146" y="5395566"/>
            <a:ext cx="6626002" cy="535981"/>
          </a:xfrm>
          <a:prstGeom prst="rect">
            <a:avLst/>
          </a:prstGeom>
        </p:spPr>
        <p:txBody>
          <a:bodyPr lIns="0" tIns="0" rIns="0" bIns="0" rtlCol="0" anchor="t">
            <a:spAutoFit/>
          </a:bodyPr>
          <a:lstStyle/>
          <a:p>
            <a:pPr algn="ctr">
              <a:lnSpc>
                <a:spcPts val="4408"/>
              </a:lnSpc>
            </a:pPr>
            <a:r>
              <a:rPr lang="en-US" sz="3148" dirty="0">
                <a:solidFill>
                  <a:srgbClr val="FFFFFF"/>
                </a:solidFill>
                <a:latin typeface="League Spartan"/>
                <a:ea typeface="League Spartan"/>
                <a:cs typeface="League Spartan"/>
                <a:sym typeface="League Spartan"/>
              </a:rPr>
              <a:t>NOUS CONTACTER</a:t>
            </a:r>
          </a:p>
        </p:txBody>
      </p:sp>
      <p:sp>
        <p:nvSpPr>
          <p:cNvPr id="14" name="Freeform 14"/>
          <p:cNvSpPr/>
          <p:nvPr/>
        </p:nvSpPr>
        <p:spPr>
          <a:xfrm>
            <a:off x="8022821" y="1028700"/>
            <a:ext cx="2384753" cy="2401909"/>
          </a:xfrm>
          <a:custGeom>
            <a:avLst/>
            <a:gdLst/>
            <a:ahLst/>
            <a:cxnLst/>
            <a:rect l="l" t="t" r="r" b="b"/>
            <a:pathLst>
              <a:path w="2384753" h="2401909">
                <a:moveTo>
                  <a:pt x="0" y="0"/>
                </a:moveTo>
                <a:lnTo>
                  <a:pt x="2384752" y="0"/>
                </a:lnTo>
                <a:lnTo>
                  <a:pt x="2384752" y="2401909"/>
                </a:lnTo>
                <a:lnTo>
                  <a:pt x="0" y="2401909"/>
                </a:lnTo>
                <a:lnTo>
                  <a:pt x="0" y="0"/>
                </a:lnTo>
                <a:close/>
              </a:path>
            </a:pathLst>
          </a:custGeom>
          <a:blipFill>
            <a:blip r:embed="rId4"/>
            <a:stretch>
              <a:fillRect/>
            </a:stretch>
          </a:blipFill>
        </p:spPr>
        <p:txBody>
          <a:bodyPr/>
          <a:lstStyle/>
          <a:p>
            <a:endParaRPr lang="en-IN"/>
          </a:p>
        </p:txBody>
      </p:sp>
      <p:sp>
        <p:nvSpPr>
          <p:cNvPr id="15" name="Freeform 15"/>
          <p:cNvSpPr/>
          <p:nvPr/>
        </p:nvSpPr>
        <p:spPr>
          <a:xfrm>
            <a:off x="1294438" y="6417322"/>
            <a:ext cx="344067" cy="491525"/>
          </a:xfrm>
          <a:custGeom>
            <a:avLst/>
            <a:gdLst/>
            <a:ahLst/>
            <a:cxnLst/>
            <a:rect l="l" t="t" r="r" b="b"/>
            <a:pathLst>
              <a:path w="344067" h="491525">
                <a:moveTo>
                  <a:pt x="0" y="0"/>
                </a:moveTo>
                <a:lnTo>
                  <a:pt x="344068" y="0"/>
                </a:lnTo>
                <a:lnTo>
                  <a:pt x="344068" y="491525"/>
                </a:lnTo>
                <a:lnTo>
                  <a:pt x="0" y="491525"/>
                </a:lnTo>
                <a:lnTo>
                  <a:pt x="0" y="0"/>
                </a:lnTo>
                <a:close/>
              </a:path>
            </a:pathLst>
          </a:custGeom>
          <a:blipFill>
            <a:blip r:embed="rId5">
              <a:extLst>
                <a:ext uri="{96DAC541-7B7A-43D3-8B79-37D633B846F1}">
                  <asvg:svgBlip xmlns:asvg="http://schemas.microsoft.com/office/drawing/2016/SVG/main" xmlns="" r:embed="rId6"/>
                </a:ext>
              </a:extLst>
            </a:blip>
            <a:stretch>
              <a:fillRect/>
            </a:stretch>
          </a:blipFill>
        </p:spPr>
        <p:txBody>
          <a:bodyPr/>
          <a:lstStyle/>
          <a:p>
            <a:endParaRPr lang="en-IN"/>
          </a:p>
        </p:txBody>
      </p:sp>
      <p:sp>
        <p:nvSpPr>
          <p:cNvPr id="16" name="Freeform 16"/>
          <p:cNvSpPr/>
          <p:nvPr/>
        </p:nvSpPr>
        <p:spPr>
          <a:xfrm>
            <a:off x="1294438" y="7321899"/>
            <a:ext cx="378860" cy="519876"/>
          </a:xfrm>
          <a:custGeom>
            <a:avLst/>
            <a:gdLst/>
            <a:ahLst/>
            <a:cxnLst/>
            <a:rect l="l" t="t" r="r" b="b"/>
            <a:pathLst>
              <a:path w="378860" h="519876">
                <a:moveTo>
                  <a:pt x="0" y="0"/>
                </a:moveTo>
                <a:lnTo>
                  <a:pt x="378860" y="0"/>
                </a:lnTo>
                <a:lnTo>
                  <a:pt x="378860" y="519876"/>
                </a:lnTo>
                <a:lnTo>
                  <a:pt x="0" y="519876"/>
                </a:lnTo>
                <a:lnTo>
                  <a:pt x="0" y="0"/>
                </a:lnTo>
                <a:close/>
              </a:path>
            </a:pathLst>
          </a:custGeom>
          <a:blipFill>
            <a:blip r:embed="rId7">
              <a:extLst>
                <a:ext uri="{96DAC541-7B7A-43D3-8B79-37D633B846F1}">
                  <asvg:svgBlip xmlns:asvg="http://schemas.microsoft.com/office/drawing/2016/SVG/main" xmlns="" r:embed="rId8"/>
                </a:ext>
              </a:extLst>
            </a:blip>
            <a:stretch>
              <a:fillRect/>
            </a:stretch>
          </a:blipFill>
        </p:spPr>
        <p:txBody>
          <a:bodyPr/>
          <a:lstStyle/>
          <a:p>
            <a:endParaRPr lang="en-IN"/>
          </a:p>
        </p:txBody>
      </p:sp>
      <p:sp>
        <p:nvSpPr>
          <p:cNvPr id="17" name="Freeform 17"/>
          <p:cNvSpPr/>
          <p:nvPr/>
        </p:nvSpPr>
        <p:spPr>
          <a:xfrm>
            <a:off x="1325354" y="9202089"/>
            <a:ext cx="347944" cy="431558"/>
          </a:xfrm>
          <a:custGeom>
            <a:avLst/>
            <a:gdLst/>
            <a:ahLst/>
            <a:cxnLst/>
            <a:rect l="l" t="t" r="r" b="b"/>
            <a:pathLst>
              <a:path w="347944" h="431558">
                <a:moveTo>
                  <a:pt x="0" y="0"/>
                </a:moveTo>
                <a:lnTo>
                  <a:pt x="347944" y="0"/>
                </a:lnTo>
                <a:lnTo>
                  <a:pt x="347944" y="431558"/>
                </a:lnTo>
                <a:lnTo>
                  <a:pt x="0" y="431558"/>
                </a:lnTo>
                <a:lnTo>
                  <a:pt x="0" y="0"/>
                </a:lnTo>
                <a:close/>
              </a:path>
            </a:pathLst>
          </a:custGeom>
          <a:blipFill>
            <a:blip r:embed="rId9">
              <a:extLst>
                <a:ext uri="{96DAC541-7B7A-43D3-8B79-37D633B846F1}">
                  <asvg:svgBlip xmlns:asvg="http://schemas.microsoft.com/office/drawing/2016/SVG/main" xmlns="" r:embed="rId10"/>
                </a:ext>
              </a:extLst>
            </a:blip>
            <a:stretch>
              <a:fillRect/>
            </a:stretch>
          </a:blipFill>
        </p:spPr>
        <p:txBody>
          <a:bodyPr/>
          <a:lstStyle/>
          <a:p>
            <a:endParaRPr lang="en-IN"/>
          </a:p>
        </p:txBody>
      </p:sp>
      <p:sp>
        <p:nvSpPr>
          <p:cNvPr id="18" name="Freeform 18"/>
          <p:cNvSpPr/>
          <p:nvPr/>
        </p:nvSpPr>
        <p:spPr>
          <a:xfrm>
            <a:off x="1294438" y="8440559"/>
            <a:ext cx="447249" cy="287865"/>
          </a:xfrm>
          <a:custGeom>
            <a:avLst/>
            <a:gdLst/>
            <a:ahLst/>
            <a:cxnLst/>
            <a:rect l="l" t="t" r="r" b="b"/>
            <a:pathLst>
              <a:path w="447249" h="287865">
                <a:moveTo>
                  <a:pt x="0" y="0"/>
                </a:moveTo>
                <a:lnTo>
                  <a:pt x="447249" y="0"/>
                </a:lnTo>
                <a:lnTo>
                  <a:pt x="447249" y="287865"/>
                </a:lnTo>
                <a:lnTo>
                  <a:pt x="0" y="287865"/>
                </a:lnTo>
                <a:lnTo>
                  <a:pt x="0" y="0"/>
                </a:lnTo>
                <a:close/>
              </a:path>
            </a:pathLst>
          </a:custGeom>
          <a:blipFill>
            <a:blip r:embed="rId11">
              <a:extLst>
                <a:ext uri="{96DAC541-7B7A-43D3-8B79-37D633B846F1}">
                  <asvg:svgBlip xmlns:asvg="http://schemas.microsoft.com/office/drawing/2016/SVG/main" xmlns="" r:embed="rId12"/>
                </a:ext>
              </a:extLst>
            </a:blip>
            <a:stretch>
              <a:fillRect/>
            </a:stretch>
          </a:blipFill>
        </p:spPr>
        <p:txBody>
          <a:bodyPr/>
          <a:lstStyle/>
          <a:p>
            <a:endParaRPr lang="en-IN"/>
          </a:p>
        </p:txBody>
      </p:sp>
      <p:sp>
        <p:nvSpPr>
          <p:cNvPr id="19" name="TextBox 19"/>
          <p:cNvSpPr txBox="1"/>
          <p:nvPr/>
        </p:nvSpPr>
        <p:spPr>
          <a:xfrm>
            <a:off x="1828770" y="6188722"/>
            <a:ext cx="15468630" cy="807913"/>
          </a:xfrm>
          <a:prstGeom prst="rect">
            <a:avLst/>
          </a:prstGeom>
        </p:spPr>
        <p:txBody>
          <a:bodyPr wrap="square" lIns="0" tIns="0" rIns="0" bIns="0" rtlCol="0" anchor="t">
            <a:spAutoFit/>
          </a:bodyPr>
          <a:lstStyle/>
          <a:p>
            <a:pPr marL="0" lvl="0" indent="0" algn="just">
              <a:lnSpc>
                <a:spcPts val="6341"/>
              </a:lnSpc>
              <a:spcBef>
                <a:spcPct val="0"/>
              </a:spcBef>
            </a:pPr>
            <a:r>
              <a:rPr lang="en-US" sz="3000" b="1" spc="175" dirty="0" err="1" smtClean="0">
                <a:solidFill>
                  <a:srgbClr val="191919"/>
                </a:solidFill>
                <a:effectLst>
                  <a:outerShdw blurRad="38100" dist="38100" dir="2700000" algn="tl">
                    <a:srgbClr val="000000">
                      <a:alpha val="43137"/>
                    </a:srgbClr>
                  </a:outerShdw>
                </a:effectLst>
                <a:latin typeface="Aileron Regular Bold"/>
                <a:ea typeface="Aileron Regular Bold"/>
                <a:cs typeface="Aileron Regular Bold"/>
                <a:sym typeface="Aileron Regular Bold"/>
                <a:hlinkClick r:id="rId13" tooltip="mailto:Conde.souleymane@gips-gn.com"/>
              </a:rPr>
              <a:t>Région</a:t>
            </a:r>
            <a:r>
              <a:rPr lang="en-US" sz="3000" b="1" spc="175" dirty="0" smtClean="0">
                <a:solidFill>
                  <a:srgbClr val="191919"/>
                </a:solidFill>
                <a:effectLst>
                  <a:outerShdw blurRad="38100" dist="38100" dir="2700000" algn="tl">
                    <a:srgbClr val="000000">
                      <a:alpha val="43137"/>
                    </a:srgbClr>
                  </a:outerShdw>
                </a:effectLst>
                <a:latin typeface="Aileron Regular Bold"/>
                <a:ea typeface="Aileron Regular Bold"/>
                <a:cs typeface="Aileron Regular Bold"/>
                <a:sym typeface="Aileron Regular Bold"/>
                <a:hlinkClick r:id="rId13" tooltip="mailto:Conde.souleymane@gips-gn.com"/>
              </a:rPr>
              <a:t> </a:t>
            </a:r>
            <a:r>
              <a:rPr lang="en-US" sz="3000" b="1" spc="175" dirty="0">
                <a:solidFill>
                  <a:srgbClr val="191919"/>
                </a:solidFill>
                <a:effectLst>
                  <a:outerShdw blurRad="38100" dist="38100" dir="2700000" algn="tl">
                    <a:srgbClr val="000000">
                      <a:alpha val="43137"/>
                    </a:srgbClr>
                  </a:outerShdw>
                </a:effectLst>
                <a:latin typeface="Aileron Regular Bold"/>
                <a:ea typeface="Aileron Regular Bold"/>
                <a:cs typeface="Aileron Regular Bold"/>
                <a:sym typeface="Aileron Regular Bold"/>
                <a:hlinkClick r:id="rId13" tooltip="mailto:Conde.souleymane@gips-gn.com"/>
              </a:rPr>
              <a:t>de </a:t>
            </a:r>
            <a:r>
              <a:rPr lang="en-US" sz="3000" b="1" spc="175" dirty="0" smtClean="0">
                <a:solidFill>
                  <a:srgbClr val="191919"/>
                </a:solidFill>
                <a:effectLst>
                  <a:outerShdw blurRad="38100" dist="38100" dir="2700000" algn="tl">
                    <a:srgbClr val="000000">
                      <a:alpha val="43137"/>
                    </a:srgbClr>
                  </a:outerShdw>
                </a:effectLst>
                <a:latin typeface="Aileron Regular Bold"/>
                <a:ea typeface="Aileron Regular Bold"/>
                <a:cs typeface="Aileron Regular Bold"/>
                <a:sym typeface="Aileron Regular Bold"/>
                <a:hlinkClick r:id="rId13" tooltip="mailto:Conde.souleymane@gips-gn.com"/>
              </a:rPr>
              <a:t>Conakry/</a:t>
            </a:r>
            <a:r>
              <a:rPr lang="en-US" sz="3000" b="1" spc="175" dirty="0" err="1" smtClean="0">
                <a:solidFill>
                  <a:srgbClr val="191919"/>
                </a:solidFill>
                <a:effectLst>
                  <a:outerShdw blurRad="38100" dist="38100" dir="2700000" algn="tl">
                    <a:srgbClr val="000000">
                      <a:alpha val="43137"/>
                    </a:srgbClr>
                  </a:outerShdw>
                </a:effectLst>
                <a:latin typeface="Aileron Regular Bold"/>
                <a:ea typeface="Aileron Regular Bold"/>
                <a:cs typeface="Aileron Regular Bold"/>
                <a:sym typeface="Aileron Regular Bold"/>
                <a:hlinkClick r:id="rId13" tooltip="mailto:Conde.souleymane@gips-gn.com"/>
              </a:rPr>
              <a:t>Sonfonia</a:t>
            </a:r>
            <a:r>
              <a:rPr lang="en-US" sz="3000" b="1" spc="175" dirty="0" smtClean="0">
                <a:solidFill>
                  <a:srgbClr val="191919"/>
                </a:solidFill>
                <a:effectLst>
                  <a:outerShdw blurRad="38100" dist="38100" dir="2700000" algn="tl">
                    <a:srgbClr val="000000">
                      <a:alpha val="43137"/>
                    </a:srgbClr>
                  </a:outerShdw>
                </a:effectLst>
                <a:latin typeface="Aileron Regular Bold"/>
                <a:ea typeface="Aileron Regular Bold"/>
                <a:cs typeface="Aileron Regular Bold"/>
                <a:sym typeface="Aileron Regular Bold"/>
                <a:hlinkClick r:id="rId13" tooltip="mailto:Conde.souleymane@gips-gn.com"/>
              </a:rPr>
              <a:t> </a:t>
            </a:r>
            <a:r>
              <a:rPr lang="en-US" sz="3000" b="1" spc="175" dirty="0" err="1" smtClean="0">
                <a:solidFill>
                  <a:srgbClr val="191919"/>
                </a:solidFill>
                <a:effectLst>
                  <a:outerShdw blurRad="38100" dist="38100" dir="2700000" algn="tl">
                    <a:srgbClr val="000000">
                      <a:alpha val="43137"/>
                    </a:srgbClr>
                  </a:outerShdw>
                </a:effectLst>
                <a:latin typeface="Aileron Regular Bold"/>
                <a:ea typeface="Aileron Regular Bold"/>
                <a:cs typeface="Aileron Regular Bold"/>
                <a:sym typeface="Aileron Regular Bold"/>
                <a:hlinkClick r:id="rId13" tooltip="mailto:Conde.souleymane@gips-gn.com"/>
              </a:rPr>
              <a:t>centre</a:t>
            </a:r>
            <a:r>
              <a:rPr lang="en-US" sz="3000" b="1" spc="175" dirty="0" smtClean="0">
                <a:solidFill>
                  <a:srgbClr val="191919"/>
                </a:solidFill>
                <a:effectLst>
                  <a:outerShdw blurRad="38100" dist="38100" dir="2700000" algn="tl">
                    <a:srgbClr val="000000">
                      <a:alpha val="43137"/>
                    </a:srgbClr>
                  </a:outerShdw>
                </a:effectLst>
                <a:latin typeface="Aileron Regular Bold"/>
                <a:ea typeface="Aileron Regular Bold"/>
                <a:cs typeface="Aileron Regular Bold"/>
                <a:sym typeface="Aileron Regular Bold"/>
                <a:hlinkClick r:id="rId13" tooltip="mailto:Conde.souleymane@gips-gn.com"/>
              </a:rPr>
              <a:t> </a:t>
            </a:r>
            <a:r>
              <a:rPr lang="en-US" sz="3000" b="1" spc="175" dirty="0" err="1">
                <a:solidFill>
                  <a:srgbClr val="191919"/>
                </a:solidFill>
                <a:effectLst>
                  <a:outerShdw blurRad="38100" dist="38100" dir="2700000" algn="tl">
                    <a:srgbClr val="000000">
                      <a:alpha val="43137"/>
                    </a:srgbClr>
                  </a:outerShdw>
                </a:effectLst>
                <a:latin typeface="Aileron Regular Bold"/>
                <a:ea typeface="Aileron Regular Bold"/>
                <a:cs typeface="Aileron Regular Bold"/>
                <a:sym typeface="Aileron Regular Bold"/>
                <a:hlinkClick r:id="rId13" tooltip="mailto:Conde.souleymane@gips-gn.com"/>
              </a:rPr>
              <a:t>en</a:t>
            </a:r>
            <a:r>
              <a:rPr lang="en-US" sz="3000" b="1" spc="175" dirty="0">
                <a:solidFill>
                  <a:srgbClr val="191919"/>
                </a:solidFill>
                <a:effectLst>
                  <a:outerShdw blurRad="38100" dist="38100" dir="2700000" algn="tl">
                    <a:srgbClr val="000000">
                      <a:alpha val="43137"/>
                    </a:srgbClr>
                  </a:outerShdw>
                </a:effectLst>
                <a:latin typeface="Aileron Regular Bold"/>
                <a:ea typeface="Aileron Regular Bold"/>
                <a:cs typeface="Aileron Regular Bold"/>
                <a:sym typeface="Aileron Regular Bold"/>
                <a:hlinkClick r:id="rId13" tooltip="mailto:Conde.souleymane@gips-gn.com"/>
              </a:rPr>
              <a:t> face </a:t>
            </a:r>
            <a:r>
              <a:rPr lang="en-US" sz="3000" b="1" spc="175" dirty="0" smtClean="0">
                <a:solidFill>
                  <a:srgbClr val="191919"/>
                </a:solidFill>
                <a:effectLst>
                  <a:outerShdw blurRad="38100" dist="38100" dir="2700000" algn="tl">
                    <a:srgbClr val="000000">
                      <a:alpha val="43137"/>
                    </a:srgbClr>
                  </a:outerShdw>
                </a:effectLst>
                <a:latin typeface="Aileron Regular Bold"/>
                <a:ea typeface="Aileron Regular Bold"/>
                <a:cs typeface="Aileron Regular Bold"/>
                <a:sym typeface="Aileron Regular Bold"/>
                <a:hlinkClick r:id="rId13" tooltip="mailto:Conde.souleymane@gips-gn.com"/>
              </a:rPr>
              <a:t>du Centre de Santé de </a:t>
            </a:r>
            <a:r>
              <a:rPr lang="en-US" sz="3000" b="1" spc="175" dirty="0" err="1" smtClean="0">
                <a:solidFill>
                  <a:srgbClr val="191919"/>
                </a:solidFill>
                <a:effectLst>
                  <a:outerShdw blurRad="38100" dist="38100" dir="2700000" algn="tl">
                    <a:srgbClr val="000000">
                      <a:alpha val="43137"/>
                    </a:srgbClr>
                  </a:outerShdw>
                </a:effectLst>
                <a:latin typeface="Aileron Regular Bold"/>
                <a:ea typeface="Aileron Regular Bold"/>
                <a:cs typeface="Aileron Regular Bold"/>
                <a:sym typeface="Aileron Regular Bold"/>
                <a:hlinkClick r:id="rId13" tooltip="mailto:Conde.souleymane@gips-gn.com"/>
              </a:rPr>
              <a:t>Sonfonia</a:t>
            </a:r>
            <a:endParaRPr lang="en-US" sz="3000" b="1" spc="175" dirty="0">
              <a:solidFill>
                <a:srgbClr val="191919"/>
              </a:solidFill>
              <a:effectLst>
                <a:outerShdw blurRad="38100" dist="38100" dir="2700000" algn="tl">
                  <a:srgbClr val="000000">
                    <a:alpha val="43137"/>
                  </a:srgbClr>
                </a:outerShdw>
              </a:effectLst>
              <a:latin typeface="Aileron Regular Bold"/>
              <a:ea typeface="Aileron Regular Bold"/>
              <a:cs typeface="Aileron Regular Bold"/>
              <a:sym typeface="Aileron Regular Bold"/>
              <a:hlinkClick r:id="rId13" tooltip="mailto:Conde.souleymane@gips-gn.com"/>
            </a:endParaRPr>
          </a:p>
        </p:txBody>
      </p:sp>
      <p:sp>
        <p:nvSpPr>
          <p:cNvPr id="20" name="TextBox 20"/>
          <p:cNvSpPr txBox="1"/>
          <p:nvPr/>
        </p:nvSpPr>
        <p:spPr>
          <a:xfrm>
            <a:off x="1906562" y="7074464"/>
            <a:ext cx="10250257" cy="695447"/>
          </a:xfrm>
          <a:prstGeom prst="rect">
            <a:avLst/>
          </a:prstGeom>
        </p:spPr>
        <p:txBody>
          <a:bodyPr lIns="0" tIns="0" rIns="0" bIns="0" rtlCol="0" anchor="t">
            <a:spAutoFit/>
          </a:bodyPr>
          <a:lstStyle/>
          <a:p>
            <a:pPr marL="0" lvl="0" indent="0" algn="just">
              <a:lnSpc>
                <a:spcPts val="6341"/>
              </a:lnSpc>
              <a:spcBef>
                <a:spcPct val="0"/>
              </a:spcBef>
            </a:pPr>
            <a:r>
              <a:rPr lang="en-US" sz="3034" b="1" u="none" strike="noStrike" spc="175" dirty="0">
                <a:solidFill>
                  <a:srgbClr val="191919"/>
                </a:solidFill>
                <a:effectLst>
                  <a:outerShdw blurRad="38100" dist="38100" dir="2700000" algn="tl">
                    <a:srgbClr val="000000">
                      <a:alpha val="43137"/>
                    </a:srgbClr>
                  </a:outerShdw>
                </a:effectLst>
                <a:latin typeface="Aileron Regular Bold"/>
                <a:ea typeface="Aileron Regular Bold"/>
                <a:cs typeface="Aileron Regular Bold"/>
                <a:sym typeface="Aileron Regular Bold"/>
                <a:hlinkClick r:id="rId13" tooltip="mailto:Conde.souleymane@gips-gn.com"/>
              </a:rPr>
              <a:t>(+224) 628 75 18 75/ 621 93 99 06 / 620 41 42 26</a:t>
            </a:r>
          </a:p>
        </p:txBody>
      </p:sp>
      <p:sp>
        <p:nvSpPr>
          <p:cNvPr id="21" name="TextBox 21"/>
          <p:cNvSpPr txBox="1"/>
          <p:nvPr/>
        </p:nvSpPr>
        <p:spPr>
          <a:xfrm>
            <a:off x="1906562" y="8913557"/>
            <a:ext cx="13638238" cy="695447"/>
          </a:xfrm>
          <a:prstGeom prst="rect">
            <a:avLst/>
          </a:prstGeom>
        </p:spPr>
        <p:txBody>
          <a:bodyPr wrap="square" lIns="0" tIns="0" rIns="0" bIns="0" rtlCol="0" anchor="t">
            <a:spAutoFit/>
          </a:bodyPr>
          <a:lstStyle/>
          <a:p>
            <a:pPr marL="0" lvl="0" indent="0" algn="just">
              <a:lnSpc>
                <a:spcPts val="6341"/>
              </a:lnSpc>
              <a:spcBef>
                <a:spcPct val="0"/>
              </a:spcBef>
            </a:pPr>
            <a:r>
              <a:rPr lang="en-US" sz="3034" b="1" strike="noStrike" spc="175" dirty="0">
                <a:solidFill>
                  <a:srgbClr val="191919"/>
                </a:solidFill>
                <a:latin typeface="Aileron Regular Bold"/>
                <a:ea typeface="Aileron Regular Bold"/>
                <a:cs typeface="Aileron Regular Bold"/>
                <a:sym typeface="Aileron Regular Bold"/>
                <a:hlinkClick r:id="rId13" tooltip="mailto:Conde.souleymane@gips-gn.com"/>
              </a:rPr>
              <a:t> </a:t>
            </a:r>
            <a:r>
              <a:rPr lang="en-US" sz="3034" b="1" strike="noStrike" spc="175" dirty="0" smtClean="0">
                <a:solidFill>
                  <a:srgbClr val="191919"/>
                </a:solidFill>
                <a:effectLst>
                  <a:outerShdw blurRad="38100" dist="38100" dir="2700000" algn="tl">
                    <a:srgbClr val="000000">
                      <a:alpha val="43137"/>
                    </a:srgbClr>
                  </a:outerShdw>
                </a:effectLst>
                <a:latin typeface="Aileron Regular Bold"/>
                <a:ea typeface="Aileron Regular Bold"/>
                <a:cs typeface="Aileron Regular Bold"/>
                <a:sym typeface="Aileron Regular Bold"/>
                <a:hlinkClick r:id="rId13" tooltip="mailto:Conde.souleymane@gips-gn.com"/>
              </a:rPr>
              <a:t>www.gips-guinee.com</a:t>
            </a:r>
            <a:endParaRPr lang="en-US" sz="3034" b="1" strike="noStrike" spc="175" dirty="0">
              <a:solidFill>
                <a:srgbClr val="191919"/>
              </a:solidFill>
              <a:effectLst>
                <a:outerShdw blurRad="38100" dist="38100" dir="2700000" algn="tl">
                  <a:srgbClr val="000000">
                    <a:alpha val="43137"/>
                  </a:srgbClr>
                </a:outerShdw>
              </a:effectLst>
              <a:latin typeface="Aileron Regular Bold"/>
              <a:ea typeface="Aileron Regular Bold"/>
              <a:cs typeface="Aileron Regular Bold"/>
              <a:sym typeface="Aileron Regular Bold"/>
              <a:hlinkClick r:id="rId13" tooltip="mailto:Conde.souleymane@gips-gn.com"/>
            </a:endParaRPr>
          </a:p>
        </p:txBody>
      </p:sp>
      <p:sp>
        <p:nvSpPr>
          <p:cNvPr id="22" name="TextBox 22"/>
          <p:cNvSpPr txBox="1"/>
          <p:nvPr/>
        </p:nvSpPr>
        <p:spPr>
          <a:xfrm>
            <a:off x="2018488" y="8055447"/>
            <a:ext cx="13221512" cy="695447"/>
          </a:xfrm>
          <a:prstGeom prst="rect">
            <a:avLst/>
          </a:prstGeom>
        </p:spPr>
        <p:txBody>
          <a:bodyPr wrap="square" lIns="0" tIns="0" rIns="0" bIns="0" rtlCol="0" anchor="t">
            <a:spAutoFit/>
          </a:bodyPr>
          <a:lstStyle/>
          <a:p>
            <a:pPr lvl="0" algn="just">
              <a:lnSpc>
                <a:spcPts val="6341"/>
              </a:lnSpc>
            </a:pPr>
            <a:r>
              <a:rPr lang="en-US" sz="3034" b="1" spc="175" dirty="0" smtClean="0">
                <a:solidFill>
                  <a:srgbClr val="191919"/>
                </a:solidFill>
                <a:effectLst>
                  <a:outerShdw blurRad="38100" dist="38100" dir="2700000" algn="tl">
                    <a:srgbClr val="000000">
                      <a:alpha val="43137"/>
                    </a:srgbClr>
                  </a:outerShdw>
                </a:effectLst>
                <a:latin typeface="Aileron Regular Bold"/>
                <a:ea typeface="Aileron Regular Bold"/>
                <a:cs typeface="Aileron Regular Bold"/>
                <a:sym typeface="Aileron Regular Bold"/>
                <a:hlinkClick r:id="rId13" tooltip="mailto:Conde.souleymane@gips-gn.com"/>
              </a:rPr>
              <a:t>contact@gips-guinee.com / souleymaneconde</a:t>
            </a:r>
            <a:r>
              <a:rPr lang="en-US" sz="3034" b="1" spc="175" dirty="0" smtClean="0">
                <a:solidFill>
                  <a:srgbClr val="191919"/>
                </a:solidFill>
                <a:effectLst>
                  <a:outerShdw blurRad="38100" dist="38100" dir="2700000" algn="tl">
                    <a:srgbClr val="000000">
                      <a:alpha val="43137"/>
                    </a:srgbClr>
                  </a:outerShdw>
                </a:effectLst>
                <a:latin typeface="Aileron Regular Bold"/>
                <a:ea typeface="Aileron Regular Bold"/>
                <a:cs typeface="Aileron Regular Bold"/>
                <a:sym typeface="Aileron Regular Bold"/>
                <a:hlinkClick r:id="rId13" tooltip="mailto:Conde.souleymane@gips-gn.com"/>
              </a:rPr>
              <a:t>@gips-guinee.com</a:t>
            </a:r>
            <a:endParaRPr lang="en-US" sz="3034" b="1" spc="175" dirty="0">
              <a:solidFill>
                <a:srgbClr val="191919"/>
              </a:solidFill>
              <a:effectLst>
                <a:outerShdw blurRad="38100" dist="38100" dir="2700000" algn="tl">
                  <a:srgbClr val="000000">
                    <a:alpha val="43137"/>
                  </a:srgbClr>
                </a:outerShdw>
              </a:effectLst>
              <a:latin typeface="Aileron Regular Bold"/>
              <a:ea typeface="Aileron Regular Bold"/>
              <a:cs typeface="Aileron Regular Bold"/>
              <a:sym typeface="Aileron Regular Bold"/>
              <a:hlinkClick r:id="rId13" tooltip="mailto:Conde.souleymane@gips-gn.com"/>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TotalTime>
  <Words>1137</Words>
  <Application>Microsoft Office PowerPoint</Application>
  <PresentationFormat>Personnalisé</PresentationFormat>
  <Paragraphs>71</Paragraphs>
  <Slides>14</Slides>
  <Notes>1</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14</vt:i4>
      </vt:variant>
    </vt:vector>
  </HeadingPairs>
  <TitlesOfParts>
    <vt:vector size="24" baseType="lpstr">
      <vt:lpstr>Aileron Heavy</vt:lpstr>
      <vt:lpstr>Aileron Bold</vt:lpstr>
      <vt:lpstr>Aileron Regular</vt:lpstr>
      <vt:lpstr>Aileron Heavy Bold</vt:lpstr>
      <vt:lpstr>Aileron Regular Bold</vt:lpstr>
      <vt:lpstr>Akzidenz-Grotesk Heavy</vt:lpstr>
      <vt:lpstr>Calibri</vt:lpstr>
      <vt:lpstr>Arial</vt:lpstr>
      <vt:lpstr>League Spartan</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GIPS</dc:title>
  <dc:creator>TIDIANE KOULIBALY</dc:creator>
  <cp:lastModifiedBy>LENOVO</cp:lastModifiedBy>
  <cp:revision>8</cp:revision>
  <dcterms:created xsi:type="dcterms:W3CDTF">2006-08-16T00:00:00Z</dcterms:created>
  <dcterms:modified xsi:type="dcterms:W3CDTF">2026-04-15T13:03:35Z</dcterms:modified>
  <dc:identifier>DAGgZZiCs3E</dc:identifier>
</cp:coreProperties>
</file>